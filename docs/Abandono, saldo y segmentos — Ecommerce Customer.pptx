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Regresión logística</c:v>
                </c:pt>
              </c:strCache>
            </c:strRef>
          </c:tx>
          <c:spPr>
            <a:solidFill>
              <a:srgbClr val="94A3B8"/>
            </a:solidFill>
          </c:spPr>
          <c:cat>
            <c:strRef>
              <c:f>Sheet1!$A$2:$A$5</c:f>
              <c:strCache>
                <c:ptCount val="4"/>
                <c:pt idx="0">
                  <c:v>ROC-AUC</c:v>
                </c:pt>
                <c:pt idx="1">
                  <c:v>Precisión</c:v>
                </c:pt>
                <c:pt idx="2">
                  <c:v>Recall</c:v>
                </c:pt>
                <c:pt idx="3">
                  <c:v>F1</c:v>
                </c:pt>
              </c:strCache>
            </c:strRef>
          </c:cat>
          <c:val>
            <c:numRef>
              <c:f>Sheet1!$B$2:$B$5</c:f>
              <c:numCache>
                <c:formatCode>General</c:formatCode>
                <c:ptCount val="4"/>
                <c:pt idx="0">
                  <c:v>0.85</c:v>
                </c:pt>
                <c:pt idx="1">
                  <c:v>0.512</c:v>
                </c:pt>
                <c:pt idx="2">
                  <c:v>0.705</c:v>
                </c:pt>
                <c:pt idx="3">
                  <c:v>0.594</c:v>
                </c:pt>
              </c:numCache>
            </c:numRef>
          </c:val>
        </c:ser>
        <c:ser>
          <c:idx val="1"/>
          <c:order val="1"/>
          <c:tx>
            <c:strRef>
              <c:f>Sheet1!$C$1</c:f>
              <c:strCache>
                <c:ptCount val="1"/>
                <c:pt idx="0">
                  <c:v>Árbol de decisión</c:v>
                </c:pt>
              </c:strCache>
            </c:strRef>
          </c:tx>
          <c:spPr>
            <a:solidFill>
              <a:srgbClr val="0B3C49"/>
            </a:solidFill>
          </c:spPr>
          <c:cat>
            <c:strRef>
              <c:f>Sheet1!$A$2:$A$5</c:f>
              <c:strCache>
                <c:ptCount val="4"/>
                <c:pt idx="0">
                  <c:v>ROC-AUC</c:v>
                </c:pt>
                <c:pt idx="1">
                  <c:v>Precisión</c:v>
                </c:pt>
                <c:pt idx="2">
                  <c:v>Recall</c:v>
                </c:pt>
                <c:pt idx="3">
                  <c:v>F1</c:v>
                </c:pt>
              </c:strCache>
            </c:strRef>
          </c:cat>
          <c:val>
            <c:numRef>
              <c:f>Sheet1!$C$2:$C$5</c:f>
              <c:numCache>
                <c:formatCode>General</c:formatCode>
                <c:ptCount val="4"/>
                <c:pt idx="0">
                  <c:v>0.841</c:v>
                </c:pt>
                <c:pt idx="1">
                  <c:v>0.537</c:v>
                </c:pt>
                <c:pt idx="2">
                  <c:v>0.695</c:v>
                </c:pt>
                <c:pt idx="3">
                  <c:v>0.606</c:v>
                </c:pt>
              </c:numCache>
            </c:numRef>
          </c:val>
        </c:ser>
        <c:ser>
          <c:idx val="2"/>
          <c:order val="2"/>
          <c:tx>
            <c:strRef>
              <c:f>Sheet1!$D$1</c:f>
              <c:strCache>
                <c:ptCount val="1"/>
                <c:pt idx="0">
                  <c:v>Random Forest</c:v>
                </c:pt>
              </c:strCache>
            </c:strRef>
          </c:tx>
          <c:spPr>
            <a:solidFill>
              <a:srgbClr val="1B7F79"/>
            </a:solidFill>
          </c:spPr>
          <c:cat>
            <c:strRef>
              <c:f>Sheet1!$A$2:$A$5</c:f>
              <c:strCache>
                <c:ptCount val="4"/>
                <c:pt idx="0">
                  <c:v>ROC-AUC</c:v>
                </c:pt>
                <c:pt idx="1">
                  <c:v>Precisión</c:v>
                </c:pt>
                <c:pt idx="2">
                  <c:v>Recall</c:v>
                </c:pt>
                <c:pt idx="3">
                  <c:v>F1</c:v>
                </c:pt>
              </c:strCache>
            </c:strRef>
          </c:cat>
          <c:val>
            <c:numRef>
              <c:f>Sheet1!$D$2:$D$5</c:f>
              <c:numCache>
                <c:formatCode>General</c:formatCode>
                <c:ptCount val="4"/>
                <c:pt idx="0">
                  <c:v>0.862</c:v>
                </c:pt>
                <c:pt idx="1">
                  <c:v>0.55</c:v>
                </c:pt>
                <c:pt idx="2">
                  <c:v>0.71</c:v>
                </c:pt>
                <c:pt idx="3">
                  <c:v>0.62</c:v>
                </c:pt>
              </c:numCache>
            </c:numRef>
          </c:val>
        </c:ser>
        <c:dLbls>
          <c:numFmt formatCode="0.000" sourceLinked="0"/>
          <c:txPr>
            <a:bodyPr/>
            <a:lstStyle/>
            <a:p>
              <a:pPr>
                <a:defRPr sz="1000">
                  <a:solidFill>
                    <a:srgbClr val="1E293B"/>
                  </a:solidFill>
                </a:defRPr>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CBD5E1"/>
            </a:solidFill>
          </a:ln>
        </c:spPr>
        <c:txPr>
          <a:bodyPr/>
          <a:lstStyle/>
          <a:p>
            <a:pPr>
              <a:defRPr sz="1200">
                <a:solidFill>
                  <a:srgbClr val="1E293B"/>
                </a:solidFill>
              </a:defRPr>
            </a:pPr>
          </a:p>
        </c:txPr>
        <c:crossAx val="-2113994440"/>
        <c:crosses val="autoZero"/>
        <c:auto val="1"/>
        <c:lblAlgn val="ctr"/>
        <c:lblOffset val="100"/>
        <c:noMultiLvlLbl val="0"/>
      </c:catAx>
      <c:valAx>
        <c:axId val="-2113994440"/>
        <c:scaling>
          <c:max val="1.0"/>
          <c:min val="0.0"/>
        </c:scaling>
        <c:delete val="0"/>
        <c:axPos val="l"/>
        <c:majorGridlines>
          <c:spPr>
            <a:ln w="9525">
              <a:solidFill>
                <a:srgbClr val="E2E8F0"/>
              </a:solidFill>
            </a:ln>
          </c:spPr>
        </c:majorGridlines>
        <c:numFmt formatCode="0.0" sourceLinked="0"/>
        <c:majorTickMark val="out"/>
        <c:minorTickMark val="none"/>
        <c:tickLblPos val="nextTo"/>
        <c:spPr>
          <a:ln>
            <a:noFill/>
          </a:ln>
        </c:spPr>
        <c:txPr>
          <a:bodyPr/>
          <a:lstStyle/>
          <a:p>
            <a:pPr>
              <a:defRPr sz="1100">
                <a:solidFill>
                  <a:srgbClr val="556578"/>
                </a:solidFill>
              </a:defRPr>
            </a:pPr>
          </a:p>
        </c:txPr>
        <c:crossAx val="-2068027336"/>
        <c:crosses val="autoZero"/>
      </c:valAx>
    </c:plotArea>
    <c:legend>
      <c:legendPos val="t"/>
      <c:overlay val="0"/>
      <c:txPr>
        <a:bodyPr/>
        <a:lstStyle/>
        <a:p>
          <a:pPr>
            <a:defRPr sz="1200"/>
          </a:pPr>
        </a:p>
      </c:txPr>
    </c:legend>
    <c:dispBlanksAs val="gap"/>
  </c:chart>
  <c:txPr>
    <a:bodyPr/>
    <a:lstStyle/>
    <a:p>
      <a:pPr>
        <a:defRPr sz="1200">
          <a:solidFill>
            <a:srgbClr val="1E293B"/>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Importancia</c:v>
                </c:pt>
              </c:strCache>
            </c:strRef>
          </c:tx>
          <c:spPr>
            <a:solidFill>
              <a:srgbClr val="1B7F79"/>
            </a:solidFill>
          </c:spPr>
          <c:dPt>
            <c:idx val="3"/>
            <c:spPr>
              <a:solidFill>
                <a:srgbClr val="94A3B8"/>
              </a:solidFill>
            </c:spPr>
          </c:dPt>
          <c:dPt>
            <c:idx val="4"/>
            <c:spPr>
              <a:solidFill>
                <a:srgbClr val="94A3B8"/>
              </a:solidFill>
            </c:spPr>
          </c:dPt>
          <c:cat>
            <c:strRef>
              <c:f>Sheet1!$A$2:$A$11</c:f>
              <c:strCache>
                <c:ptCount val="10"/>
                <c:pt idx="0">
                  <c:v>Antigüedad</c:v>
                </c:pt>
                <c:pt idx="1">
                  <c:v>Ser de Alemania</c:v>
                </c:pt>
                <c:pt idx="2">
                  <c:v>Cliente activo</c:v>
                </c:pt>
                <c:pt idx="3">
                  <c:v>Salario estimado</c:v>
                </c:pt>
                <c:pt idx="4">
                  <c:v>Puntaje crediticio</c:v>
                </c:pt>
                <c:pt idx="5">
                  <c:v>Tener 3 productos</c:v>
                </c:pt>
                <c:pt idx="6">
                  <c:v>Saldo</c:v>
                </c:pt>
                <c:pt idx="7">
                  <c:v>Tener 2 productos</c:v>
                </c:pt>
                <c:pt idx="8">
                  <c:v>Edad</c:v>
                </c:pt>
                <c:pt idx="9">
                  <c:v>Distancia a los 55 años</c:v>
                </c:pt>
              </c:strCache>
            </c:strRef>
          </c:cat>
          <c:val>
            <c:numRef>
              <c:f>Sheet1!$B$2:$B$11</c:f>
              <c:numCache>
                <c:formatCode>General</c:formatCode>
                <c:ptCount val="10"/>
                <c:pt idx="0">
                  <c:v>0.0391</c:v>
                </c:pt>
                <c:pt idx="1">
                  <c:v>0.0441</c:v>
                </c:pt>
                <c:pt idx="2">
                  <c:v>0.0639</c:v>
                </c:pt>
                <c:pt idx="3">
                  <c:v>0.0704</c:v>
                </c:pt>
                <c:pt idx="4">
                  <c:v>0.0711</c:v>
                </c:pt>
                <c:pt idx="5">
                  <c:v>0.0745</c:v>
                </c:pt>
                <c:pt idx="6">
                  <c:v>0.0952</c:v>
                </c:pt>
                <c:pt idx="7">
                  <c:v>0.1214</c:v>
                </c:pt>
                <c:pt idx="8">
                  <c:v>0.1741</c:v>
                </c:pt>
                <c:pt idx="9">
                  <c:v>0.1857</c:v>
                </c:pt>
              </c:numCache>
            </c:numRef>
          </c:val>
        </c:ser>
        <c:dLbls>
          <c:numFmt formatCode="0.00" sourceLinked="0"/>
          <c:txPr>
            <a:bodyPr/>
            <a:lstStyle/>
            <a:p>
              <a:pPr>
                <a:defRPr sz="1100">
                  <a:solidFill>
                    <a:srgbClr val="1E293B"/>
                  </a:solidFill>
                </a:defRPr>
              </a:pPr>
            </a:p>
          </c:txPr>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CBD5E1"/>
            </a:solidFill>
          </a:ln>
        </c:spPr>
        <c:txPr>
          <a:bodyPr/>
          <a:lstStyle/>
          <a:p>
            <a:pPr>
              <a:defRPr sz="1200">
                <a:solidFill>
                  <a:srgbClr val="1E293B"/>
                </a:solidFill>
              </a:defRPr>
            </a:pPr>
          </a:p>
        </c:txPr>
        <c:crossAx val="-2113994440"/>
        <c:crosses val="autoZero"/>
        <c:auto val="1"/>
        <c:lblAlgn val="ctr"/>
        <c:lblOffset val="100"/>
        <c:noMultiLvlLbl val="0"/>
      </c:catAx>
      <c:valAx>
        <c:axId val="-2113994440"/>
        <c:scaling/>
        <c:delete val="0"/>
        <c:axPos val="b"/>
        <c:majorGridlines>
          <c:spPr>
            <a:ln w="9525">
              <a:solidFill>
                <a:srgbClr val="E2E8F0"/>
              </a:solidFill>
            </a:ln>
          </c:spPr>
        </c:majorGridlines>
        <c:numFmt formatCode="0.00" sourceLinked="0"/>
        <c:majorTickMark val="out"/>
        <c:minorTickMark val="none"/>
        <c:tickLblPos val="nextTo"/>
        <c:spPr>
          <a:ln>
            <a:noFill/>
          </a:ln>
        </c:spPr>
        <c:txPr>
          <a:bodyPr/>
          <a:lstStyle/>
          <a:p>
            <a:pPr>
              <a:defRPr sz="1100">
                <a:solidFill>
                  <a:srgbClr val="556578"/>
                </a:solidFill>
              </a:defRPr>
            </a:pPr>
          </a:p>
        </c:txPr>
        <c:crossAx val="-2068027336"/>
        <c:crosses val="autoZero"/>
      </c:valAx>
    </c:plotArea>
    <c:dispBlanksAs val="gap"/>
  </c:chart>
  <c:txPr>
    <a:bodyPr/>
    <a:lstStyle/>
    <a:p>
      <a:pPr>
        <a:defRPr sz="1200">
          <a:solidFill>
            <a:srgbClr val="1E293B"/>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MAE</c:v>
                </c:pt>
              </c:strCache>
            </c:strRef>
          </c:tx>
          <c:spPr>
            <a:solidFill>
              <a:srgbClr val="1B7F79"/>
            </a:solidFill>
          </c:spPr>
          <c:dPt>
            <c:idx val="0"/>
            <c:spPr>
              <a:solidFill>
                <a:srgbClr val="94A3B8"/>
              </a:solidFill>
            </c:spPr>
          </c:dPt>
          <c:dPt>
            <c:idx val="1"/>
            <c:spPr>
              <a:solidFill>
                <a:srgbClr val="E9A23B"/>
              </a:solidFill>
            </c:spPr>
          </c:dPt>
          <c:cat>
            <c:strRef>
              <c:f>Sheet1!$A$2:$A$4</c:f>
              <c:strCache>
                <c:ptCount val="3"/>
                <c:pt idx="0">
                  <c:v>Línea base (mediana)</c:v>
                </c:pt>
                <c:pt idx="1">
                  <c:v>Random Forest sin países</c:v>
                </c:pt>
                <c:pt idx="2">
                  <c:v>Random Forest con países</c:v>
                </c:pt>
              </c:strCache>
            </c:strRef>
          </c:cat>
          <c:val>
            <c:numRef>
              <c:f>Sheet1!$B$2:$B$4</c:f>
              <c:numCache>
                <c:formatCode>General</c:formatCode>
                <c:ptCount val="3"/>
                <c:pt idx="0">
                  <c:v>54786</c:v>
                </c:pt>
                <c:pt idx="1">
                  <c:v>50446</c:v>
                </c:pt>
                <c:pt idx="2">
                  <c:v>41230</c:v>
                </c:pt>
              </c:numCache>
            </c:numRef>
          </c:val>
        </c:ser>
        <c:dLbls>
          <c:numFmt formatCode="#,##0" sourceLinked="0"/>
          <c:txPr>
            <a:bodyPr/>
            <a:lstStyle/>
            <a:p>
              <a:pPr>
                <a:defRPr sz="1100">
                  <a:solidFill>
                    <a:srgbClr val="1E293B"/>
                  </a:solidFill>
                </a:defRPr>
              </a:pPr>
            </a:p>
          </c:txPr>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spPr>
          <a:ln>
            <a:solidFill>
              <a:srgbClr val="CBD5E1"/>
            </a:solidFill>
          </a:ln>
        </c:spPr>
        <c:txPr>
          <a:bodyPr/>
          <a:lstStyle/>
          <a:p>
            <a:pPr>
              <a:defRPr sz="1200">
                <a:solidFill>
                  <a:srgbClr val="1E293B"/>
                </a:solidFill>
              </a:defRPr>
            </a:pPr>
          </a:p>
        </c:txPr>
        <c:crossAx val="-2113994440"/>
        <c:crosses val="autoZero"/>
        <c:auto val="1"/>
        <c:lblAlgn val="ctr"/>
        <c:lblOffset val="100"/>
        <c:noMultiLvlLbl val="0"/>
      </c:catAx>
      <c:valAx>
        <c:axId val="-2113994440"/>
        <c:scaling/>
        <c:delete val="0"/>
        <c:axPos val="l"/>
        <c:majorGridlines>
          <c:spPr>
            <a:ln w="9525">
              <a:solidFill>
                <a:srgbClr val="E2E8F0"/>
              </a:solidFill>
            </a:ln>
          </c:spPr>
        </c:majorGridlines>
        <c:numFmt formatCode="#,##0" sourceLinked="0"/>
        <c:majorTickMark val="out"/>
        <c:minorTickMark val="none"/>
        <c:tickLblPos val="nextTo"/>
        <c:spPr>
          <a:ln>
            <a:noFill/>
          </a:ln>
        </c:spPr>
        <c:txPr>
          <a:bodyPr/>
          <a:lstStyle/>
          <a:p>
            <a:pPr>
              <a:defRPr sz="1100">
                <a:solidFill>
                  <a:srgbClr val="556578"/>
                </a:solidFill>
              </a:defRPr>
            </a:pPr>
          </a:p>
        </c:txPr>
        <c:crossAx val="-2068027336"/>
        <c:crosses val="autoZero"/>
      </c:valAx>
    </c:plotArea>
    <c:dispBlanksAs val="gap"/>
  </c:chart>
  <c:txPr>
    <a:bodyPr/>
    <a:lstStyle/>
    <a:p>
      <a:pPr>
        <a:defRPr sz="1200">
          <a:solidFill>
            <a:srgbClr val="1E293B"/>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Con países</c:v>
                </c:pt>
              </c:strCache>
            </c:strRef>
          </c:tx>
          <c:spPr>
            <a:solidFill>
              <a:srgbClr val="1B7F79"/>
            </a:solidFill>
          </c:spPr>
          <c:cat>
            <c:strRef>
              <c:f>Sheet1!$A$2:$A$3</c:f>
              <c:strCache>
                <c:ptCount val="2"/>
                <c:pt idx="0">
                  <c:v>Regresión lineal</c:v>
                </c:pt>
                <c:pt idx="1">
                  <c:v>Random Forest</c:v>
                </c:pt>
              </c:strCache>
            </c:strRef>
          </c:cat>
          <c:val>
            <c:numRef>
              <c:f>Sheet1!$B$2:$B$3</c:f>
              <c:numCache>
                <c:formatCode>General</c:formatCode>
                <c:ptCount val="2"/>
                <c:pt idx="0">
                  <c:v>0.281</c:v>
                </c:pt>
                <c:pt idx="1">
                  <c:v>0.32</c:v>
                </c:pt>
              </c:numCache>
            </c:numRef>
          </c:val>
        </c:ser>
        <c:ser>
          <c:idx val="1"/>
          <c:order val="1"/>
          <c:tx>
            <c:strRef>
              <c:f>Sheet1!$C$1</c:f>
              <c:strCache>
                <c:ptCount val="1"/>
                <c:pt idx="0">
                  <c:v>Sin países</c:v>
                </c:pt>
              </c:strCache>
            </c:strRef>
          </c:tx>
          <c:spPr>
            <a:solidFill>
              <a:srgbClr val="E9A23B"/>
            </a:solidFill>
          </c:spPr>
          <c:cat>
            <c:strRef>
              <c:f>Sheet1!$A$2:$A$3</c:f>
              <c:strCache>
                <c:ptCount val="2"/>
                <c:pt idx="0">
                  <c:v>Regresión lineal</c:v>
                </c:pt>
                <c:pt idx="1">
                  <c:v>Random Forest</c:v>
                </c:pt>
              </c:strCache>
            </c:strRef>
          </c:cat>
          <c:val>
            <c:numRef>
              <c:f>Sheet1!$C$2:$C$3</c:f>
              <c:numCache>
                <c:formatCode>General</c:formatCode>
                <c:ptCount val="2"/>
                <c:pt idx="0">
                  <c:v>0.134</c:v>
                </c:pt>
                <c:pt idx="1">
                  <c:v>0.132</c:v>
                </c:pt>
              </c:numCache>
            </c:numRef>
          </c:val>
        </c:ser>
        <c:dLbls>
          <c:numFmt formatCode="0.00" sourceLinked="0"/>
          <c:txPr>
            <a:bodyPr/>
            <a:lstStyle/>
            <a:p>
              <a:pPr>
                <a:defRPr sz="1100">
                  <a:solidFill>
                    <a:srgbClr val="1E293B"/>
                  </a:solidFill>
                </a:defRPr>
              </a:pPr>
            </a:p>
          </c:txPr>
          <c:showLegendKey val="0"/>
          <c:showVal val="1"/>
          <c:showCatName val="0"/>
          <c:showSerName val="0"/>
          <c:showPercent val="0"/>
          <c:showBubbleSize val="0"/>
          <c:showLeaderLines val="1"/>
        </c:dLbls>
        <c:gapWidth val="90"/>
        <c:axId val="-2068027336"/>
        <c:axId val="-2113994440"/>
      </c:barChart>
      <c:catAx>
        <c:axId val="-2068027336"/>
        <c:scaling>
          <c:orientation val="minMax"/>
        </c:scaling>
        <c:delete val="0"/>
        <c:axPos val="b"/>
        <c:majorTickMark val="out"/>
        <c:minorTickMark val="none"/>
        <c:tickLblPos val="nextTo"/>
        <c:spPr>
          <a:ln>
            <a:solidFill>
              <a:srgbClr val="CBD5E1"/>
            </a:solidFill>
          </a:ln>
        </c:spPr>
        <c:txPr>
          <a:bodyPr/>
          <a:lstStyle/>
          <a:p>
            <a:pPr>
              <a:defRPr sz="1200">
                <a:solidFill>
                  <a:srgbClr val="1E293B"/>
                </a:solidFill>
              </a:defRPr>
            </a:pPr>
          </a:p>
        </c:txPr>
        <c:crossAx val="-2113994440"/>
        <c:crosses val="autoZero"/>
        <c:auto val="1"/>
        <c:lblAlgn val="ctr"/>
        <c:lblOffset val="100"/>
        <c:noMultiLvlLbl val="0"/>
      </c:catAx>
      <c:valAx>
        <c:axId val="-2113994440"/>
        <c:scaling>
          <c:max val="0.4"/>
          <c:min val="0.0"/>
        </c:scaling>
        <c:delete val="0"/>
        <c:axPos val="l"/>
        <c:majorGridlines>
          <c:spPr>
            <a:ln w="9525">
              <a:solidFill>
                <a:srgbClr val="E2E8F0"/>
              </a:solidFill>
            </a:ln>
          </c:spPr>
        </c:majorGridlines>
        <c:numFmt formatCode="0.00" sourceLinked="0"/>
        <c:majorTickMark val="out"/>
        <c:minorTickMark val="none"/>
        <c:tickLblPos val="nextTo"/>
        <c:spPr>
          <a:ln>
            <a:noFill/>
          </a:ln>
        </c:spPr>
        <c:txPr>
          <a:bodyPr/>
          <a:lstStyle/>
          <a:p>
            <a:pPr>
              <a:defRPr sz="1100">
                <a:solidFill>
                  <a:srgbClr val="556578"/>
                </a:solidFill>
              </a:defRPr>
            </a:pPr>
          </a:p>
        </c:txPr>
        <c:crossAx val="-2068027336"/>
        <c:crosses val="autoZero"/>
      </c:valAx>
    </c:plotArea>
    <c:legend>
      <c:legendPos val="t"/>
      <c:overlay val="0"/>
      <c:txPr>
        <a:bodyPr/>
        <a:lstStyle/>
        <a:p>
          <a:pPr>
            <a:defRPr sz="1200"/>
          </a:pPr>
        </a:p>
      </c:txPr>
    </c:legend>
    <c:dispBlanksAs val="gap"/>
  </c:chart>
  <c:txPr>
    <a:bodyPr/>
    <a:lstStyle/>
    <a:p>
      <a:pPr>
        <a:defRPr sz="1200">
          <a:solidFill>
            <a:srgbClr val="1E293B"/>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Inercia</c:v>
                </c:pt>
              </c:strCache>
            </c:strRef>
          </c:tx>
          <c:spPr>
            <a:ln w="31750">
              <a:solidFill>
                <a:srgbClr val="1B7F79"/>
              </a:solidFill>
            </a:ln>
          </c:spPr>
          <c:marker>
            <c:size val="9"/>
            <c:spPr>
              <a:solidFill>
                <a:srgbClr val="1B7F79"/>
              </a:solidFill>
              <a:ln>
                <a:solidFill>
                  <a:srgbClr val="1B7F79"/>
                </a:solidFill>
              </a:ln>
            </c:spPr>
          </c:marker>
          <c:dPt>
            <c:idx val="3"/>
            <c:marker>
              <c:size val="14"/>
              <c:spPr>
                <a:solidFill>
                  <a:srgbClr val="E9A23B"/>
                </a:solidFill>
                <a:ln>
                  <a:solidFill>
                    <a:srgbClr val="E9A23B"/>
                  </a:solidFill>
                </a:ln>
              </c:spPr>
            </c:marker>
          </c:dPt>
          <c:cat>
            <c:strRef>
              <c:f>Sheet1!$A$2:$A$11</c:f>
              <c:strCache>
                <c:ptCount val="10"/>
                <c:pt idx="0">
                  <c:v>1</c:v>
                </c:pt>
                <c:pt idx="1">
                  <c:v>2</c:v>
                </c:pt>
                <c:pt idx="2">
                  <c:v>3</c:v>
                </c:pt>
                <c:pt idx="3">
                  <c:v>4</c:v>
                </c:pt>
                <c:pt idx="4">
                  <c:v>5</c:v>
                </c:pt>
                <c:pt idx="5">
                  <c:v>6</c:v>
                </c:pt>
                <c:pt idx="6">
                  <c:v>7</c:v>
                </c:pt>
                <c:pt idx="7">
                  <c:v>8</c:v>
                </c:pt>
                <c:pt idx="8">
                  <c:v>9</c:v>
                </c:pt>
                <c:pt idx="9">
                  <c:v>10</c:v>
                </c:pt>
              </c:strCache>
            </c:strRef>
          </c:cat>
          <c:val>
            <c:numRef>
              <c:f>Sheet1!$B$2:$B$11</c:f>
              <c:numCache>
                <c:formatCode>General</c:formatCode>
                <c:ptCount val="10"/>
                <c:pt idx="0">
                  <c:v>60000</c:v>
                </c:pt>
                <c:pt idx="1">
                  <c:v>49855.482</c:v>
                </c:pt>
                <c:pt idx="2">
                  <c:v>44998.013</c:v>
                </c:pt>
                <c:pt idx="3">
                  <c:v>41017.732</c:v>
                </c:pt>
                <c:pt idx="4">
                  <c:v>38090.025</c:v>
                </c:pt>
                <c:pt idx="5">
                  <c:v>35611.754</c:v>
                </c:pt>
                <c:pt idx="6">
                  <c:v>33695.742</c:v>
                </c:pt>
                <c:pt idx="7">
                  <c:v>32085.768</c:v>
                </c:pt>
                <c:pt idx="8">
                  <c:v>30586.703</c:v>
                </c:pt>
                <c:pt idx="9">
                  <c:v>29298.525</c:v>
                </c:pt>
              </c:numCache>
            </c:numRef>
          </c:val>
          <c:smooth val="0"/>
        </c:ser>
        <c:marker val="1"/>
        <c:smooth val="0"/>
        <c:axId val="2118791784"/>
        <c:axId val="2140495176"/>
      </c:lineChart>
      <c:catAx>
        <c:axId val="2118791784"/>
        <c:scaling>
          <c:orientation val="minMax"/>
        </c:scaling>
        <c:delete val="0"/>
        <c:axPos val="b"/>
        <c:title>
          <c:tx>
            <c:rich>
              <a:bodyPr/>
              <a:lstStyle/>
              <a:p>
                <a:r>
                  <a:rPr sz="1200">
                    <a:solidFill>
                      <a:srgbClr val="556578"/>
                    </a:solidFill>
                    <a:latin typeface="Calibri"/>
                  </a:rPr>
                  <a:t>Número de clústeres (K)</a:t>
                </a:r>
              </a:p>
            </c:rich>
          </c:tx>
          <c:layout/>
          <c:overlay val="0"/>
        </c:title>
        <c:majorTickMark val="out"/>
        <c:minorTickMark val="none"/>
        <c:tickLblPos val="nextTo"/>
        <c:spPr>
          <a:ln>
            <a:solidFill>
              <a:srgbClr val="CBD5E1"/>
            </a:solidFill>
          </a:ln>
        </c:spPr>
        <c:txPr>
          <a:bodyPr/>
          <a:lstStyle/>
          <a:p>
            <a:pPr>
              <a:defRPr sz="1100">
                <a:solidFill>
                  <a:srgbClr val="1E293B"/>
                </a:solidFill>
              </a:defRPr>
            </a:pPr>
          </a:p>
        </c:txPr>
        <c:crossAx val="2140495176"/>
        <c:crosses val="autoZero"/>
        <c:auto val="1"/>
        <c:lblAlgn val="ctr"/>
        <c:lblOffset val="100"/>
        <c:noMultiLvlLbl val="0"/>
      </c:catAx>
      <c:valAx>
        <c:axId val="2140495176"/>
        <c:scaling/>
        <c:delete val="0"/>
        <c:axPos val="l"/>
        <c:majorGridlines>
          <c:spPr>
            <a:ln w="9525">
              <a:solidFill>
                <a:srgbClr val="E2E8F0"/>
              </a:solidFill>
            </a:ln>
          </c:spPr>
        </c:majorGridlines>
        <c:numFmt formatCode="#,##0" sourceLinked="0"/>
        <c:majorTickMark val="out"/>
        <c:minorTickMark val="none"/>
        <c:tickLblPos val="nextTo"/>
        <c:spPr>
          <a:ln>
            <a:noFill/>
          </a:ln>
        </c:spPr>
        <c:txPr>
          <a:bodyPr/>
          <a:lstStyle/>
          <a:p>
            <a:pPr>
              <a:defRPr sz="1000">
                <a:solidFill>
                  <a:srgbClr val="556578"/>
                </a:solidFill>
              </a:defRPr>
            </a:pPr>
          </a:p>
        </c:txPr>
        <c:crossAx val="2118791784"/>
        <c:crosses val="autoZero"/>
      </c:valAx>
    </c:plotArea>
    <c:plotVisOnly val="1"/>
    <c:dispBlanksAs val="gap"/>
    <c:showDLblsOverMax val="0"/>
  </c:chart>
  <c:txPr>
    <a:bodyPr/>
    <a:lstStyle/>
    <a:p>
      <a:pPr>
        <a:defRPr sz="1100">
          <a:solidFill>
            <a:srgbClr val="1E293B"/>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Resultados de clasificación del abandono, regresión del saldo y segmentación con K-Means.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Solo 1 de cada 5 clientes abandona (clases desbalanceadas) y más de un tercio tiene saldo 0, lo que condiciona tanto la clasificación como la regresión.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Umbral 0,25: el de mayor recall con al menos 50% de precisión en validación cruzada. Accuracy: 0,804, 0,816 y 0,823; predecir siempre "se mantiene" da 0,796 sin detectar abandonos.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Falso negativo (ámbar): cliente que abandona y no se detecta, se pierde sin intentar retenerlo. Falsa alarma: cliente que recibe una oferta que no necesitaba. La precisión mínima de 50% equivale a aceptar como máximo una falsa alarma por cada abandono detectado. Árbol de decisión con el mismo umbral: 283 detectados, 124 no detectados y 244 falsas alarmas.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reglas coinciden con el EDA: edad, productos y actividad son lo que más separa a los que abandonan. El Random Forest promedia cientos de árboles, por eso es más preciso, pero no se puede leer como reglas. Sin límite de profundidad, el árbol aprende de memoria y su rendimiento cae.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Importancia basada en impureza del Random Forest final (513 árboles, profundidad 10). Las barras grises son variables que el EDA mostró que no se relacionan con el abandono.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Modelo elegido con validación cruzada: Random Forest (profundidad 6, 543 árboles). En prueba: MAE 41.230, RMSE 51.500, R² 0,327. Sin países: MAE 50.446 y R² 0,132.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 países, los dos modelos quedan empatados. En prueba, el Random Forest con países explica el 20,7% del saldo en Francia y España, y nada dentro de Alemania (R² ≈ -0,01).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Balance está inflado en cero: 36% de los clientes tiene saldo exactamente 0. Toda la capacidad del modelo viene de separar, a medias, a esos clientes del resto.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K-Means con 300 inicializaciones: con 10, el resultado dependía de la semilla. El abandono no se usó para elegir 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puntaje crediticio, el salario y la antigüedad son casi iguales en los cuatro grupos: no definen segmentos. Lo que separa a los clientes es la edad, el saldo y la cantidad de productos.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segmentación no usa género ni país, lo que evita discriminar directamente por esas características. Aun así, el grupo sin saldo casi no tiene alemanes (0,8%) por cómo se armó la muestra.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se puede y qué no se puede responder con estos datos, y las principales limitaciones del dataset.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49"/>
        </a:solidFill>
        <a:effectLst/>
      </p:bgPr>
    </p:bg>
    <p:spTree>
      <p:nvGrpSpPr>
        <p:cNvPr id="1" name=""/>
        <p:cNvGrpSpPr/>
        <p:nvPr/>
      </p:nvGrpSpPr>
      <p:grpSpPr/>
      <p:sp>
        <p:nvSpPr>
          <p:cNvPr id="2" name="TextBox 1"/>
          <p:cNvSpPr txBox="1"/>
          <p:nvPr/>
        </p:nvSpPr>
        <p:spPr>
          <a:xfrm>
            <a:off x="731520" y="1188720"/>
            <a:ext cx="10058400" cy="365760"/>
          </a:xfrm>
          <a:prstGeom prst="rect">
            <a:avLst/>
          </a:prstGeom>
          <a:noFill/>
        </p:spPr>
        <p:txBody>
          <a:bodyPr wrap="square" lIns="0" rIns="0" tIns="0" bIns="0" anchor="t">
            <a:spAutoFit/>
          </a:bodyPr>
          <a:lstStyle/>
          <a:p>
            <a:pPr algn="l"/>
            <a:r>
              <a:rPr sz="1400" b="1" i="0">
                <a:solidFill>
                  <a:srgbClr val="E9A23B"/>
                </a:solidFill>
                <a:latin typeface="Calibri"/>
              </a:rPr>
              <a:t>MLY1101 · MACHINE LEARNING · DUOC UC</a:t>
            </a:r>
          </a:p>
        </p:txBody>
      </p:sp>
      <p:sp>
        <p:nvSpPr>
          <p:cNvPr id="3" name="TextBox 2"/>
          <p:cNvSpPr txBox="1"/>
          <p:nvPr/>
        </p:nvSpPr>
        <p:spPr>
          <a:xfrm>
            <a:off x="731520" y="1737360"/>
            <a:ext cx="10515600" cy="1280160"/>
          </a:xfrm>
          <a:prstGeom prst="rect">
            <a:avLst/>
          </a:prstGeom>
          <a:noFill/>
        </p:spPr>
        <p:txBody>
          <a:bodyPr wrap="square" lIns="0" rIns="0" tIns="0" bIns="0" anchor="t">
            <a:spAutoFit/>
          </a:bodyPr>
          <a:lstStyle/>
          <a:p>
            <a:pPr algn="l"/>
            <a:r>
              <a:rPr sz="4800" b="1" i="0">
                <a:solidFill>
                  <a:srgbClr val="FFFFFF"/>
                </a:solidFill>
                <a:latin typeface="Cambria"/>
              </a:rPr>
              <a:t>Clientes en riesgo, saldo y segmentos</a:t>
            </a:r>
          </a:p>
        </p:txBody>
      </p:sp>
      <p:sp>
        <p:nvSpPr>
          <p:cNvPr id="4" name="TextBox 3"/>
          <p:cNvSpPr txBox="1"/>
          <p:nvPr/>
        </p:nvSpPr>
        <p:spPr>
          <a:xfrm>
            <a:off x="731520" y="3063240"/>
            <a:ext cx="10058400" cy="548640"/>
          </a:xfrm>
          <a:prstGeom prst="rect">
            <a:avLst/>
          </a:prstGeom>
          <a:noFill/>
        </p:spPr>
        <p:txBody>
          <a:bodyPr wrap="square" lIns="0" rIns="0" tIns="0" bIns="0" anchor="t">
            <a:spAutoFit/>
          </a:bodyPr>
          <a:lstStyle/>
          <a:p>
            <a:pPr algn="l"/>
            <a:r>
              <a:rPr sz="2200" b="0" i="0">
                <a:solidFill>
                  <a:srgbClr val="CBE4E2"/>
                </a:solidFill>
                <a:latin typeface="Calibri"/>
              </a:rPr>
              <a:t>Podemos anticipar quién se va, pero no cuánto saldo tiene</a:t>
            </a:r>
          </a:p>
        </p:txBody>
      </p:sp>
      <p:sp>
        <p:nvSpPr>
          <p:cNvPr id="5" name="Oval 4"/>
          <p:cNvSpPr/>
          <p:nvPr/>
        </p:nvSpPr>
        <p:spPr>
          <a:xfrm>
            <a:off x="731520" y="4754880"/>
            <a:ext cx="502920" cy="502920"/>
          </a:xfrm>
          <a:prstGeom prst="ellipse">
            <a:avLst/>
          </a:prstGeom>
          <a:solidFill>
            <a:srgbClr val="E9A2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0B3C49"/>
                </a:solidFill>
                <a:latin typeface="Calibri"/>
              </a:rPr>
              <a:t>1</a:t>
            </a:r>
          </a:p>
        </p:txBody>
      </p:sp>
      <p:sp>
        <p:nvSpPr>
          <p:cNvPr id="6" name="TextBox 5"/>
          <p:cNvSpPr txBox="1"/>
          <p:nvPr/>
        </p:nvSpPr>
        <p:spPr>
          <a:xfrm>
            <a:off x="1371600" y="4754880"/>
            <a:ext cx="2743200" cy="502920"/>
          </a:xfrm>
          <a:prstGeom prst="rect">
            <a:avLst/>
          </a:prstGeom>
          <a:noFill/>
        </p:spPr>
        <p:txBody>
          <a:bodyPr wrap="square" lIns="0" rIns="0" tIns="0" bIns="0" anchor="ctr">
            <a:spAutoFit/>
          </a:bodyPr>
          <a:lstStyle/>
          <a:p>
            <a:pPr algn="l"/>
            <a:r>
              <a:rPr sz="1600" b="0" i="0">
                <a:solidFill>
                  <a:srgbClr val="FFFFFF"/>
                </a:solidFill>
                <a:latin typeface="Calibri"/>
              </a:rPr>
              <a:t>Clasificación del abandono</a:t>
            </a:r>
          </a:p>
        </p:txBody>
      </p:sp>
      <p:sp>
        <p:nvSpPr>
          <p:cNvPr id="7" name="Oval 6"/>
          <p:cNvSpPr/>
          <p:nvPr/>
        </p:nvSpPr>
        <p:spPr>
          <a:xfrm>
            <a:off x="4297680" y="4754880"/>
            <a:ext cx="502920" cy="502920"/>
          </a:xfrm>
          <a:prstGeom prst="ellipse">
            <a:avLst/>
          </a:prstGeom>
          <a:solidFill>
            <a:srgbClr val="E9A2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0B3C49"/>
                </a:solidFill>
                <a:latin typeface="Calibri"/>
              </a:rPr>
              <a:t>2</a:t>
            </a:r>
          </a:p>
        </p:txBody>
      </p:sp>
      <p:sp>
        <p:nvSpPr>
          <p:cNvPr id="8" name="TextBox 7"/>
          <p:cNvSpPr txBox="1"/>
          <p:nvPr/>
        </p:nvSpPr>
        <p:spPr>
          <a:xfrm>
            <a:off x="4937760" y="4754880"/>
            <a:ext cx="2743200" cy="502920"/>
          </a:xfrm>
          <a:prstGeom prst="rect">
            <a:avLst/>
          </a:prstGeom>
          <a:noFill/>
        </p:spPr>
        <p:txBody>
          <a:bodyPr wrap="square" lIns="0" rIns="0" tIns="0" bIns="0" anchor="ctr">
            <a:spAutoFit/>
          </a:bodyPr>
          <a:lstStyle/>
          <a:p>
            <a:pPr algn="l"/>
            <a:r>
              <a:rPr sz="1600" b="0" i="0">
                <a:solidFill>
                  <a:srgbClr val="FFFFFF"/>
                </a:solidFill>
                <a:latin typeface="Calibri"/>
              </a:rPr>
              <a:t>Regresión del saldo</a:t>
            </a:r>
          </a:p>
        </p:txBody>
      </p:sp>
      <p:sp>
        <p:nvSpPr>
          <p:cNvPr id="9" name="Oval 8"/>
          <p:cNvSpPr/>
          <p:nvPr/>
        </p:nvSpPr>
        <p:spPr>
          <a:xfrm>
            <a:off x="7863840" y="4754880"/>
            <a:ext cx="502920" cy="502920"/>
          </a:xfrm>
          <a:prstGeom prst="ellipse">
            <a:avLst/>
          </a:prstGeom>
          <a:solidFill>
            <a:srgbClr val="E9A2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0B3C49"/>
                </a:solidFill>
                <a:latin typeface="Calibri"/>
              </a:rPr>
              <a:t>3</a:t>
            </a:r>
          </a:p>
        </p:txBody>
      </p:sp>
      <p:sp>
        <p:nvSpPr>
          <p:cNvPr id="10" name="TextBox 9"/>
          <p:cNvSpPr txBox="1"/>
          <p:nvPr/>
        </p:nvSpPr>
        <p:spPr>
          <a:xfrm>
            <a:off x="8503919" y="4754880"/>
            <a:ext cx="2743200" cy="502920"/>
          </a:xfrm>
          <a:prstGeom prst="rect">
            <a:avLst/>
          </a:prstGeom>
          <a:noFill/>
        </p:spPr>
        <p:txBody>
          <a:bodyPr wrap="square" lIns="0" rIns="0" tIns="0" bIns="0" anchor="ctr">
            <a:spAutoFit/>
          </a:bodyPr>
          <a:lstStyle/>
          <a:p>
            <a:pPr algn="l"/>
            <a:r>
              <a:rPr sz="1600" b="0" i="0">
                <a:solidFill>
                  <a:srgbClr val="FFFFFF"/>
                </a:solidFill>
                <a:latin typeface="Calibri"/>
              </a:rPr>
              <a:t>Segmentación con clustering</a:t>
            </a:r>
          </a:p>
        </p:txBody>
      </p:sp>
      <p:sp>
        <p:nvSpPr>
          <p:cNvPr id="11" name="TextBox 10"/>
          <p:cNvSpPr txBox="1"/>
          <p:nvPr/>
        </p:nvSpPr>
        <p:spPr>
          <a:xfrm>
            <a:off x="731520" y="5989320"/>
            <a:ext cx="10058400" cy="365760"/>
          </a:xfrm>
          <a:prstGeom prst="rect">
            <a:avLst/>
          </a:prstGeom>
          <a:noFill/>
        </p:spPr>
        <p:txBody>
          <a:bodyPr wrap="square" lIns="0" rIns="0" tIns="0" bIns="0" anchor="t">
            <a:spAutoFit/>
          </a:bodyPr>
          <a:lstStyle/>
          <a:p>
            <a:pPr algn="l"/>
            <a:r>
              <a:rPr sz="1200" b="0" i="0">
                <a:solidFill>
                  <a:srgbClr val="9FC5C2"/>
                </a:solidFill>
                <a:latin typeface="Calibri"/>
              </a:rPr>
              <a:t>Ecommerce Customer Dataset · 10.000 clientes · Laboratorio 2.2.2 y Actividad 2.3.2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57200"/>
            <a:ext cx="11064240" cy="640080"/>
          </a:xfrm>
          <a:prstGeom prst="rect">
            <a:avLst/>
          </a:prstGeom>
          <a:noFill/>
        </p:spPr>
        <p:txBody>
          <a:bodyPr wrap="square" lIns="0" rIns="0" tIns="0" bIns="0" anchor="t">
            <a:spAutoFit/>
          </a:bodyPr>
          <a:lstStyle/>
          <a:p>
            <a:pPr algn="l"/>
            <a:r>
              <a:rPr sz="3000" b="1" i="0">
                <a:solidFill>
                  <a:srgbClr val="0B3C49"/>
                </a:solidFill>
                <a:latin typeface="Cambria"/>
              </a:rPr>
              <a:t>Tres preguntas de negocio, tres técnicas</a:t>
            </a:r>
          </a:p>
        </p:txBody>
      </p:sp>
      <p:sp>
        <p:nvSpPr>
          <p:cNvPr id="3" name="Rounded Rectangle 2"/>
          <p:cNvSpPr/>
          <p:nvPr/>
        </p:nvSpPr>
        <p:spPr>
          <a:xfrm>
            <a:off x="548640" y="1508760"/>
            <a:ext cx="3474720" cy="2926080"/>
          </a:xfrm>
          <a:prstGeom prst="roundRect">
            <a:avLst>
              <a:gd name="adj" fmla="val 6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822959" y="1783080"/>
            <a:ext cx="548640" cy="548640"/>
          </a:xfrm>
          <a:prstGeom prst="ellipse">
            <a:avLst/>
          </a:prstGeom>
          <a:solidFill>
            <a:srgbClr val="1B7F7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1</a:t>
            </a:r>
          </a:p>
        </p:txBody>
      </p:sp>
      <p:sp>
        <p:nvSpPr>
          <p:cNvPr id="5" name="TextBox 4"/>
          <p:cNvSpPr txBox="1"/>
          <p:nvPr/>
        </p:nvSpPr>
        <p:spPr>
          <a:xfrm>
            <a:off x="1508760" y="1828800"/>
            <a:ext cx="2377440" cy="457200"/>
          </a:xfrm>
          <a:prstGeom prst="rect">
            <a:avLst/>
          </a:prstGeom>
          <a:noFill/>
        </p:spPr>
        <p:txBody>
          <a:bodyPr wrap="square" lIns="0" rIns="0" tIns="0" bIns="0" anchor="ctr">
            <a:spAutoFit/>
          </a:bodyPr>
          <a:lstStyle/>
          <a:p>
            <a:pPr algn="l"/>
            <a:r>
              <a:rPr sz="1400" b="1" i="0">
                <a:solidFill>
                  <a:srgbClr val="1B7F79"/>
                </a:solidFill>
                <a:latin typeface="Calibri"/>
              </a:rPr>
              <a:t>CLASIFICACIÓN</a:t>
            </a:r>
          </a:p>
        </p:txBody>
      </p:sp>
      <p:sp>
        <p:nvSpPr>
          <p:cNvPr id="6" name="TextBox 5"/>
          <p:cNvSpPr txBox="1"/>
          <p:nvPr/>
        </p:nvSpPr>
        <p:spPr>
          <a:xfrm>
            <a:off x="822959" y="2560320"/>
            <a:ext cx="2971800" cy="822960"/>
          </a:xfrm>
          <a:prstGeom prst="rect">
            <a:avLst/>
          </a:prstGeom>
          <a:noFill/>
        </p:spPr>
        <p:txBody>
          <a:bodyPr wrap="square" lIns="0" rIns="0" tIns="0" bIns="0" anchor="t">
            <a:spAutoFit/>
          </a:bodyPr>
          <a:lstStyle/>
          <a:p>
            <a:pPr algn="l"/>
            <a:r>
              <a:rPr sz="2000" b="1" i="0">
                <a:solidFill>
                  <a:srgbClr val="0B3C49"/>
                </a:solidFill>
                <a:latin typeface="Cambria"/>
              </a:rPr>
              <a:t>¿Qué clientes abandonarán?</a:t>
            </a:r>
          </a:p>
        </p:txBody>
      </p:sp>
      <p:sp>
        <p:nvSpPr>
          <p:cNvPr id="7" name="TextBox 6"/>
          <p:cNvSpPr txBox="1"/>
          <p:nvPr/>
        </p:nvSpPr>
        <p:spPr>
          <a:xfrm>
            <a:off x="822959" y="3429000"/>
            <a:ext cx="2971800" cy="365760"/>
          </a:xfrm>
          <a:prstGeom prst="rect">
            <a:avLst/>
          </a:prstGeom>
          <a:noFill/>
        </p:spPr>
        <p:txBody>
          <a:bodyPr wrap="square" lIns="0" rIns="0" tIns="0" bIns="0" anchor="t">
            <a:spAutoFit/>
          </a:bodyPr>
          <a:lstStyle/>
          <a:p>
            <a:pPr algn="l"/>
            <a:r>
              <a:rPr sz="1300" b="1" i="0">
                <a:solidFill>
                  <a:srgbClr val="556578"/>
                </a:solidFill>
                <a:latin typeface="Calibri"/>
              </a:rPr>
              <a:t>Target: Exited (1 = abandonó)</a:t>
            </a:r>
          </a:p>
        </p:txBody>
      </p:sp>
      <p:sp>
        <p:nvSpPr>
          <p:cNvPr id="8" name="TextBox 7"/>
          <p:cNvSpPr txBox="1"/>
          <p:nvPr/>
        </p:nvSpPr>
        <p:spPr>
          <a:xfrm>
            <a:off x="822959" y="3794760"/>
            <a:ext cx="2971800" cy="548640"/>
          </a:xfrm>
          <a:prstGeom prst="rect">
            <a:avLst/>
          </a:prstGeom>
          <a:noFill/>
        </p:spPr>
        <p:txBody>
          <a:bodyPr wrap="square" lIns="0" rIns="0" tIns="0" bIns="0" anchor="t">
            <a:spAutoFit/>
          </a:bodyPr>
          <a:lstStyle/>
          <a:p>
            <a:pPr algn="l"/>
            <a:r>
              <a:rPr sz="1400" b="0" i="0">
                <a:solidFill>
                  <a:srgbClr val="1E293B"/>
                </a:solidFill>
                <a:latin typeface="Calibri"/>
              </a:rPr>
              <a:t>Para dirigirles una campaña de fidelización.</a:t>
            </a:r>
          </a:p>
        </p:txBody>
      </p:sp>
      <p:sp>
        <p:nvSpPr>
          <p:cNvPr id="9" name="Rounded Rectangle 8"/>
          <p:cNvSpPr/>
          <p:nvPr/>
        </p:nvSpPr>
        <p:spPr>
          <a:xfrm>
            <a:off x="4297679" y="1508760"/>
            <a:ext cx="3474720" cy="2926080"/>
          </a:xfrm>
          <a:prstGeom prst="roundRect">
            <a:avLst>
              <a:gd name="adj" fmla="val 6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571999" y="1783080"/>
            <a:ext cx="548640" cy="548640"/>
          </a:xfrm>
          <a:prstGeom prst="ellipse">
            <a:avLst/>
          </a:prstGeom>
          <a:solidFill>
            <a:srgbClr val="1B7F7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2</a:t>
            </a:r>
          </a:p>
        </p:txBody>
      </p:sp>
      <p:sp>
        <p:nvSpPr>
          <p:cNvPr id="11" name="TextBox 10"/>
          <p:cNvSpPr txBox="1"/>
          <p:nvPr/>
        </p:nvSpPr>
        <p:spPr>
          <a:xfrm>
            <a:off x="5257799" y="1828800"/>
            <a:ext cx="2377440" cy="457200"/>
          </a:xfrm>
          <a:prstGeom prst="rect">
            <a:avLst/>
          </a:prstGeom>
          <a:noFill/>
        </p:spPr>
        <p:txBody>
          <a:bodyPr wrap="square" lIns="0" rIns="0" tIns="0" bIns="0" anchor="ctr">
            <a:spAutoFit/>
          </a:bodyPr>
          <a:lstStyle/>
          <a:p>
            <a:pPr algn="l"/>
            <a:r>
              <a:rPr sz="1400" b="1" i="0">
                <a:solidFill>
                  <a:srgbClr val="1B7F79"/>
                </a:solidFill>
                <a:latin typeface="Calibri"/>
              </a:rPr>
              <a:t>REGRESIÓN</a:t>
            </a:r>
          </a:p>
        </p:txBody>
      </p:sp>
      <p:sp>
        <p:nvSpPr>
          <p:cNvPr id="12" name="TextBox 11"/>
          <p:cNvSpPr txBox="1"/>
          <p:nvPr/>
        </p:nvSpPr>
        <p:spPr>
          <a:xfrm>
            <a:off x="4571999" y="2560320"/>
            <a:ext cx="2971800" cy="822960"/>
          </a:xfrm>
          <a:prstGeom prst="rect">
            <a:avLst/>
          </a:prstGeom>
          <a:noFill/>
        </p:spPr>
        <p:txBody>
          <a:bodyPr wrap="square" lIns="0" rIns="0" tIns="0" bIns="0" anchor="t">
            <a:spAutoFit/>
          </a:bodyPr>
          <a:lstStyle/>
          <a:p>
            <a:pPr algn="l"/>
            <a:r>
              <a:rPr sz="2000" b="1" i="0">
                <a:solidFill>
                  <a:srgbClr val="0B3C49"/>
                </a:solidFill>
                <a:latin typeface="Cambria"/>
              </a:rPr>
              <a:t>¿Cuánto saldo tendrá un cliente?</a:t>
            </a:r>
          </a:p>
        </p:txBody>
      </p:sp>
      <p:sp>
        <p:nvSpPr>
          <p:cNvPr id="13" name="TextBox 12"/>
          <p:cNvSpPr txBox="1"/>
          <p:nvPr/>
        </p:nvSpPr>
        <p:spPr>
          <a:xfrm>
            <a:off x="4571999" y="3429000"/>
            <a:ext cx="2971800" cy="365760"/>
          </a:xfrm>
          <a:prstGeom prst="rect">
            <a:avLst/>
          </a:prstGeom>
          <a:noFill/>
        </p:spPr>
        <p:txBody>
          <a:bodyPr wrap="square" lIns="0" rIns="0" tIns="0" bIns="0" anchor="t">
            <a:spAutoFit/>
          </a:bodyPr>
          <a:lstStyle/>
          <a:p>
            <a:pPr algn="l"/>
            <a:r>
              <a:rPr sz="1300" b="1" i="0">
                <a:solidFill>
                  <a:srgbClr val="556578"/>
                </a:solidFill>
                <a:latin typeface="Calibri"/>
              </a:rPr>
              <a:t>Target: Balance</a:t>
            </a:r>
          </a:p>
        </p:txBody>
      </p:sp>
      <p:sp>
        <p:nvSpPr>
          <p:cNvPr id="14" name="TextBox 13"/>
          <p:cNvSpPr txBox="1"/>
          <p:nvPr/>
        </p:nvSpPr>
        <p:spPr>
          <a:xfrm>
            <a:off x="4571999" y="3794760"/>
            <a:ext cx="2971800" cy="548640"/>
          </a:xfrm>
          <a:prstGeom prst="rect">
            <a:avLst/>
          </a:prstGeom>
          <a:noFill/>
        </p:spPr>
        <p:txBody>
          <a:bodyPr wrap="square" lIns="0" rIns="0" tIns="0" bIns="0" anchor="t">
            <a:spAutoFit/>
          </a:bodyPr>
          <a:lstStyle/>
          <a:p>
            <a:pPr algn="l"/>
            <a:r>
              <a:rPr sz="1400" b="0" i="0">
                <a:solidFill>
                  <a:srgbClr val="1E293B"/>
                </a:solidFill>
                <a:latin typeface="Calibri"/>
              </a:rPr>
              <a:t>Para proyectar fondos y optimizar la inversión interna.</a:t>
            </a:r>
          </a:p>
        </p:txBody>
      </p:sp>
      <p:sp>
        <p:nvSpPr>
          <p:cNvPr id="15" name="Rounded Rectangle 14"/>
          <p:cNvSpPr/>
          <p:nvPr/>
        </p:nvSpPr>
        <p:spPr>
          <a:xfrm>
            <a:off x="8046719" y="1508760"/>
            <a:ext cx="3474720" cy="2926080"/>
          </a:xfrm>
          <a:prstGeom prst="roundRect">
            <a:avLst>
              <a:gd name="adj" fmla="val 6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21040" y="1783080"/>
            <a:ext cx="548640" cy="548640"/>
          </a:xfrm>
          <a:prstGeom prst="ellipse">
            <a:avLst/>
          </a:prstGeom>
          <a:solidFill>
            <a:srgbClr val="1B7F7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3</a:t>
            </a:r>
          </a:p>
        </p:txBody>
      </p:sp>
      <p:sp>
        <p:nvSpPr>
          <p:cNvPr id="17" name="TextBox 16"/>
          <p:cNvSpPr txBox="1"/>
          <p:nvPr/>
        </p:nvSpPr>
        <p:spPr>
          <a:xfrm>
            <a:off x="9006840" y="1828800"/>
            <a:ext cx="2377440" cy="457200"/>
          </a:xfrm>
          <a:prstGeom prst="rect">
            <a:avLst/>
          </a:prstGeom>
          <a:noFill/>
        </p:spPr>
        <p:txBody>
          <a:bodyPr wrap="square" lIns="0" rIns="0" tIns="0" bIns="0" anchor="ctr">
            <a:spAutoFit/>
          </a:bodyPr>
          <a:lstStyle/>
          <a:p>
            <a:pPr algn="l"/>
            <a:r>
              <a:rPr sz="1400" b="1" i="0">
                <a:solidFill>
                  <a:srgbClr val="1B7F79"/>
                </a:solidFill>
                <a:latin typeface="Calibri"/>
              </a:rPr>
              <a:t>CLUSTERING</a:t>
            </a:r>
          </a:p>
        </p:txBody>
      </p:sp>
      <p:sp>
        <p:nvSpPr>
          <p:cNvPr id="18" name="TextBox 17"/>
          <p:cNvSpPr txBox="1"/>
          <p:nvPr/>
        </p:nvSpPr>
        <p:spPr>
          <a:xfrm>
            <a:off x="8321040" y="2560320"/>
            <a:ext cx="2971800" cy="822960"/>
          </a:xfrm>
          <a:prstGeom prst="rect">
            <a:avLst/>
          </a:prstGeom>
          <a:noFill/>
        </p:spPr>
        <p:txBody>
          <a:bodyPr wrap="square" lIns="0" rIns="0" tIns="0" bIns="0" anchor="t">
            <a:spAutoFit/>
          </a:bodyPr>
          <a:lstStyle/>
          <a:p>
            <a:pPr algn="l"/>
            <a:r>
              <a:rPr sz="2000" b="1" i="0">
                <a:solidFill>
                  <a:srgbClr val="0B3C49"/>
                </a:solidFill>
                <a:latin typeface="Cambria"/>
              </a:rPr>
              <a:t>¿Qué grupos de clientes existen?</a:t>
            </a:r>
          </a:p>
        </p:txBody>
      </p:sp>
      <p:sp>
        <p:nvSpPr>
          <p:cNvPr id="19" name="TextBox 18"/>
          <p:cNvSpPr txBox="1"/>
          <p:nvPr/>
        </p:nvSpPr>
        <p:spPr>
          <a:xfrm>
            <a:off x="8321040" y="3429000"/>
            <a:ext cx="2971800" cy="365760"/>
          </a:xfrm>
          <a:prstGeom prst="rect">
            <a:avLst/>
          </a:prstGeom>
          <a:noFill/>
        </p:spPr>
        <p:txBody>
          <a:bodyPr wrap="square" lIns="0" rIns="0" tIns="0" bIns="0" anchor="t">
            <a:spAutoFit/>
          </a:bodyPr>
          <a:lstStyle/>
          <a:p>
            <a:pPr algn="l"/>
            <a:r>
              <a:rPr sz="1300" b="1" i="0">
                <a:solidFill>
                  <a:srgbClr val="556578"/>
                </a:solidFill>
                <a:latin typeface="Calibri"/>
              </a:rPr>
              <a:t>Sin target (no supervisado)</a:t>
            </a:r>
          </a:p>
        </p:txBody>
      </p:sp>
      <p:sp>
        <p:nvSpPr>
          <p:cNvPr id="20" name="TextBox 19"/>
          <p:cNvSpPr txBox="1"/>
          <p:nvPr/>
        </p:nvSpPr>
        <p:spPr>
          <a:xfrm>
            <a:off x="8321040" y="3794760"/>
            <a:ext cx="2971800" cy="548640"/>
          </a:xfrm>
          <a:prstGeom prst="rect">
            <a:avLst/>
          </a:prstGeom>
          <a:noFill/>
        </p:spPr>
        <p:txBody>
          <a:bodyPr wrap="square" lIns="0" rIns="0" tIns="0" bIns="0" anchor="t">
            <a:spAutoFit/>
          </a:bodyPr>
          <a:lstStyle/>
          <a:p>
            <a:pPr algn="l"/>
            <a:r>
              <a:rPr sz="1400" b="0" i="0">
                <a:solidFill>
                  <a:srgbClr val="1E293B"/>
                </a:solidFill>
                <a:latin typeface="Calibri"/>
              </a:rPr>
              <a:t>Para personalizar campañas en vez de hacerlas masivas.</a:t>
            </a:r>
          </a:p>
        </p:txBody>
      </p:sp>
      <p:sp>
        <p:nvSpPr>
          <p:cNvPr id="21" name="TextBox 20"/>
          <p:cNvSpPr txBox="1"/>
          <p:nvPr/>
        </p:nvSpPr>
        <p:spPr>
          <a:xfrm>
            <a:off x="548640" y="4800600"/>
            <a:ext cx="3474720" cy="822960"/>
          </a:xfrm>
          <a:prstGeom prst="rect">
            <a:avLst/>
          </a:prstGeom>
          <a:noFill/>
        </p:spPr>
        <p:txBody>
          <a:bodyPr wrap="square" lIns="0" rIns="0" tIns="0" bIns="0" anchor="t">
            <a:spAutoFit/>
          </a:bodyPr>
          <a:lstStyle/>
          <a:p>
            <a:pPr algn="l"/>
            <a:r>
              <a:rPr sz="4400" b="1" i="0">
                <a:solidFill>
                  <a:srgbClr val="0B3C49"/>
                </a:solidFill>
                <a:latin typeface="Cambria"/>
              </a:rPr>
              <a:t>10.000</a:t>
            </a:r>
          </a:p>
        </p:txBody>
      </p:sp>
      <p:sp>
        <p:nvSpPr>
          <p:cNvPr id="22" name="TextBox 21"/>
          <p:cNvSpPr txBox="1"/>
          <p:nvPr/>
        </p:nvSpPr>
        <p:spPr>
          <a:xfrm>
            <a:off x="548640" y="5623560"/>
            <a:ext cx="3474720" cy="457200"/>
          </a:xfrm>
          <a:prstGeom prst="rect">
            <a:avLst/>
          </a:prstGeom>
          <a:noFill/>
        </p:spPr>
        <p:txBody>
          <a:bodyPr wrap="square" lIns="0" rIns="0" tIns="0" bIns="0" anchor="t">
            <a:spAutoFit/>
          </a:bodyPr>
          <a:lstStyle/>
          <a:p>
            <a:pPr algn="l"/>
            <a:r>
              <a:rPr sz="1400" b="0" i="0">
                <a:solidFill>
                  <a:srgbClr val="556578"/>
                </a:solidFill>
                <a:latin typeface="Calibri"/>
              </a:rPr>
              <a:t>clientes de Francia, Alemania y España</a:t>
            </a:r>
          </a:p>
        </p:txBody>
      </p:sp>
      <p:sp>
        <p:nvSpPr>
          <p:cNvPr id="23" name="TextBox 22"/>
          <p:cNvSpPr txBox="1"/>
          <p:nvPr/>
        </p:nvSpPr>
        <p:spPr>
          <a:xfrm>
            <a:off x="4297679" y="4800600"/>
            <a:ext cx="3474720" cy="822960"/>
          </a:xfrm>
          <a:prstGeom prst="rect">
            <a:avLst/>
          </a:prstGeom>
          <a:noFill/>
        </p:spPr>
        <p:txBody>
          <a:bodyPr wrap="square" lIns="0" rIns="0" tIns="0" bIns="0" anchor="t">
            <a:spAutoFit/>
          </a:bodyPr>
          <a:lstStyle/>
          <a:p>
            <a:pPr algn="l"/>
            <a:r>
              <a:rPr sz="4400" b="1" i="0">
                <a:solidFill>
                  <a:srgbClr val="E9A23B"/>
                </a:solidFill>
                <a:latin typeface="Cambria"/>
              </a:rPr>
              <a:t>20,4%</a:t>
            </a:r>
          </a:p>
        </p:txBody>
      </p:sp>
      <p:sp>
        <p:nvSpPr>
          <p:cNvPr id="24" name="TextBox 23"/>
          <p:cNvSpPr txBox="1"/>
          <p:nvPr/>
        </p:nvSpPr>
        <p:spPr>
          <a:xfrm>
            <a:off x="4297679" y="5623560"/>
            <a:ext cx="3474720" cy="457200"/>
          </a:xfrm>
          <a:prstGeom prst="rect">
            <a:avLst/>
          </a:prstGeom>
          <a:noFill/>
        </p:spPr>
        <p:txBody>
          <a:bodyPr wrap="square" lIns="0" rIns="0" tIns="0" bIns="0" anchor="t">
            <a:spAutoFit/>
          </a:bodyPr>
          <a:lstStyle/>
          <a:p>
            <a:pPr algn="l"/>
            <a:r>
              <a:rPr sz="1400" b="0" i="0">
                <a:solidFill>
                  <a:srgbClr val="556578"/>
                </a:solidFill>
                <a:latin typeface="Calibri"/>
              </a:rPr>
              <a:t>abandonó la empresa</a:t>
            </a:r>
          </a:p>
        </p:txBody>
      </p:sp>
      <p:sp>
        <p:nvSpPr>
          <p:cNvPr id="25" name="TextBox 24"/>
          <p:cNvSpPr txBox="1"/>
          <p:nvPr/>
        </p:nvSpPr>
        <p:spPr>
          <a:xfrm>
            <a:off x="8046719" y="4800600"/>
            <a:ext cx="3474720" cy="822960"/>
          </a:xfrm>
          <a:prstGeom prst="rect">
            <a:avLst/>
          </a:prstGeom>
          <a:noFill/>
        </p:spPr>
        <p:txBody>
          <a:bodyPr wrap="square" lIns="0" rIns="0" tIns="0" bIns="0" anchor="t">
            <a:spAutoFit/>
          </a:bodyPr>
          <a:lstStyle/>
          <a:p>
            <a:pPr algn="l"/>
            <a:r>
              <a:rPr sz="4400" b="1" i="0">
                <a:solidFill>
                  <a:srgbClr val="0B3C49"/>
                </a:solidFill>
                <a:latin typeface="Cambria"/>
              </a:rPr>
              <a:t>36%</a:t>
            </a:r>
          </a:p>
        </p:txBody>
      </p:sp>
      <p:sp>
        <p:nvSpPr>
          <p:cNvPr id="26" name="TextBox 25"/>
          <p:cNvSpPr txBox="1"/>
          <p:nvPr/>
        </p:nvSpPr>
        <p:spPr>
          <a:xfrm>
            <a:off x="8046719" y="5623560"/>
            <a:ext cx="3474720" cy="457200"/>
          </a:xfrm>
          <a:prstGeom prst="rect">
            <a:avLst/>
          </a:prstGeom>
          <a:noFill/>
        </p:spPr>
        <p:txBody>
          <a:bodyPr wrap="square" lIns="0" rIns="0" tIns="0" bIns="0" anchor="t">
            <a:spAutoFit/>
          </a:bodyPr>
          <a:lstStyle/>
          <a:p>
            <a:pPr algn="l"/>
            <a:r>
              <a:rPr sz="1400" b="0" i="0">
                <a:solidFill>
                  <a:srgbClr val="556578"/>
                </a:solidFill>
                <a:latin typeface="Calibri"/>
              </a:rPr>
              <a:t>tiene saldo exactamente 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57200"/>
            <a:ext cx="11064240" cy="640080"/>
          </a:xfrm>
          <a:prstGeom prst="rect">
            <a:avLst/>
          </a:prstGeom>
          <a:noFill/>
        </p:spPr>
        <p:txBody>
          <a:bodyPr wrap="square" lIns="0" rIns="0" tIns="0" bIns="0" anchor="t">
            <a:spAutoFit/>
          </a:bodyPr>
          <a:lstStyle/>
          <a:p>
            <a:pPr algn="l"/>
            <a:r>
              <a:rPr sz="3000" b="1" i="0">
                <a:solidFill>
                  <a:srgbClr val="0B3C49"/>
                </a:solidFill>
                <a:latin typeface="Cambria"/>
              </a:rPr>
              <a:t>Con el mismo umbral, Random Forest da alertas más certeras</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600" b="0" i="0">
                <a:solidFill>
                  <a:srgbClr val="556578"/>
                </a:solidFill>
                <a:latin typeface="Calibri"/>
              </a:rPr>
              <a:t>Métricas en 2.000 clientes de prueba · umbral 0,25 en los tres, elegido con validación cruzada</a:t>
            </a:r>
          </a:p>
        </p:txBody>
      </p:sp>
      <p:graphicFrame>
        <p:nvGraphicFramePr>
          <p:cNvPr id="4" name="Chart 3"/>
          <p:cNvGraphicFramePr>
            <a:graphicFrameLocks noGrp="1"/>
          </p:cNvGraphicFramePr>
          <p:nvPr/>
        </p:nvGraphicFramePr>
        <p:xfrm>
          <a:off x="548640" y="1645920"/>
          <a:ext cx="6949440" cy="4663440"/>
        </p:xfrm>
        <a:graphic>
          <a:graphicData uri="http://schemas.openxmlformats.org/drawingml/2006/chart">
            <c:chart xmlns:c="http://schemas.openxmlformats.org/drawingml/2006/chart" r:id="rId2"/>
          </a:graphicData>
        </a:graphic>
      </p:graphicFrame>
      <p:sp>
        <p:nvSpPr>
          <p:cNvPr id="5" name="Rounded Rectangle 4"/>
          <p:cNvSpPr/>
          <p:nvPr/>
        </p:nvSpPr>
        <p:spPr>
          <a:xfrm>
            <a:off x="7863840" y="1645920"/>
            <a:ext cx="3749039" cy="2148840"/>
          </a:xfrm>
          <a:prstGeom prst="roundRect">
            <a:avLst>
              <a:gd name="adj" fmla="val 6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38160" y="1828800"/>
            <a:ext cx="3291840" cy="365760"/>
          </a:xfrm>
          <a:prstGeom prst="rect">
            <a:avLst/>
          </a:prstGeom>
          <a:noFill/>
        </p:spPr>
        <p:txBody>
          <a:bodyPr wrap="square" lIns="0" rIns="0" tIns="0" bIns="0" anchor="t">
            <a:spAutoFit/>
          </a:bodyPr>
          <a:lstStyle/>
          <a:p>
            <a:pPr algn="l"/>
            <a:r>
              <a:rPr sz="1800" b="1" i="0">
                <a:solidFill>
                  <a:srgbClr val="1B7F79"/>
                </a:solidFill>
                <a:latin typeface="Calibri"/>
              </a:rPr>
              <a:t>Random Forest · modelo final</a:t>
            </a:r>
          </a:p>
        </p:txBody>
      </p:sp>
      <p:sp>
        <p:nvSpPr>
          <p:cNvPr id="7" name="TextBox 6"/>
          <p:cNvSpPr txBox="1"/>
          <p:nvPr/>
        </p:nvSpPr>
        <p:spPr>
          <a:xfrm>
            <a:off x="8138160" y="2240280"/>
            <a:ext cx="3291840" cy="1371600"/>
          </a:xfrm>
          <a:prstGeom prst="rect">
            <a:avLst/>
          </a:prstGeom>
          <a:noFill/>
        </p:spPr>
        <p:txBody>
          <a:bodyPr wrap="square" lIns="0" rIns="0" tIns="0" bIns="0" anchor="t">
            <a:spAutoFit/>
          </a:bodyPr>
          <a:lstStyle/>
          <a:p>
            <a:pPr algn="l"/>
            <a:r>
              <a:rPr sz="1500" b="0" i="0">
                <a:solidFill>
                  <a:srgbClr val="1E293B"/>
                </a:solidFill>
                <a:latin typeface="Calibri"/>
              </a:rPr>
              <a:t>Detecta lo mismo que los otros dos (recall 0,71) con más precisión (0,55) y el mejor ROC-AUC.</a:t>
            </a:r>
          </a:p>
        </p:txBody>
      </p:sp>
      <p:sp>
        <p:nvSpPr>
          <p:cNvPr id="8" name="Rounded Rectangle 7"/>
          <p:cNvSpPr/>
          <p:nvPr/>
        </p:nvSpPr>
        <p:spPr>
          <a:xfrm>
            <a:off x="7863840" y="4023360"/>
            <a:ext cx="3749039" cy="2286000"/>
          </a:xfrm>
          <a:prstGeom prst="roundRect">
            <a:avLst>
              <a:gd name="adj" fmla="val 6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38160" y="4206240"/>
            <a:ext cx="3291840" cy="365760"/>
          </a:xfrm>
          <a:prstGeom prst="rect">
            <a:avLst/>
          </a:prstGeom>
          <a:noFill/>
        </p:spPr>
        <p:txBody>
          <a:bodyPr wrap="square" lIns="0" rIns="0" tIns="0" bIns="0" anchor="t">
            <a:spAutoFit/>
          </a:bodyPr>
          <a:lstStyle/>
          <a:p>
            <a:pPr algn="l"/>
            <a:r>
              <a:rPr sz="1800" b="1" i="0">
                <a:solidFill>
                  <a:srgbClr val="556578"/>
                </a:solidFill>
                <a:latin typeface="Calibri"/>
              </a:rPr>
              <a:t>Las alternativas</a:t>
            </a:r>
          </a:p>
        </p:txBody>
      </p:sp>
      <p:sp>
        <p:nvSpPr>
          <p:cNvPr id="10" name="TextBox 9"/>
          <p:cNvSpPr txBox="1"/>
          <p:nvPr/>
        </p:nvSpPr>
        <p:spPr>
          <a:xfrm>
            <a:off x="8138160" y="4617720"/>
            <a:ext cx="3291840" cy="1554480"/>
          </a:xfrm>
          <a:prstGeom prst="rect">
            <a:avLst/>
          </a:prstGeom>
          <a:noFill/>
        </p:spPr>
        <p:txBody>
          <a:bodyPr wrap="square" lIns="0" rIns="0" tIns="0" bIns="0">
            <a:spAutoFit/>
          </a:bodyPr>
          <a:lstStyle/>
          <a:p>
            <a:pPr marL="228600" indent="-228600">
              <a:spcAft>
                <a:spcPts val="600"/>
              </a:spcAft>
              <a:buChar char="•"/>
            </a:pPr>
            <a:r>
              <a:rPr sz="1400" b="1">
                <a:solidFill>
                  <a:srgbClr val="1E293B"/>
                </a:solidFill>
                <a:latin typeface="Calibri"/>
              </a:rPr>
              <a:t>Logística: </a:t>
            </a:r>
            <a:r>
              <a:rPr sz="1400" b="0">
                <a:solidFill>
                  <a:srgbClr val="1E293B"/>
                </a:solidFill>
                <a:latin typeface="Calibri"/>
              </a:rPr>
              <a:t>casi igual (+0,012 de ROC-AUC para el RF) y explica cada predicción.</a:t>
            </a:r>
          </a:p>
          <a:p>
            <a:pPr marL="228600" indent="-228600">
              <a:spcAft>
                <a:spcPts val="600"/>
              </a:spcAft>
              <a:buChar char="•"/>
            </a:pPr>
            <a:r>
              <a:rPr sz="1400" b="1">
                <a:solidFill>
                  <a:srgbClr val="1E293B"/>
                </a:solidFill>
                <a:latin typeface="Calibri"/>
              </a:rPr>
              <a:t>Árbol: </a:t>
            </a:r>
            <a:r>
              <a:rPr sz="1400" b="0">
                <a:solidFill>
                  <a:srgbClr val="1E293B"/>
                </a:solidFill>
                <a:latin typeface="Calibri"/>
              </a:rPr>
              <a:t>el más débil, pero se lee como reglas.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57200"/>
            <a:ext cx="11064240" cy="640080"/>
          </a:xfrm>
          <a:prstGeom prst="rect">
            <a:avLst/>
          </a:prstGeom>
          <a:noFill/>
        </p:spPr>
        <p:txBody>
          <a:bodyPr wrap="square" lIns="0" rIns="0" tIns="0" bIns="0" anchor="t">
            <a:spAutoFit/>
          </a:bodyPr>
          <a:lstStyle/>
          <a:p>
            <a:pPr algn="l"/>
            <a:r>
              <a:rPr sz="3000" b="1" i="0">
                <a:solidFill>
                  <a:srgbClr val="0B3C49"/>
                </a:solidFill>
                <a:latin typeface="Cambria"/>
              </a:rPr>
              <a:t>Para retener clientes importa más el recall</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600" b="0" i="0">
                <a:solidFill>
                  <a:srgbClr val="556578"/>
                </a:solidFill>
                <a:latin typeface="Calibri"/>
              </a:rPr>
              <a:t>Umbral 0,25: el de mayor recall con al menos 50% de alertas reales</a:t>
            </a:r>
          </a:p>
        </p:txBody>
      </p:sp>
      <p:sp>
        <p:nvSpPr>
          <p:cNvPr id="4" name="TextBox 3"/>
          <p:cNvSpPr txBox="1"/>
          <p:nvPr/>
        </p:nvSpPr>
        <p:spPr>
          <a:xfrm>
            <a:off x="548640" y="1691640"/>
            <a:ext cx="3566160" cy="365760"/>
          </a:xfrm>
          <a:prstGeom prst="rect">
            <a:avLst/>
          </a:prstGeom>
          <a:noFill/>
        </p:spPr>
        <p:txBody>
          <a:bodyPr wrap="square" lIns="0" rIns="0" tIns="0" bIns="0" anchor="t">
            <a:spAutoFit/>
          </a:bodyPr>
          <a:lstStyle/>
          <a:p>
            <a:pPr algn="l"/>
            <a:r>
              <a:rPr sz="1800" b="1" i="0">
                <a:solidFill>
                  <a:srgbClr val="0B3C49"/>
                </a:solidFill>
                <a:latin typeface="Calibri"/>
              </a:rPr>
              <a:t>Regresión logística (0,25)</a:t>
            </a:r>
          </a:p>
        </p:txBody>
      </p:sp>
      <p:sp>
        <p:nvSpPr>
          <p:cNvPr id="5" name="TextBox 4"/>
          <p:cNvSpPr txBox="1"/>
          <p:nvPr/>
        </p:nvSpPr>
        <p:spPr>
          <a:xfrm>
            <a:off x="1691640" y="2103120"/>
            <a:ext cx="2377440" cy="274320"/>
          </a:xfrm>
          <a:prstGeom prst="rect">
            <a:avLst/>
          </a:prstGeom>
          <a:noFill/>
        </p:spPr>
        <p:txBody>
          <a:bodyPr wrap="square" lIns="0" rIns="0" tIns="0" bIns="0" anchor="t">
            <a:spAutoFit/>
          </a:bodyPr>
          <a:lstStyle/>
          <a:p>
            <a:pPr algn="ctr"/>
            <a:r>
              <a:rPr sz="1100" b="0" i="0">
                <a:solidFill>
                  <a:srgbClr val="556578"/>
                </a:solidFill>
                <a:latin typeface="Calibri"/>
              </a:rPr>
              <a:t>Predicción →</a:t>
            </a:r>
          </a:p>
        </p:txBody>
      </p:sp>
      <p:sp>
        <p:nvSpPr>
          <p:cNvPr id="6" name="TextBox 5"/>
          <p:cNvSpPr txBox="1"/>
          <p:nvPr/>
        </p:nvSpPr>
        <p:spPr>
          <a:xfrm>
            <a:off x="1691640" y="2377440"/>
            <a:ext cx="1143000" cy="274320"/>
          </a:xfrm>
          <a:prstGeom prst="rect">
            <a:avLst/>
          </a:prstGeom>
          <a:noFill/>
        </p:spPr>
        <p:txBody>
          <a:bodyPr wrap="square" lIns="0" rIns="0" tIns="0" bIns="0" anchor="t">
            <a:spAutoFit/>
          </a:bodyPr>
          <a:lstStyle/>
          <a:p>
            <a:pPr algn="ctr"/>
            <a:r>
              <a:rPr sz="1200" b="0" i="0">
                <a:solidFill>
                  <a:srgbClr val="556578"/>
                </a:solidFill>
                <a:latin typeface="Calibri"/>
              </a:rPr>
              <a:t>Se mantiene</a:t>
            </a:r>
          </a:p>
        </p:txBody>
      </p:sp>
      <p:sp>
        <p:nvSpPr>
          <p:cNvPr id="7" name="TextBox 6"/>
          <p:cNvSpPr txBox="1"/>
          <p:nvPr/>
        </p:nvSpPr>
        <p:spPr>
          <a:xfrm>
            <a:off x="2926080" y="2377440"/>
            <a:ext cx="1143000" cy="274320"/>
          </a:xfrm>
          <a:prstGeom prst="rect">
            <a:avLst/>
          </a:prstGeom>
          <a:noFill/>
        </p:spPr>
        <p:txBody>
          <a:bodyPr wrap="square" lIns="0" rIns="0" tIns="0" bIns="0" anchor="t">
            <a:spAutoFit/>
          </a:bodyPr>
          <a:lstStyle/>
          <a:p>
            <a:pPr algn="ctr"/>
            <a:r>
              <a:rPr sz="1200" b="0" i="0">
                <a:solidFill>
                  <a:srgbClr val="556578"/>
                </a:solidFill>
                <a:latin typeface="Calibri"/>
              </a:rPr>
              <a:t>Abandona</a:t>
            </a:r>
          </a:p>
        </p:txBody>
      </p:sp>
      <p:sp>
        <p:nvSpPr>
          <p:cNvPr id="8" name="TextBox 7"/>
          <p:cNvSpPr txBox="1"/>
          <p:nvPr/>
        </p:nvSpPr>
        <p:spPr>
          <a:xfrm>
            <a:off x="548640" y="2743200"/>
            <a:ext cx="1051560" cy="1143000"/>
          </a:xfrm>
          <a:prstGeom prst="rect">
            <a:avLst/>
          </a:prstGeom>
          <a:noFill/>
        </p:spPr>
        <p:txBody>
          <a:bodyPr wrap="square" lIns="0" rIns="0" tIns="0" bIns="0" anchor="ctr">
            <a:spAutoFit/>
          </a:bodyPr>
          <a:lstStyle/>
          <a:p>
            <a:pPr algn="l"/>
            <a:r>
              <a:rPr sz="1200" b="0" i="0">
                <a:solidFill>
                  <a:srgbClr val="556578"/>
                </a:solidFill>
                <a:latin typeface="Calibri"/>
              </a:rPr>
              <a:t>Se mantiene</a:t>
            </a:r>
          </a:p>
        </p:txBody>
      </p:sp>
      <p:sp>
        <p:nvSpPr>
          <p:cNvPr id="9" name="Rounded Rectangle 8"/>
          <p:cNvSpPr/>
          <p:nvPr/>
        </p:nvSpPr>
        <p:spPr>
          <a:xfrm>
            <a:off x="1691640" y="2743200"/>
            <a:ext cx="1143000" cy="1143000"/>
          </a:xfrm>
          <a:prstGeom prst="roundRect">
            <a:avLst>
              <a:gd name="adj" fmla="val 6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1E293B"/>
                </a:solidFill>
                <a:latin typeface="Calibri"/>
              </a:rPr>
              <a:t>1.320</a:t>
            </a:r>
          </a:p>
        </p:txBody>
      </p:sp>
      <p:sp>
        <p:nvSpPr>
          <p:cNvPr id="10" name="Rounded Rectangle 9"/>
          <p:cNvSpPr/>
          <p:nvPr/>
        </p:nvSpPr>
        <p:spPr>
          <a:xfrm>
            <a:off x="2926080" y="2743200"/>
            <a:ext cx="1143000" cy="1143000"/>
          </a:xfrm>
          <a:prstGeom prst="roundRect">
            <a:avLst>
              <a:gd name="adj" fmla="val 6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1E293B"/>
                </a:solidFill>
                <a:latin typeface="Calibri"/>
              </a:rPr>
              <a:t>273</a:t>
            </a:r>
          </a:p>
        </p:txBody>
      </p:sp>
      <p:sp>
        <p:nvSpPr>
          <p:cNvPr id="11" name="TextBox 10"/>
          <p:cNvSpPr txBox="1"/>
          <p:nvPr/>
        </p:nvSpPr>
        <p:spPr>
          <a:xfrm>
            <a:off x="548640" y="3977639"/>
            <a:ext cx="1051560" cy="1143000"/>
          </a:xfrm>
          <a:prstGeom prst="rect">
            <a:avLst/>
          </a:prstGeom>
          <a:noFill/>
        </p:spPr>
        <p:txBody>
          <a:bodyPr wrap="square" lIns="0" rIns="0" tIns="0" bIns="0" anchor="ctr">
            <a:spAutoFit/>
          </a:bodyPr>
          <a:lstStyle/>
          <a:p>
            <a:pPr algn="l"/>
            <a:r>
              <a:rPr sz="1200" b="0" i="0">
                <a:solidFill>
                  <a:srgbClr val="556578"/>
                </a:solidFill>
                <a:latin typeface="Calibri"/>
              </a:rPr>
              <a:t>Abandona</a:t>
            </a:r>
          </a:p>
        </p:txBody>
      </p:sp>
      <p:sp>
        <p:nvSpPr>
          <p:cNvPr id="12" name="Rounded Rectangle 11"/>
          <p:cNvSpPr/>
          <p:nvPr/>
        </p:nvSpPr>
        <p:spPr>
          <a:xfrm>
            <a:off x="1691640" y="3977639"/>
            <a:ext cx="1143000" cy="1143000"/>
          </a:xfrm>
          <a:prstGeom prst="roundRect">
            <a:avLst>
              <a:gd name="adj" fmla="val 6000"/>
            </a:avLst>
          </a:prstGeom>
          <a:solidFill>
            <a:srgbClr val="E9A2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FFFFFF"/>
                </a:solidFill>
                <a:latin typeface="Calibri"/>
              </a:rPr>
              <a:t>120</a:t>
            </a:r>
          </a:p>
        </p:txBody>
      </p:sp>
      <p:sp>
        <p:nvSpPr>
          <p:cNvPr id="13" name="Rounded Rectangle 12"/>
          <p:cNvSpPr/>
          <p:nvPr/>
        </p:nvSpPr>
        <p:spPr>
          <a:xfrm>
            <a:off x="2926080" y="3977639"/>
            <a:ext cx="1143000" cy="1143000"/>
          </a:xfrm>
          <a:prstGeom prst="roundRect">
            <a:avLst>
              <a:gd name="adj" fmla="val 6000"/>
            </a:avLst>
          </a:prstGeom>
          <a:solidFill>
            <a:srgbClr val="1B7F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FFFFFF"/>
                </a:solidFill>
                <a:latin typeface="Calibri"/>
              </a:rPr>
              <a:t>287</a:t>
            </a:r>
          </a:p>
        </p:txBody>
      </p:sp>
      <p:sp>
        <p:nvSpPr>
          <p:cNvPr id="14" name="TextBox 13"/>
          <p:cNvSpPr txBox="1"/>
          <p:nvPr/>
        </p:nvSpPr>
        <p:spPr>
          <a:xfrm>
            <a:off x="548640" y="2377440"/>
            <a:ext cx="1051560" cy="274320"/>
          </a:xfrm>
          <a:prstGeom prst="rect">
            <a:avLst/>
          </a:prstGeom>
          <a:noFill/>
        </p:spPr>
        <p:txBody>
          <a:bodyPr wrap="square" lIns="0" rIns="0" tIns="0" bIns="0" anchor="t">
            <a:spAutoFit/>
          </a:bodyPr>
          <a:lstStyle/>
          <a:p>
            <a:pPr algn="l"/>
            <a:r>
              <a:rPr sz="1100" b="0" i="0">
                <a:solidFill>
                  <a:srgbClr val="556578"/>
                </a:solidFill>
                <a:latin typeface="Calibri"/>
              </a:rPr>
              <a:t>Real ↓</a:t>
            </a:r>
          </a:p>
        </p:txBody>
      </p:sp>
      <p:sp>
        <p:nvSpPr>
          <p:cNvPr id="15" name="TextBox 14"/>
          <p:cNvSpPr txBox="1"/>
          <p:nvPr/>
        </p:nvSpPr>
        <p:spPr>
          <a:xfrm>
            <a:off x="4343400" y="1691640"/>
            <a:ext cx="3566160" cy="365760"/>
          </a:xfrm>
          <a:prstGeom prst="rect">
            <a:avLst/>
          </a:prstGeom>
          <a:noFill/>
        </p:spPr>
        <p:txBody>
          <a:bodyPr wrap="square" lIns="0" rIns="0" tIns="0" bIns="0" anchor="t">
            <a:spAutoFit/>
          </a:bodyPr>
          <a:lstStyle/>
          <a:p>
            <a:pPr algn="l"/>
            <a:r>
              <a:rPr sz="1800" b="1" i="0">
                <a:solidFill>
                  <a:srgbClr val="0B3C49"/>
                </a:solidFill>
                <a:latin typeface="Calibri"/>
              </a:rPr>
              <a:t>Random Forest (0,25)</a:t>
            </a:r>
          </a:p>
        </p:txBody>
      </p:sp>
      <p:sp>
        <p:nvSpPr>
          <p:cNvPr id="16" name="TextBox 15"/>
          <p:cNvSpPr txBox="1"/>
          <p:nvPr/>
        </p:nvSpPr>
        <p:spPr>
          <a:xfrm>
            <a:off x="5486400" y="2103120"/>
            <a:ext cx="2377440" cy="274320"/>
          </a:xfrm>
          <a:prstGeom prst="rect">
            <a:avLst/>
          </a:prstGeom>
          <a:noFill/>
        </p:spPr>
        <p:txBody>
          <a:bodyPr wrap="square" lIns="0" rIns="0" tIns="0" bIns="0" anchor="t">
            <a:spAutoFit/>
          </a:bodyPr>
          <a:lstStyle/>
          <a:p>
            <a:pPr algn="ctr"/>
            <a:r>
              <a:rPr sz="1100" b="0" i="0">
                <a:solidFill>
                  <a:srgbClr val="556578"/>
                </a:solidFill>
                <a:latin typeface="Calibri"/>
              </a:rPr>
              <a:t>Predicción →</a:t>
            </a:r>
          </a:p>
        </p:txBody>
      </p:sp>
      <p:sp>
        <p:nvSpPr>
          <p:cNvPr id="17" name="TextBox 16"/>
          <p:cNvSpPr txBox="1"/>
          <p:nvPr/>
        </p:nvSpPr>
        <p:spPr>
          <a:xfrm>
            <a:off x="5486400" y="2377440"/>
            <a:ext cx="1143000" cy="274320"/>
          </a:xfrm>
          <a:prstGeom prst="rect">
            <a:avLst/>
          </a:prstGeom>
          <a:noFill/>
        </p:spPr>
        <p:txBody>
          <a:bodyPr wrap="square" lIns="0" rIns="0" tIns="0" bIns="0" anchor="t">
            <a:spAutoFit/>
          </a:bodyPr>
          <a:lstStyle/>
          <a:p>
            <a:pPr algn="ctr"/>
            <a:r>
              <a:rPr sz="1200" b="0" i="0">
                <a:solidFill>
                  <a:srgbClr val="556578"/>
                </a:solidFill>
                <a:latin typeface="Calibri"/>
              </a:rPr>
              <a:t>Se mantiene</a:t>
            </a:r>
          </a:p>
        </p:txBody>
      </p:sp>
      <p:sp>
        <p:nvSpPr>
          <p:cNvPr id="18" name="TextBox 17"/>
          <p:cNvSpPr txBox="1"/>
          <p:nvPr/>
        </p:nvSpPr>
        <p:spPr>
          <a:xfrm>
            <a:off x="6720840" y="2377440"/>
            <a:ext cx="1143000" cy="274320"/>
          </a:xfrm>
          <a:prstGeom prst="rect">
            <a:avLst/>
          </a:prstGeom>
          <a:noFill/>
        </p:spPr>
        <p:txBody>
          <a:bodyPr wrap="square" lIns="0" rIns="0" tIns="0" bIns="0" anchor="t">
            <a:spAutoFit/>
          </a:bodyPr>
          <a:lstStyle/>
          <a:p>
            <a:pPr algn="ctr"/>
            <a:r>
              <a:rPr sz="1200" b="0" i="0">
                <a:solidFill>
                  <a:srgbClr val="556578"/>
                </a:solidFill>
                <a:latin typeface="Calibri"/>
              </a:rPr>
              <a:t>Abandona</a:t>
            </a:r>
          </a:p>
        </p:txBody>
      </p:sp>
      <p:sp>
        <p:nvSpPr>
          <p:cNvPr id="19" name="TextBox 18"/>
          <p:cNvSpPr txBox="1"/>
          <p:nvPr/>
        </p:nvSpPr>
        <p:spPr>
          <a:xfrm>
            <a:off x="4343400" y="2743200"/>
            <a:ext cx="1051560" cy="1143000"/>
          </a:xfrm>
          <a:prstGeom prst="rect">
            <a:avLst/>
          </a:prstGeom>
          <a:noFill/>
        </p:spPr>
        <p:txBody>
          <a:bodyPr wrap="square" lIns="0" rIns="0" tIns="0" bIns="0" anchor="ctr">
            <a:spAutoFit/>
          </a:bodyPr>
          <a:lstStyle/>
          <a:p>
            <a:pPr algn="l"/>
            <a:r>
              <a:rPr sz="1200" b="0" i="0">
                <a:solidFill>
                  <a:srgbClr val="556578"/>
                </a:solidFill>
                <a:latin typeface="Calibri"/>
              </a:rPr>
              <a:t>Se mantiene</a:t>
            </a:r>
          </a:p>
        </p:txBody>
      </p:sp>
      <p:sp>
        <p:nvSpPr>
          <p:cNvPr id="20" name="Rounded Rectangle 19"/>
          <p:cNvSpPr/>
          <p:nvPr/>
        </p:nvSpPr>
        <p:spPr>
          <a:xfrm>
            <a:off x="5486400" y="2743200"/>
            <a:ext cx="1143000" cy="1143000"/>
          </a:xfrm>
          <a:prstGeom prst="roundRect">
            <a:avLst>
              <a:gd name="adj" fmla="val 6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1E293B"/>
                </a:solidFill>
                <a:latin typeface="Calibri"/>
              </a:rPr>
              <a:t>1.357</a:t>
            </a:r>
          </a:p>
        </p:txBody>
      </p:sp>
      <p:sp>
        <p:nvSpPr>
          <p:cNvPr id="21" name="Rounded Rectangle 20"/>
          <p:cNvSpPr/>
          <p:nvPr/>
        </p:nvSpPr>
        <p:spPr>
          <a:xfrm>
            <a:off x="6720840" y="2743200"/>
            <a:ext cx="1143000" cy="1143000"/>
          </a:xfrm>
          <a:prstGeom prst="roundRect">
            <a:avLst>
              <a:gd name="adj" fmla="val 6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1E293B"/>
                </a:solidFill>
                <a:latin typeface="Calibri"/>
              </a:rPr>
              <a:t>236</a:t>
            </a:r>
          </a:p>
        </p:txBody>
      </p:sp>
      <p:sp>
        <p:nvSpPr>
          <p:cNvPr id="22" name="TextBox 21"/>
          <p:cNvSpPr txBox="1"/>
          <p:nvPr/>
        </p:nvSpPr>
        <p:spPr>
          <a:xfrm>
            <a:off x="4343400" y="3977639"/>
            <a:ext cx="1051560" cy="1143000"/>
          </a:xfrm>
          <a:prstGeom prst="rect">
            <a:avLst/>
          </a:prstGeom>
          <a:noFill/>
        </p:spPr>
        <p:txBody>
          <a:bodyPr wrap="square" lIns="0" rIns="0" tIns="0" bIns="0" anchor="ctr">
            <a:spAutoFit/>
          </a:bodyPr>
          <a:lstStyle/>
          <a:p>
            <a:pPr algn="l"/>
            <a:r>
              <a:rPr sz="1200" b="0" i="0">
                <a:solidFill>
                  <a:srgbClr val="556578"/>
                </a:solidFill>
                <a:latin typeface="Calibri"/>
              </a:rPr>
              <a:t>Abandona</a:t>
            </a:r>
          </a:p>
        </p:txBody>
      </p:sp>
      <p:sp>
        <p:nvSpPr>
          <p:cNvPr id="23" name="Rounded Rectangle 22"/>
          <p:cNvSpPr/>
          <p:nvPr/>
        </p:nvSpPr>
        <p:spPr>
          <a:xfrm>
            <a:off x="5486400" y="3977639"/>
            <a:ext cx="1143000" cy="1143000"/>
          </a:xfrm>
          <a:prstGeom prst="roundRect">
            <a:avLst>
              <a:gd name="adj" fmla="val 6000"/>
            </a:avLst>
          </a:prstGeom>
          <a:solidFill>
            <a:srgbClr val="E9A2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FFFFFF"/>
                </a:solidFill>
                <a:latin typeface="Calibri"/>
              </a:rPr>
              <a:t>118</a:t>
            </a:r>
          </a:p>
        </p:txBody>
      </p:sp>
      <p:sp>
        <p:nvSpPr>
          <p:cNvPr id="24" name="Rounded Rectangle 23"/>
          <p:cNvSpPr/>
          <p:nvPr/>
        </p:nvSpPr>
        <p:spPr>
          <a:xfrm>
            <a:off x="6720840" y="3977639"/>
            <a:ext cx="1143000" cy="1143000"/>
          </a:xfrm>
          <a:prstGeom prst="roundRect">
            <a:avLst>
              <a:gd name="adj" fmla="val 6000"/>
            </a:avLst>
          </a:prstGeom>
          <a:solidFill>
            <a:srgbClr val="1B7F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FFFFFF"/>
                </a:solidFill>
                <a:latin typeface="Calibri"/>
              </a:rPr>
              <a:t>289</a:t>
            </a:r>
          </a:p>
        </p:txBody>
      </p:sp>
      <p:sp>
        <p:nvSpPr>
          <p:cNvPr id="25" name="TextBox 24"/>
          <p:cNvSpPr txBox="1"/>
          <p:nvPr/>
        </p:nvSpPr>
        <p:spPr>
          <a:xfrm>
            <a:off x="4343400" y="2377440"/>
            <a:ext cx="1051560" cy="274320"/>
          </a:xfrm>
          <a:prstGeom prst="rect">
            <a:avLst/>
          </a:prstGeom>
          <a:noFill/>
        </p:spPr>
        <p:txBody>
          <a:bodyPr wrap="square" lIns="0" rIns="0" tIns="0" bIns="0" anchor="t">
            <a:spAutoFit/>
          </a:bodyPr>
          <a:lstStyle/>
          <a:p>
            <a:pPr algn="l"/>
            <a:r>
              <a:rPr sz="1100" b="0" i="0">
                <a:solidFill>
                  <a:srgbClr val="556578"/>
                </a:solidFill>
                <a:latin typeface="Calibri"/>
              </a:rPr>
              <a:t>Real ↓</a:t>
            </a:r>
          </a:p>
        </p:txBody>
      </p:sp>
      <p:sp>
        <p:nvSpPr>
          <p:cNvPr id="26" name="Rounded Rectangle 25"/>
          <p:cNvSpPr/>
          <p:nvPr/>
        </p:nvSpPr>
        <p:spPr>
          <a:xfrm>
            <a:off x="8229600" y="1691640"/>
            <a:ext cx="3429000" cy="4206240"/>
          </a:xfrm>
          <a:prstGeom prst="roundRect">
            <a:avLst>
              <a:gd name="adj" fmla="val 6000"/>
            </a:avLst>
          </a:prstGeom>
          <a:solidFill>
            <a:srgbClr val="0B3C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3920" y="1920240"/>
            <a:ext cx="2926080" cy="365760"/>
          </a:xfrm>
          <a:prstGeom prst="rect">
            <a:avLst/>
          </a:prstGeom>
          <a:noFill/>
        </p:spPr>
        <p:txBody>
          <a:bodyPr wrap="square" lIns="0" rIns="0" tIns="0" bIns="0" anchor="t">
            <a:spAutoFit/>
          </a:bodyPr>
          <a:lstStyle/>
          <a:p>
            <a:pPr algn="l"/>
            <a:r>
              <a:rPr sz="1500" b="0" i="0">
                <a:solidFill>
                  <a:srgbClr val="CBE4E2"/>
                </a:solidFill>
                <a:latin typeface="Calibri"/>
              </a:rPr>
              <a:t>Random Forest, umbral 0,25</a:t>
            </a:r>
          </a:p>
        </p:txBody>
      </p:sp>
      <p:sp>
        <p:nvSpPr>
          <p:cNvPr id="28" name="TextBox 27"/>
          <p:cNvSpPr txBox="1"/>
          <p:nvPr/>
        </p:nvSpPr>
        <p:spPr>
          <a:xfrm>
            <a:off x="8503920" y="2286000"/>
            <a:ext cx="2926080" cy="731520"/>
          </a:xfrm>
          <a:prstGeom prst="rect">
            <a:avLst/>
          </a:prstGeom>
          <a:noFill/>
        </p:spPr>
        <p:txBody>
          <a:bodyPr wrap="square" lIns="0" rIns="0" tIns="0" bIns="0" anchor="t">
            <a:spAutoFit/>
          </a:bodyPr>
          <a:lstStyle/>
          <a:p>
            <a:pPr algn="l"/>
            <a:r>
              <a:rPr sz="3600" b="1" i="0">
                <a:solidFill>
                  <a:srgbClr val="FFFFFF"/>
                </a:solidFill>
                <a:latin typeface="Cambria"/>
              </a:rPr>
              <a:t>289</a:t>
            </a:r>
            <a:r>
              <a:rPr sz="3600" b="0" i="0">
                <a:solidFill>
                  <a:srgbClr val="FFFFFF"/>
                </a:solidFill>
                <a:latin typeface="Cambria"/>
              </a:rPr>
              <a:t> de 407</a:t>
            </a:r>
          </a:p>
        </p:txBody>
      </p:sp>
      <p:sp>
        <p:nvSpPr>
          <p:cNvPr id="29" name="TextBox 28"/>
          <p:cNvSpPr txBox="1"/>
          <p:nvPr/>
        </p:nvSpPr>
        <p:spPr>
          <a:xfrm>
            <a:off x="8503920" y="3017520"/>
            <a:ext cx="2926080" cy="548640"/>
          </a:xfrm>
          <a:prstGeom prst="rect">
            <a:avLst/>
          </a:prstGeom>
          <a:noFill/>
        </p:spPr>
        <p:txBody>
          <a:bodyPr wrap="square" lIns="0" rIns="0" tIns="0" bIns="0" anchor="t">
            <a:spAutoFit/>
          </a:bodyPr>
          <a:lstStyle/>
          <a:p>
            <a:pPr algn="l"/>
            <a:r>
              <a:rPr sz="1300" b="0" i="0">
                <a:solidFill>
                  <a:srgbClr val="CBE4E2"/>
                </a:solidFill>
                <a:latin typeface="Calibri"/>
              </a:rPr>
              <a:t>abandonos detectados · 55% de las alertas son reales</a:t>
            </a:r>
          </a:p>
        </p:txBody>
      </p:sp>
      <p:sp>
        <p:nvSpPr>
          <p:cNvPr id="30" name="TextBox 29"/>
          <p:cNvSpPr txBox="1"/>
          <p:nvPr/>
        </p:nvSpPr>
        <p:spPr>
          <a:xfrm>
            <a:off x="8503920" y="3794760"/>
            <a:ext cx="2926080" cy="1463040"/>
          </a:xfrm>
          <a:prstGeom prst="rect">
            <a:avLst/>
          </a:prstGeom>
          <a:noFill/>
        </p:spPr>
        <p:txBody>
          <a:bodyPr wrap="square" lIns="0" rIns="0" tIns="0" bIns="0" anchor="t">
            <a:spAutoFit/>
          </a:bodyPr>
          <a:lstStyle/>
          <a:p>
            <a:pPr algn="l"/>
            <a:r>
              <a:rPr sz="1500" b="0" i="0">
                <a:solidFill>
                  <a:srgbClr val="E9A23B"/>
                </a:solidFill>
                <a:latin typeface="Calibri"/>
              </a:rPr>
              <a:t>Con el umbral de máximo F1 (0,35) detectaría solo 242: 47 abandonos menos.</a:t>
            </a:r>
          </a:p>
        </p:txBody>
      </p:sp>
      <p:sp>
        <p:nvSpPr>
          <p:cNvPr id="31" name="TextBox 30"/>
          <p:cNvSpPr txBox="1"/>
          <p:nvPr/>
        </p:nvSpPr>
        <p:spPr>
          <a:xfrm>
            <a:off x="548640" y="6263640"/>
            <a:ext cx="7315200" cy="274320"/>
          </a:xfrm>
          <a:prstGeom prst="rect">
            <a:avLst/>
          </a:prstGeom>
          <a:noFill/>
        </p:spPr>
        <p:txBody>
          <a:bodyPr wrap="square" lIns="0" rIns="0" tIns="0" bIns="0" anchor="t">
            <a:spAutoFit/>
          </a:bodyPr>
          <a:lstStyle/>
          <a:p>
            <a:pPr algn="l"/>
            <a:r>
              <a:rPr sz="1100" b="0" i="0">
                <a:solidFill>
                  <a:srgbClr val="556578"/>
                </a:solidFill>
                <a:latin typeface="Calibri"/>
              </a:rPr>
              <a:t>Verde: abandonos detectados · Ámbar: abandonos no detectados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57200"/>
            <a:ext cx="11064240" cy="640080"/>
          </a:xfrm>
          <a:prstGeom prst="rect">
            <a:avLst/>
          </a:prstGeom>
          <a:noFill/>
        </p:spPr>
        <p:txBody>
          <a:bodyPr wrap="square" lIns="0" rIns="0" tIns="0" bIns="0" anchor="t">
            <a:spAutoFit/>
          </a:bodyPr>
          <a:lstStyle/>
          <a:p>
            <a:pPr algn="l"/>
            <a:r>
              <a:rPr sz="3000" b="1" i="0">
                <a:solidFill>
                  <a:srgbClr val="0B3C49"/>
                </a:solidFill>
                <a:latin typeface="Cambria"/>
              </a:rPr>
              <a:t>El árbol de decisión es el más débil, pero se lee como reglas</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600" b="0" i="0">
                <a:solidFill>
                  <a:srgbClr val="556578"/>
                </a:solidFill>
                <a:latin typeface="Calibri"/>
              </a:rPr>
              <a:t>Mejor árbol en validación cruzada: profundidad 8 y hojas de al menos 60 clientes</a:t>
            </a:r>
          </a:p>
        </p:txBody>
      </p:sp>
      <p:sp>
        <p:nvSpPr>
          <p:cNvPr id="4" name="Rounded Rectangle 3"/>
          <p:cNvSpPr/>
          <p:nvPr/>
        </p:nvSpPr>
        <p:spPr>
          <a:xfrm>
            <a:off x="548640" y="1737360"/>
            <a:ext cx="2468880" cy="1920240"/>
          </a:xfrm>
          <a:prstGeom prst="roundRect">
            <a:avLst>
              <a:gd name="adj" fmla="val 6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920240"/>
            <a:ext cx="2011680" cy="822960"/>
          </a:xfrm>
          <a:prstGeom prst="rect">
            <a:avLst/>
          </a:prstGeom>
          <a:noFill/>
        </p:spPr>
        <p:txBody>
          <a:bodyPr wrap="square" lIns="0" rIns="0" tIns="0" bIns="0" anchor="t">
            <a:spAutoFit/>
          </a:bodyPr>
          <a:lstStyle/>
          <a:p>
            <a:pPr algn="l"/>
            <a:r>
              <a:rPr sz="1600" b="1" i="0">
                <a:solidFill>
                  <a:srgbClr val="0B3C49"/>
                </a:solidFill>
                <a:latin typeface="Cambria"/>
              </a:rPr>
              <a:t>¿Tiene entre 44,5 y 65,5 años?</a:t>
            </a:r>
          </a:p>
        </p:txBody>
      </p:sp>
      <p:sp>
        <p:nvSpPr>
          <p:cNvPr id="6" name="TextBox 5"/>
          <p:cNvSpPr txBox="1"/>
          <p:nvPr/>
        </p:nvSpPr>
        <p:spPr>
          <a:xfrm>
            <a:off x="777240" y="2788920"/>
            <a:ext cx="2011680" cy="320040"/>
          </a:xfrm>
          <a:prstGeom prst="rect">
            <a:avLst/>
          </a:prstGeom>
          <a:noFill/>
        </p:spPr>
        <p:txBody>
          <a:bodyPr wrap="square" lIns="0" rIns="0" tIns="0" bIns="0" anchor="t">
            <a:spAutoFit/>
          </a:bodyPr>
          <a:lstStyle/>
          <a:p>
            <a:pPr algn="l"/>
            <a:r>
              <a:rPr sz="1300" b="0" i="0">
                <a:solidFill>
                  <a:srgbClr val="556578"/>
                </a:solidFill>
                <a:latin typeface="Calibri"/>
              </a:rPr>
              <a:t>Sí: 20,5% de los clientes</a:t>
            </a:r>
          </a:p>
        </p:txBody>
      </p:sp>
      <p:sp>
        <p:nvSpPr>
          <p:cNvPr id="7" name="TextBox 6"/>
          <p:cNvSpPr txBox="1"/>
          <p:nvPr/>
        </p:nvSpPr>
        <p:spPr>
          <a:xfrm>
            <a:off x="777240" y="3108960"/>
            <a:ext cx="2011680" cy="365760"/>
          </a:xfrm>
          <a:prstGeom prst="rect">
            <a:avLst/>
          </a:prstGeom>
          <a:noFill/>
        </p:spPr>
        <p:txBody>
          <a:bodyPr wrap="square" lIns="0" rIns="0" tIns="0" bIns="0" anchor="t">
            <a:spAutoFit/>
          </a:bodyPr>
          <a:lstStyle/>
          <a:p>
            <a:pPr algn="l"/>
            <a:r>
              <a:rPr sz="1600" b="1" i="0">
                <a:solidFill>
                  <a:srgbClr val="1B7F79"/>
                </a:solidFill>
                <a:latin typeface="Calibri"/>
              </a:rPr>
              <a:t>49% abandona</a:t>
            </a:r>
          </a:p>
        </p:txBody>
      </p:sp>
      <p:sp>
        <p:nvSpPr>
          <p:cNvPr id="8" name="TextBox 7"/>
          <p:cNvSpPr txBox="1"/>
          <p:nvPr/>
        </p:nvSpPr>
        <p:spPr>
          <a:xfrm>
            <a:off x="3017520" y="2377440"/>
            <a:ext cx="411480" cy="548640"/>
          </a:xfrm>
          <a:prstGeom prst="rect">
            <a:avLst/>
          </a:prstGeom>
          <a:noFill/>
        </p:spPr>
        <p:txBody>
          <a:bodyPr wrap="square" lIns="0" rIns="0" tIns="0" bIns="0" anchor="t">
            <a:spAutoFit/>
          </a:bodyPr>
          <a:lstStyle/>
          <a:p>
            <a:pPr algn="ctr"/>
            <a:r>
              <a:rPr sz="2600" b="1" i="0">
                <a:solidFill>
                  <a:srgbClr val="1B7F79"/>
                </a:solidFill>
                <a:latin typeface="Calibri"/>
              </a:rPr>
              <a:t>→</a:t>
            </a:r>
          </a:p>
        </p:txBody>
      </p:sp>
      <p:sp>
        <p:nvSpPr>
          <p:cNvPr id="9" name="Rounded Rectangle 8"/>
          <p:cNvSpPr/>
          <p:nvPr/>
        </p:nvSpPr>
        <p:spPr>
          <a:xfrm>
            <a:off x="3429000" y="1737360"/>
            <a:ext cx="2468880" cy="1920240"/>
          </a:xfrm>
          <a:prstGeom prst="roundRect">
            <a:avLst>
              <a:gd name="adj" fmla="val 6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0" y="1920240"/>
            <a:ext cx="2011680" cy="822960"/>
          </a:xfrm>
          <a:prstGeom prst="rect">
            <a:avLst/>
          </a:prstGeom>
          <a:noFill/>
        </p:spPr>
        <p:txBody>
          <a:bodyPr wrap="square" lIns="0" rIns="0" tIns="0" bIns="0" anchor="t">
            <a:spAutoFit/>
          </a:bodyPr>
          <a:lstStyle/>
          <a:p>
            <a:pPr algn="l"/>
            <a:r>
              <a:rPr sz="1600" b="1" i="0">
                <a:solidFill>
                  <a:srgbClr val="0B3C49"/>
                </a:solidFill>
                <a:latin typeface="Cambria"/>
              </a:rPr>
              <a:t>¿Tiene un número de productos distinto de 2?</a:t>
            </a:r>
          </a:p>
        </p:txBody>
      </p:sp>
      <p:sp>
        <p:nvSpPr>
          <p:cNvPr id="11" name="TextBox 10"/>
          <p:cNvSpPr txBox="1"/>
          <p:nvPr/>
        </p:nvSpPr>
        <p:spPr>
          <a:xfrm>
            <a:off x="3657600" y="2788920"/>
            <a:ext cx="2011680" cy="320040"/>
          </a:xfrm>
          <a:prstGeom prst="rect">
            <a:avLst/>
          </a:prstGeom>
          <a:noFill/>
        </p:spPr>
        <p:txBody>
          <a:bodyPr wrap="square" lIns="0" rIns="0" tIns="0" bIns="0" anchor="t">
            <a:spAutoFit/>
          </a:bodyPr>
          <a:lstStyle/>
          <a:p>
            <a:pPr algn="l"/>
            <a:r>
              <a:rPr sz="1300" b="0" i="0">
                <a:solidFill>
                  <a:srgbClr val="556578"/>
                </a:solidFill>
                <a:latin typeface="Calibri"/>
              </a:rPr>
              <a:t>Sí: 13,7% de los clientes</a:t>
            </a:r>
          </a:p>
        </p:txBody>
      </p:sp>
      <p:sp>
        <p:nvSpPr>
          <p:cNvPr id="12" name="TextBox 11"/>
          <p:cNvSpPr txBox="1"/>
          <p:nvPr/>
        </p:nvSpPr>
        <p:spPr>
          <a:xfrm>
            <a:off x="3657600" y="3108960"/>
            <a:ext cx="2011680" cy="365760"/>
          </a:xfrm>
          <a:prstGeom prst="rect">
            <a:avLst/>
          </a:prstGeom>
          <a:noFill/>
        </p:spPr>
        <p:txBody>
          <a:bodyPr wrap="square" lIns="0" rIns="0" tIns="0" bIns="0" anchor="t">
            <a:spAutoFit/>
          </a:bodyPr>
          <a:lstStyle/>
          <a:p>
            <a:pPr algn="l"/>
            <a:r>
              <a:rPr sz="1600" b="1" i="0">
                <a:solidFill>
                  <a:srgbClr val="1B7F79"/>
                </a:solidFill>
                <a:latin typeface="Calibri"/>
              </a:rPr>
              <a:t>62% abandona</a:t>
            </a:r>
          </a:p>
        </p:txBody>
      </p:sp>
      <p:sp>
        <p:nvSpPr>
          <p:cNvPr id="13" name="TextBox 12"/>
          <p:cNvSpPr txBox="1"/>
          <p:nvPr/>
        </p:nvSpPr>
        <p:spPr>
          <a:xfrm>
            <a:off x="5897880" y="2377440"/>
            <a:ext cx="411480" cy="548640"/>
          </a:xfrm>
          <a:prstGeom prst="rect">
            <a:avLst/>
          </a:prstGeom>
          <a:noFill/>
        </p:spPr>
        <p:txBody>
          <a:bodyPr wrap="square" lIns="0" rIns="0" tIns="0" bIns="0" anchor="t">
            <a:spAutoFit/>
          </a:bodyPr>
          <a:lstStyle/>
          <a:p>
            <a:pPr algn="ctr"/>
            <a:r>
              <a:rPr sz="2600" b="1" i="0">
                <a:solidFill>
                  <a:srgbClr val="1B7F79"/>
                </a:solidFill>
                <a:latin typeface="Calibri"/>
              </a:rPr>
              <a:t>→</a:t>
            </a:r>
          </a:p>
        </p:txBody>
      </p:sp>
      <p:sp>
        <p:nvSpPr>
          <p:cNvPr id="14" name="Rounded Rectangle 13"/>
          <p:cNvSpPr/>
          <p:nvPr/>
        </p:nvSpPr>
        <p:spPr>
          <a:xfrm>
            <a:off x="6309359" y="1737360"/>
            <a:ext cx="2468880" cy="1920240"/>
          </a:xfrm>
          <a:prstGeom prst="roundRect">
            <a:avLst>
              <a:gd name="adj" fmla="val 6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7959" y="1920240"/>
            <a:ext cx="2011680" cy="822960"/>
          </a:xfrm>
          <a:prstGeom prst="rect">
            <a:avLst/>
          </a:prstGeom>
          <a:noFill/>
        </p:spPr>
        <p:txBody>
          <a:bodyPr wrap="square" lIns="0" rIns="0" tIns="0" bIns="0" anchor="t">
            <a:spAutoFit/>
          </a:bodyPr>
          <a:lstStyle/>
          <a:p>
            <a:pPr algn="l"/>
            <a:r>
              <a:rPr sz="1600" b="1" i="0">
                <a:solidFill>
                  <a:srgbClr val="0B3C49"/>
                </a:solidFill>
                <a:latin typeface="Cambria"/>
              </a:rPr>
              <a:t>¿Es un cliente inactivo?</a:t>
            </a:r>
          </a:p>
        </p:txBody>
      </p:sp>
      <p:sp>
        <p:nvSpPr>
          <p:cNvPr id="16" name="TextBox 15"/>
          <p:cNvSpPr txBox="1"/>
          <p:nvPr/>
        </p:nvSpPr>
        <p:spPr>
          <a:xfrm>
            <a:off x="6537959" y="2788920"/>
            <a:ext cx="2011680" cy="320040"/>
          </a:xfrm>
          <a:prstGeom prst="rect">
            <a:avLst/>
          </a:prstGeom>
          <a:noFill/>
        </p:spPr>
        <p:txBody>
          <a:bodyPr wrap="square" lIns="0" rIns="0" tIns="0" bIns="0" anchor="t">
            <a:spAutoFit/>
          </a:bodyPr>
          <a:lstStyle/>
          <a:p>
            <a:pPr algn="l"/>
            <a:r>
              <a:rPr sz="1300" b="0" i="0">
                <a:solidFill>
                  <a:srgbClr val="556578"/>
                </a:solidFill>
                <a:latin typeface="Calibri"/>
              </a:rPr>
              <a:t>Sí: 7,1% de los clientes</a:t>
            </a:r>
          </a:p>
        </p:txBody>
      </p:sp>
      <p:sp>
        <p:nvSpPr>
          <p:cNvPr id="17" name="TextBox 16"/>
          <p:cNvSpPr txBox="1"/>
          <p:nvPr/>
        </p:nvSpPr>
        <p:spPr>
          <a:xfrm>
            <a:off x="6537959" y="3108960"/>
            <a:ext cx="2011680" cy="365760"/>
          </a:xfrm>
          <a:prstGeom prst="rect">
            <a:avLst/>
          </a:prstGeom>
          <a:noFill/>
        </p:spPr>
        <p:txBody>
          <a:bodyPr wrap="square" lIns="0" rIns="0" tIns="0" bIns="0" anchor="t">
            <a:spAutoFit/>
          </a:bodyPr>
          <a:lstStyle/>
          <a:p>
            <a:pPr algn="l"/>
            <a:r>
              <a:rPr sz="1600" b="1" i="0">
                <a:solidFill>
                  <a:srgbClr val="1B7F79"/>
                </a:solidFill>
                <a:latin typeface="Calibri"/>
              </a:rPr>
              <a:t>79% abandona</a:t>
            </a:r>
          </a:p>
        </p:txBody>
      </p:sp>
      <p:sp>
        <p:nvSpPr>
          <p:cNvPr id="18" name="TextBox 17"/>
          <p:cNvSpPr txBox="1"/>
          <p:nvPr/>
        </p:nvSpPr>
        <p:spPr>
          <a:xfrm>
            <a:off x="8778240" y="2377440"/>
            <a:ext cx="411480" cy="548640"/>
          </a:xfrm>
          <a:prstGeom prst="rect">
            <a:avLst/>
          </a:prstGeom>
          <a:noFill/>
        </p:spPr>
        <p:txBody>
          <a:bodyPr wrap="square" lIns="0" rIns="0" tIns="0" bIns="0" anchor="t">
            <a:spAutoFit/>
          </a:bodyPr>
          <a:lstStyle/>
          <a:p>
            <a:pPr algn="ctr"/>
            <a:r>
              <a:rPr sz="2600" b="1" i="0">
                <a:solidFill>
                  <a:srgbClr val="1B7F79"/>
                </a:solidFill>
                <a:latin typeface="Calibri"/>
              </a:rPr>
              <a:t>→</a:t>
            </a:r>
          </a:p>
        </p:txBody>
      </p:sp>
      <p:sp>
        <p:nvSpPr>
          <p:cNvPr id="19" name="Rounded Rectangle 18"/>
          <p:cNvSpPr/>
          <p:nvPr/>
        </p:nvSpPr>
        <p:spPr>
          <a:xfrm>
            <a:off x="9189720" y="1737360"/>
            <a:ext cx="2468880" cy="1920240"/>
          </a:xfrm>
          <a:prstGeom prst="roundRect">
            <a:avLst>
              <a:gd name="adj" fmla="val 6000"/>
            </a:avLst>
          </a:prstGeom>
          <a:solidFill>
            <a:srgbClr val="0B3C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18320" y="1874519"/>
            <a:ext cx="2011680" cy="822960"/>
          </a:xfrm>
          <a:prstGeom prst="rect">
            <a:avLst/>
          </a:prstGeom>
          <a:noFill/>
        </p:spPr>
        <p:txBody>
          <a:bodyPr wrap="square" lIns="0" rIns="0" tIns="0" bIns="0" anchor="t">
            <a:spAutoFit/>
          </a:bodyPr>
          <a:lstStyle/>
          <a:p>
            <a:pPr algn="l"/>
            <a:r>
              <a:rPr sz="4800" b="1" i="0">
                <a:solidFill>
                  <a:srgbClr val="E9A23B"/>
                </a:solidFill>
                <a:latin typeface="Cambria"/>
              </a:rPr>
              <a:t>79%</a:t>
            </a:r>
          </a:p>
        </p:txBody>
      </p:sp>
      <p:sp>
        <p:nvSpPr>
          <p:cNvPr id="21" name="TextBox 20"/>
          <p:cNvSpPr txBox="1"/>
          <p:nvPr/>
        </p:nvSpPr>
        <p:spPr>
          <a:xfrm>
            <a:off x="9418320" y="2697480"/>
            <a:ext cx="2011680" cy="822960"/>
          </a:xfrm>
          <a:prstGeom prst="rect">
            <a:avLst/>
          </a:prstGeom>
          <a:noFill/>
        </p:spPr>
        <p:txBody>
          <a:bodyPr wrap="square" lIns="0" rIns="0" tIns="0" bIns="0" anchor="t">
            <a:spAutoFit/>
          </a:bodyPr>
          <a:lstStyle/>
          <a:p>
            <a:pPr algn="l"/>
            <a:r>
              <a:rPr sz="1300" b="0" i="0">
                <a:solidFill>
                  <a:srgbClr val="FFFFFF"/>
                </a:solidFill>
                <a:latin typeface="Calibri"/>
              </a:rPr>
              <a:t>de este grupo abandona: casi 4 veces el promedio (20,4%)</a:t>
            </a:r>
          </a:p>
        </p:txBody>
      </p:sp>
      <p:sp>
        <p:nvSpPr>
          <p:cNvPr id="22" name="Rounded Rectangle 21"/>
          <p:cNvSpPr/>
          <p:nvPr/>
        </p:nvSpPr>
        <p:spPr>
          <a:xfrm>
            <a:off x="548640" y="4023360"/>
            <a:ext cx="3566160" cy="2240280"/>
          </a:xfrm>
          <a:prstGeom prst="roundRect">
            <a:avLst>
              <a:gd name="adj" fmla="val 6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59" y="4206240"/>
            <a:ext cx="3017520" cy="822960"/>
          </a:xfrm>
          <a:prstGeom prst="rect">
            <a:avLst/>
          </a:prstGeom>
          <a:noFill/>
        </p:spPr>
        <p:txBody>
          <a:bodyPr wrap="square" lIns="0" rIns="0" tIns="0" bIns="0" anchor="t">
            <a:spAutoFit/>
          </a:bodyPr>
          <a:lstStyle/>
          <a:p>
            <a:pPr algn="l"/>
            <a:r>
              <a:rPr sz="4000" b="1" i="0">
                <a:solidFill>
                  <a:srgbClr val="0B3C49"/>
                </a:solidFill>
                <a:latin typeface="Cambria"/>
              </a:rPr>
              <a:t>0,841</a:t>
            </a:r>
          </a:p>
        </p:txBody>
      </p:sp>
      <p:sp>
        <p:nvSpPr>
          <p:cNvPr id="24" name="TextBox 23"/>
          <p:cNvSpPr txBox="1"/>
          <p:nvPr/>
        </p:nvSpPr>
        <p:spPr>
          <a:xfrm>
            <a:off x="822959" y="5074920"/>
            <a:ext cx="3017520" cy="1005840"/>
          </a:xfrm>
          <a:prstGeom prst="rect">
            <a:avLst/>
          </a:prstGeom>
          <a:noFill/>
        </p:spPr>
        <p:txBody>
          <a:bodyPr wrap="square" lIns="0" rIns="0" tIns="0" bIns="0" anchor="t">
            <a:spAutoFit/>
          </a:bodyPr>
          <a:lstStyle/>
          <a:p>
            <a:pPr algn="l"/>
            <a:r>
              <a:rPr sz="1500" b="0" i="0">
                <a:solidFill>
                  <a:srgbClr val="1E293B"/>
                </a:solidFill>
                <a:latin typeface="Calibri"/>
              </a:rPr>
              <a:t>ROC-AUC en prueba, contra 0,850 de la logística y 0,862 del Random Forest</a:t>
            </a:r>
          </a:p>
        </p:txBody>
      </p:sp>
      <p:sp>
        <p:nvSpPr>
          <p:cNvPr id="25" name="Rounded Rectangle 24"/>
          <p:cNvSpPr/>
          <p:nvPr/>
        </p:nvSpPr>
        <p:spPr>
          <a:xfrm>
            <a:off x="4343400" y="4023360"/>
            <a:ext cx="3566160" cy="2240280"/>
          </a:xfrm>
          <a:prstGeom prst="roundRect">
            <a:avLst>
              <a:gd name="adj" fmla="val 6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17720" y="4206240"/>
            <a:ext cx="3017520" cy="822960"/>
          </a:xfrm>
          <a:prstGeom prst="rect">
            <a:avLst/>
          </a:prstGeom>
          <a:noFill/>
        </p:spPr>
        <p:txBody>
          <a:bodyPr wrap="square" lIns="0" rIns="0" tIns="0" bIns="0" anchor="t">
            <a:spAutoFit/>
          </a:bodyPr>
          <a:lstStyle/>
          <a:p>
            <a:pPr algn="l"/>
            <a:r>
              <a:rPr sz="4000" b="1" i="0">
                <a:solidFill>
                  <a:srgbClr val="0B3C49"/>
                </a:solidFill>
                <a:latin typeface="Cambria"/>
              </a:rPr>
              <a:t>283 · 244</a:t>
            </a:r>
          </a:p>
        </p:txBody>
      </p:sp>
      <p:sp>
        <p:nvSpPr>
          <p:cNvPr id="27" name="TextBox 26"/>
          <p:cNvSpPr txBox="1"/>
          <p:nvPr/>
        </p:nvSpPr>
        <p:spPr>
          <a:xfrm>
            <a:off x="4617720" y="5074920"/>
            <a:ext cx="3017520" cy="1005840"/>
          </a:xfrm>
          <a:prstGeom prst="rect">
            <a:avLst/>
          </a:prstGeom>
          <a:noFill/>
        </p:spPr>
        <p:txBody>
          <a:bodyPr wrap="square" lIns="0" rIns="0" tIns="0" bIns="0" anchor="t">
            <a:spAutoFit/>
          </a:bodyPr>
          <a:lstStyle/>
          <a:p>
            <a:pPr algn="l"/>
            <a:r>
              <a:rPr sz="1500" b="0" i="0">
                <a:solidFill>
                  <a:srgbClr val="1E293B"/>
                </a:solidFill>
                <a:latin typeface="Calibri"/>
              </a:rPr>
              <a:t>abandonos detectados y falsas alarmas (Random Forest: 289 y 236)</a:t>
            </a:r>
          </a:p>
        </p:txBody>
      </p:sp>
      <p:sp>
        <p:nvSpPr>
          <p:cNvPr id="28" name="Rounded Rectangle 27"/>
          <p:cNvSpPr/>
          <p:nvPr/>
        </p:nvSpPr>
        <p:spPr>
          <a:xfrm>
            <a:off x="8138160" y="4023360"/>
            <a:ext cx="3566160" cy="2240280"/>
          </a:xfrm>
          <a:prstGeom prst="roundRect">
            <a:avLst>
              <a:gd name="adj" fmla="val 6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412480" y="4206240"/>
            <a:ext cx="3017520" cy="822960"/>
          </a:xfrm>
          <a:prstGeom prst="rect">
            <a:avLst/>
          </a:prstGeom>
          <a:noFill/>
        </p:spPr>
        <p:txBody>
          <a:bodyPr wrap="square" lIns="0" rIns="0" tIns="0" bIns="0" anchor="t">
            <a:spAutoFit/>
          </a:bodyPr>
          <a:lstStyle/>
          <a:p>
            <a:pPr algn="l"/>
            <a:r>
              <a:rPr sz="4000" b="1" i="0">
                <a:solidFill>
                  <a:srgbClr val="0B3C49"/>
                </a:solidFill>
                <a:latin typeface="Cambria"/>
              </a:rPr>
              <a:t>5 de 5</a:t>
            </a:r>
          </a:p>
        </p:txBody>
      </p:sp>
      <p:sp>
        <p:nvSpPr>
          <p:cNvPr id="30" name="TextBox 29"/>
          <p:cNvSpPr txBox="1"/>
          <p:nvPr/>
        </p:nvSpPr>
        <p:spPr>
          <a:xfrm>
            <a:off x="8412480" y="5074920"/>
            <a:ext cx="3017520" cy="1005840"/>
          </a:xfrm>
          <a:prstGeom prst="rect">
            <a:avLst/>
          </a:prstGeom>
          <a:noFill/>
        </p:spPr>
        <p:txBody>
          <a:bodyPr wrap="square" lIns="0" rIns="0" tIns="0" bIns="0" anchor="t">
            <a:spAutoFit/>
          </a:bodyPr>
          <a:lstStyle/>
          <a:p>
            <a:pPr algn="l"/>
            <a:r>
              <a:rPr sz="1500" b="0" i="0">
                <a:solidFill>
                  <a:srgbClr val="1E293B"/>
                </a:solidFill>
                <a:latin typeface="Calibri"/>
              </a:rPr>
              <a:t>particiones en que el Random Forest le gana (+0,018 de ROC-AUC, p = 0,002)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57200"/>
            <a:ext cx="11064240" cy="640080"/>
          </a:xfrm>
          <a:prstGeom prst="rect">
            <a:avLst/>
          </a:prstGeom>
          <a:noFill/>
        </p:spPr>
        <p:txBody>
          <a:bodyPr wrap="square" lIns="0" rIns="0" tIns="0" bIns="0" anchor="t">
            <a:spAutoFit/>
          </a:bodyPr>
          <a:lstStyle/>
          <a:p>
            <a:pPr algn="l"/>
            <a:r>
              <a:rPr sz="3000" b="1" i="0">
                <a:solidFill>
                  <a:srgbClr val="0B3C49"/>
                </a:solidFill>
                <a:latin typeface="Cambria"/>
              </a:rPr>
              <a:t>La edad y los productos guían las predicciones</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600" b="0" i="0">
                <a:solidFill>
                  <a:srgbClr val="556578"/>
                </a:solidFill>
                <a:latin typeface="Calibri"/>
              </a:rPr>
              <a:t>Importancia de cada variable en el Random Forest final</a:t>
            </a:r>
          </a:p>
        </p:txBody>
      </p:sp>
      <p:graphicFrame>
        <p:nvGraphicFramePr>
          <p:cNvPr id="4" name="Chart 3"/>
          <p:cNvGraphicFramePr>
            <a:graphicFrameLocks noGrp="1"/>
          </p:cNvGraphicFramePr>
          <p:nvPr/>
        </p:nvGraphicFramePr>
        <p:xfrm>
          <a:off x="548640" y="1600200"/>
          <a:ext cx="6949440" cy="4846320"/>
        </p:xfrm>
        <a:graphic>
          <a:graphicData uri="http://schemas.openxmlformats.org/drawingml/2006/chart">
            <c:chart xmlns:c="http://schemas.openxmlformats.org/drawingml/2006/chart" r:id="rId2"/>
          </a:graphicData>
        </a:graphic>
      </p:graphicFrame>
      <p:sp>
        <p:nvSpPr>
          <p:cNvPr id="5" name="TextBox 4"/>
          <p:cNvSpPr txBox="1"/>
          <p:nvPr/>
        </p:nvSpPr>
        <p:spPr>
          <a:xfrm>
            <a:off x="7863840" y="1737360"/>
            <a:ext cx="3840480" cy="4572000"/>
          </a:xfrm>
          <a:prstGeom prst="rect">
            <a:avLst/>
          </a:prstGeom>
          <a:noFill/>
        </p:spPr>
        <p:txBody>
          <a:bodyPr wrap="square" lIns="0" rIns="0" tIns="0" bIns="0">
            <a:spAutoFit/>
          </a:bodyPr>
          <a:lstStyle/>
          <a:p>
            <a:pPr marL="228600" indent="-228600">
              <a:spcAft>
                <a:spcPts val="800"/>
              </a:spcAft>
              <a:buChar char="•"/>
            </a:pPr>
            <a:r>
              <a:rPr sz="1500" b="1">
                <a:solidFill>
                  <a:srgbClr val="1E293B"/>
                </a:solidFill>
                <a:latin typeface="Calibri"/>
              </a:rPr>
              <a:t>Edad: </a:t>
            </a:r>
            <a:r>
              <a:rPr sz="1500" b="0">
                <a:solidFill>
                  <a:srgbClr val="1E293B"/>
                </a:solidFill>
                <a:latin typeface="Calibri"/>
              </a:rPr>
              <a:t>el riesgo es máximo cerca de los 55 años; la variable creada para medirlo es la más usada.</a:t>
            </a:r>
          </a:p>
          <a:p>
            <a:pPr marL="228600" indent="-228600">
              <a:spcAft>
                <a:spcPts val="800"/>
              </a:spcAft>
              <a:buChar char="•"/>
            </a:pPr>
            <a:r>
              <a:rPr sz="1500" b="1">
                <a:solidFill>
                  <a:srgbClr val="1E293B"/>
                </a:solidFill>
                <a:latin typeface="Calibri"/>
              </a:rPr>
              <a:t>Productos: </a:t>
            </a:r>
            <a:r>
              <a:rPr sz="1500" b="0">
                <a:solidFill>
                  <a:srgbClr val="1E293B"/>
                </a:solidFill>
                <a:latin typeface="Calibri"/>
              </a:rPr>
              <a:t>con 2 productos el abandono cae a 7,6%; con 3, sube a 82,7%.</a:t>
            </a:r>
          </a:p>
          <a:p>
            <a:pPr marL="228600" indent="-228600">
              <a:spcAft>
                <a:spcPts val="800"/>
              </a:spcAft>
              <a:buChar char="•"/>
            </a:pPr>
            <a:r>
              <a:rPr sz="1500" b="1">
                <a:solidFill>
                  <a:srgbClr val="1E293B"/>
                </a:solidFill>
                <a:latin typeface="Calibri"/>
              </a:rPr>
              <a:t>Saldo, actividad y país </a:t>
            </a:r>
            <a:r>
              <a:rPr sz="1500" b="0">
                <a:solidFill>
                  <a:srgbClr val="1E293B"/>
                </a:solidFill>
                <a:latin typeface="Calibri"/>
              </a:rPr>
              <a:t>completan las señales detectadas en el EDA.</a:t>
            </a:r>
          </a:p>
          <a:p>
            <a:pPr marL="228600" indent="-228600">
              <a:spcAft>
                <a:spcPts val="800"/>
              </a:spcAft>
              <a:buChar char="•"/>
            </a:pPr>
            <a:r>
              <a:rPr sz="1500" b="1">
                <a:solidFill>
                  <a:srgbClr val="1E293B"/>
                </a:solidFill>
                <a:latin typeface="Calibri"/>
              </a:rPr>
              <a:t>Ojo (en gris): </a:t>
            </a:r>
            <a:r>
              <a:rPr sz="1500" b="0">
                <a:solidFill>
                  <a:srgbClr val="1E293B"/>
                </a:solidFill>
                <a:latin typeface="Calibri"/>
              </a:rPr>
              <a:t>esta medida favorece variables con muchos valores; salario y puntaje no cambian el abandono.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57200"/>
            <a:ext cx="11064240" cy="640080"/>
          </a:xfrm>
          <a:prstGeom prst="rect">
            <a:avLst/>
          </a:prstGeom>
          <a:noFill/>
        </p:spPr>
        <p:txBody>
          <a:bodyPr wrap="square" lIns="0" rIns="0" tIns="0" bIns="0" anchor="t">
            <a:spAutoFit/>
          </a:bodyPr>
          <a:lstStyle/>
          <a:p>
            <a:pPr algn="l"/>
            <a:r>
              <a:rPr sz="3000" b="1" i="0">
                <a:solidFill>
                  <a:srgbClr val="0B3C49"/>
                </a:solidFill>
                <a:latin typeface="Cambria"/>
              </a:rPr>
              <a:t>Regresión: el saldo se estima con un error alto</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600" b="0" i="0">
                <a:solidFill>
                  <a:srgbClr val="556578"/>
                </a:solidFill>
                <a:latin typeface="Calibri"/>
              </a:rPr>
              <a:t>Error absoluto medio (MAE) en 2.000 clientes de prueba · menor es mejor</a:t>
            </a:r>
          </a:p>
        </p:txBody>
      </p:sp>
      <p:graphicFrame>
        <p:nvGraphicFramePr>
          <p:cNvPr id="4" name="Chart 3"/>
          <p:cNvGraphicFramePr>
            <a:graphicFrameLocks noGrp="1"/>
          </p:cNvGraphicFramePr>
          <p:nvPr/>
        </p:nvGraphicFramePr>
        <p:xfrm>
          <a:off x="548640" y="1645920"/>
          <a:ext cx="6949440" cy="4663440"/>
        </p:xfrm>
        <a:graphic>
          <a:graphicData uri="http://schemas.openxmlformats.org/drawingml/2006/chart">
            <c:chart xmlns:c="http://schemas.openxmlformats.org/drawingml/2006/chart" r:id="rId2"/>
          </a:graphicData>
        </a:graphic>
      </p:graphicFrame>
      <p:sp>
        <p:nvSpPr>
          <p:cNvPr id="5" name="Rounded Rectangle 4"/>
          <p:cNvSpPr/>
          <p:nvPr/>
        </p:nvSpPr>
        <p:spPr>
          <a:xfrm>
            <a:off x="7863840" y="1737360"/>
            <a:ext cx="3749039" cy="2103120"/>
          </a:xfrm>
          <a:prstGeom prst="roundRect">
            <a:avLst>
              <a:gd name="adj" fmla="val 6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38160" y="1920240"/>
            <a:ext cx="3291840" cy="822960"/>
          </a:xfrm>
          <a:prstGeom prst="rect">
            <a:avLst/>
          </a:prstGeom>
          <a:noFill/>
        </p:spPr>
        <p:txBody>
          <a:bodyPr wrap="square" lIns="0" rIns="0" tIns="0" bIns="0" anchor="t">
            <a:spAutoFit/>
          </a:bodyPr>
          <a:lstStyle/>
          <a:p>
            <a:pPr algn="l"/>
            <a:r>
              <a:rPr sz="4400" b="1" i="0">
                <a:solidFill>
                  <a:srgbClr val="0B3C49"/>
                </a:solidFill>
                <a:latin typeface="Cambria"/>
              </a:rPr>
              <a:t>0,33</a:t>
            </a:r>
          </a:p>
        </p:txBody>
      </p:sp>
      <p:sp>
        <p:nvSpPr>
          <p:cNvPr id="7" name="TextBox 6"/>
          <p:cNvSpPr txBox="1"/>
          <p:nvPr/>
        </p:nvSpPr>
        <p:spPr>
          <a:xfrm>
            <a:off x="8138160" y="2788920"/>
            <a:ext cx="3291840" cy="914400"/>
          </a:xfrm>
          <a:prstGeom prst="rect">
            <a:avLst/>
          </a:prstGeom>
          <a:noFill/>
        </p:spPr>
        <p:txBody>
          <a:bodyPr wrap="square" lIns="0" rIns="0" tIns="0" bIns="0" anchor="t">
            <a:spAutoFit/>
          </a:bodyPr>
          <a:lstStyle/>
          <a:p>
            <a:pPr algn="l"/>
            <a:r>
              <a:rPr sz="1500" b="0" i="0">
                <a:solidFill>
                  <a:srgbClr val="1E293B"/>
                </a:solidFill>
                <a:latin typeface="Calibri"/>
              </a:rPr>
              <a:t>R² del Random Forest con países: explica un tercio de la variación del saldo</a:t>
            </a:r>
          </a:p>
        </p:txBody>
      </p:sp>
      <p:sp>
        <p:nvSpPr>
          <p:cNvPr id="8" name="Rounded Rectangle 7"/>
          <p:cNvSpPr/>
          <p:nvPr/>
        </p:nvSpPr>
        <p:spPr>
          <a:xfrm>
            <a:off x="7863840" y="4069079"/>
            <a:ext cx="3749039" cy="2103120"/>
          </a:xfrm>
          <a:prstGeom prst="roundRect">
            <a:avLst>
              <a:gd name="adj" fmla="val 6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38160" y="4251959"/>
            <a:ext cx="3291840" cy="822960"/>
          </a:xfrm>
          <a:prstGeom prst="rect">
            <a:avLst/>
          </a:prstGeom>
          <a:noFill/>
        </p:spPr>
        <p:txBody>
          <a:bodyPr wrap="square" lIns="0" rIns="0" tIns="0" bIns="0" anchor="t">
            <a:spAutoFit/>
          </a:bodyPr>
          <a:lstStyle/>
          <a:p>
            <a:pPr algn="l"/>
            <a:r>
              <a:rPr sz="4400" b="1" i="0">
                <a:solidFill>
                  <a:srgbClr val="0B3C49"/>
                </a:solidFill>
                <a:latin typeface="Cambria"/>
              </a:rPr>
              <a:t>-25%</a:t>
            </a:r>
          </a:p>
        </p:txBody>
      </p:sp>
      <p:sp>
        <p:nvSpPr>
          <p:cNvPr id="10" name="TextBox 9"/>
          <p:cNvSpPr txBox="1"/>
          <p:nvPr/>
        </p:nvSpPr>
        <p:spPr>
          <a:xfrm>
            <a:off x="8138160" y="5120640"/>
            <a:ext cx="3291840" cy="914400"/>
          </a:xfrm>
          <a:prstGeom prst="rect">
            <a:avLst/>
          </a:prstGeom>
          <a:noFill/>
        </p:spPr>
        <p:txBody>
          <a:bodyPr wrap="square" lIns="0" rIns="0" tIns="0" bIns="0" anchor="t">
            <a:spAutoFit/>
          </a:bodyPr>
          <a:lstStyle/>
          <a:p>
            <a:pPr algn="l"/>
            <a:r>
              <a:rPr sz="1500" b="0" i="0">
                <a:solidFill>
                  <a:srgbClr val="1E293B"/>
                </a:solidFill>
                <a:latin typeface="Calibri"/>
              </a:rPr>
              <a:t>de error frente a predecir siempre la mediana (solo -8% sin países)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57200"/>
            <a:ext cx="11064240" cy="640080"/>
          </a:xfrm>
          <a:prstGeom prst="rect">
            <a:avLst/>
          </a:prstGeom>
          <a:noFill/>
        </p:spPr>
        <p:txBody>
          <a:bodyPr wrap="square" lIns="0" rIns="0" tIns="0" bIns="0" anchor="t">
            <a:spAutoFit/>
          </a:bodyPr>
          <a:lstStyle/>
          <a:p>
            <a:pPr algn="l"/>
            <a:r>
              <a:rPr sz="3000" b="1" i="0">
                <a:solidFill>
                  <a:srgbClr val="0B3C49"/>
                </a:solidFill>
                <a:latin typeface="Cambria"/>
              </a:rPr>
              <a:t>Sin los países, el modelo pierde más de la mitad de su R²</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600" b="0" i="0">
                <a:solidFill>
                  <a:srgbClr val="556578"/>
                </a:solidFill>
                <a:latin typeface="Calibri"/>
              </a:rPr>
              <a:t>R² en validación cruzada (5 partes), con y sin la variable Geography</a:t>
            </a:r>
          </a:p>
        </p:txBody>
      </p:sp>
      <p:graphicFrame>
        <p:nvGraphicFramePr>
          <p:cNvPr id="4" name="Chart 3"/>
          <p:cNvGraphicFramePr>
            <a:graphicFrameLocks noGrp="1"/>
          </p:cNvGraphicFramePr>
          <p:nvPr/>
        </p:nvGraphicFramePr>
        <p:xfrm>
          <a:off x="548640" y="1645920"/>
          <a:ext cx="6217920" cy="4663440"/>
        </p:xfrm>
        <a:graphic>
          <a:graphicData uri="http://schemas.openxmlformats.org/drawingml/2006/chart">
            <c:chart xmlns:c="http://schemas.openxmlformats.org/drawingml/2006/chart" r:id="rId2"/>
          </a:graphicData>
        </a:graphic>
      </p:graphicFrame>
      <p:sp>
        <p:nvSpPr>
          <p:cNvPr id="5" name="Rounded Rectangle 4"/>
          <p:cNvSpPr/>
          <p:nvPr/>
        </p:nvSpPr>
        <p:spPr>
          <a:xfrm>
            <a:off x="7132320" y="1645920"/>
            <a:ext cx="4526280" cy="2148840"/>
          </a:xfrm>
          <a:prstGeom prst="roundRect">
            <a:avLst>
              <a:gd name="adj" fmla="val 6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06640" y="1828800"/>
            <a:ext cx="4023360" cy="365760"/>
          </a:xfrm>
          <a:prstGeom prst="rect">
            <a:avLst/>
          </a:prstGeom>
          <a:noFill/>
        </p:spPr>
        <p:txBody>
          <a:bodyPr wrap="square" lIns="0" rIns="0" tIns="0" bIns="0" anchor="t">
            <a:spAutoFit/>
          </a:bodyPr>
          <a:lstStyle/>
          <a:p>
            <a:pPr algn="l"/>
            <a:r>
              <a:rPr sz="1800" b="1" i="0">
                <a:solidFill>
                  <a:srgbClr val="0B3C49"/>
                </a:solidFill>
                <a:latin typeface="Calibri"/>
              </a:rPr>
              <a:t>¿Por qué?</a:t>
            </a:r>
          </a:p>
        </p:txBody>
      </p:sp>
      <p:sp>
        <p:nvSpPr>
          <p:cNvPr id="7" name="TextBox 6"/>
          <p:cNvSpPr txBox="1"/>
          <p:nvPr/>
        </p:nvSpPr>
        <p:spPr>
          <a:xfrm>
            <a:off x="7406640" y="2240280"/>
            <a:ext cx="4023360" cy="1463040"/>
          </a:xfrm>
          <a:prstGeom prst="rect">
            <a:avLst/>
          </a:prstGeom>
          <a:noFill/>
        </p:spPr>
        <p:txBody>
          <a:bodyPr wrap="square" lIns="0" rIns="0" tIns="0" bIns="0" anchor="t">
            <a:spAutoFit/>
          </a:bodyPr>
          <a:lstStyle/>
          <a:p>
            <a:pPr algn="l"/>
            <a:r>
              <a:rPr sz="1500" b="0" i="0">
                <a:solidFill>
                  <a:srgbClr val="1E293B"/>
                </a:solidFill>
                <a:latin typeface="Calibri"/>
              </a:rPr>
              <a:t>Ningún cliente de Alemania tiene saldo 0, contra ~48% en Francia y España. Probablemente se debe a cómo se armó la muestra, no a los clientes.</a:t>
            </a:r>
          </a:p>
        </p:txBody>
      </p:sp>
      <p:sp>
        <p:nvSpPr>
          <p:cNvPr id="8" name="Rounded Rectangle 7"/>
          <p:cNvSpPr/>
          <p:nvPr/>
        </p:nvSpPr>
        <p:spPr>
          <a:xfrm>
            <a:off x="7132320" y="4023360"/>
            <a:ext cx="4526280" cy="2286000"/>
          </a:xfrm>
          <a:prstGeom prst="roundRect">
            <a:avLst>
              <a:gd name="adj" fmla="val 6000"/>
            </a:avLst>
          </a:prstGeom>
          <a:solidFill>
            <a:srgbClr val="0B3C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0" y="4206240"/>
            <a:ext cx="4023360" cy="822960"/>
          </a:xfrm>
          <a:prstGeom prst="rect">
            <a:avLst/>
          </a:prstGeom>
          <a:noFill/>
        </p:spPr>
        <p:txBody>
          <a:bodyPr wrap="square" lIns="0" rIns="0" tIns="0" bIns="0" anchor="t">
            <a:spAutoFit/>
          </a:bodyPr>
          <a:lstStyle/>
          <a:p>
            <a:pPr algn="l"/>
            <a:r>
              <a:rPr sz="4000" b="1" i="0">
                <a:solidFill>
                  <a:srgbClr val="E9A23B"/>
                </a:solidFill>
                <a:latin typeface="Cambria"/>
              </a:rPr>
              <a:t>13% – 21%</a:t>
            </a:r>
          </a:p>
        </p:txBody>
      </p:sp>
      <p:sp>
        <p:nvSpPr>
          <p:cNvPr id="10" name="TextBox 9"/>
          <p:cNvSpPr txBox="1"/>
          <p:nvPr/>
        </p:nvSpPr>
        <p:spPr>
          <a:xfrm>
            <a:off x="7406640" y="5029200"/>
            <a:ext cx="4023360" cy="1097280"/>
          </a:xfrm>
          <a:prstGeom prst="rect">
            <a:avLst/>
          </a:prstGeom>
          <a:noFill/>
        </p:spPr>
        <p:txBody>
          <a:bodyPr wrap="square" lIns="0" rIns="0" tIns="0" bIns="0" anchor="t">
            <a:spAutoFit/>
          </a:bodyPr>
          <a:lstStyle/>
          <a:p>
            <a:pPr algn="l"/>
            <a:r>
              <a:rPr sz="1500" b="0" i="0">
                <a:solidFill>
                  <a:srgbClr val="FFFFFF"/>
                </a:solidFill>
                <a:latin typeface="Calibri"/>
              </a:rPr>
              <a:t>del saldo explica el modelo con clientes reales: la estimación honesta, sin depender del país.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57200"/>
            <a:ext cx="11064240" cy="640080"/>
          </a:xfrm>
          <a:prstGeom prst="rect">
            <a:avLst/>
          </a:prstGeom>
          <a:noFill/>
        </p:spPr>
        <p:txBody>
          <a:bodyPr wrap="square" lIns="0" rIns="0" tIns="0" bIns="0" anchor="t">
            <a:spAutoFit/>
          </a:bodyPr>
          <a:lstStyle/>
          <a:p>
            <a:pPr algn="l"/>
            <a:r>
              <a:rPr sz="3000" b="1" i="0">
                <a:solidFill>
                  <a:srgbClr val="0B3C49"/>
                </a:solidFill>
                <a:latin typeface="Cambria"/>
              </a:rPr>
              <a:t>El modelo no estima montos, solo si hay saldo</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600" b="0" i="0">
                <a:solidFill>
                  <a:srgbClr val="556578"/>
                </a:solidFill>
                <a:latin typeface="Calibri"/>
              </a:rPr>
              <a:t>Random Forest evaluado por separado en clientes con saldo 0 y con saldo</a:t>
            </a:r>
          </a:p>
        </p:txBody>
      </p:sp>
      <p:sp>
        <p:nvSpPr>
          <p:cNvPr id="4" name="Rounded Rectangle 3"/>
          <p:cNvSpPr/>
          <p:nvPr/>
        </p:nvSpPr>
        <p:spPr>
          <a:xfrm>
            <a:off x="548640" y="1691640"/>
            <a:ext cx="3566160" cy="2377440"/>
          </a:xfrm>
          <a:prstGeom prst="roundRect">
            <a:avLst>
              <a:gd name="adj" fmla="val 6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874519"/>
            <a:ext cx="3017520" cy="914400"/>
          </a:xfrm>
          <a:prstGeom prst="rect">
            <a:avLst/>
          </a:prstGeom>
          <a:noFill/>
        </p:spPr>
        <p:txBody>
          <a:bodyPr wrap="square" lIns="0" rIns="0" tIns="0" bIns="0" anchor="t">
            <a:spAutoFit/>
          </a:bodyPr>
          <a:lstStyle/>
          <a:p>
            <a:pPr algn="l"/>
            <a:r>
              <a:rPr sz="5400" b="1" i="0">
                <a:solidFill>
                  <a:srgbClr val="0B3C49"/>
                </a:solidFill>
                <a:latin typeface="Cambria"/>
              </a:rPr>
              <a:t>0,57</a:t>
            </a:r>
          </a:p>
        </p:txBody>
      </p:sp>
      <p:sp>
        <p:nvSpPr>
          <p:cNvPr id="6" name="TextBox 5"/>
          <p:cNvSpPr txBox="1"/>
          <p:nvPr/>
        </p:nvSpPr>
        <p:spPr>
          <a:xfrm>
            <a:off x="822959" y="2880360"/>
            <a:ext cx="3017520" cy="1097280"/>
          </a:xfrm>
          <a:prstGeom prst="rect">
            <a:avLst/>
          </a:prstGeom>
          <a:noFill/>
        </p:spPr>
        <p:txBody>
          <a:bodyPr wrap="square" lIns="0" rIns="0" tIns="0" bIns="0" anchor="t">
            <a:spAutoFit/>
          </a:bodyPr>
          <a:lstStyle/>
          <a:p>
            <a:pPr algn="l"/>
            <a:r>
              <a:rPr sz="1500" b="0" i="0">
                <a:solidFill>
                  <a:srgbClr val="1E293B"/>
                </a:solidFill>
                <a:latin typeface="Calibri"/>
              </a:rPr>
              <a:t>correlación entre predicción y saldo real, con todos los clientes</a:t>
            </a:r>
          </a:p>
        </p:txBody>
      </p:sp>
      <p:sp>
        <p:nvSpPr>
          <p:cNvPr id="7" name="Rounded Rectangle 6"/>
          <p:cNvSpPr/>
          <p:nvPr/>
        </p:nvSpPr>
        <p:spPr>
          <a:xfrm>
            <a:off x="4343400" y="1691640"/>
            <a:ext cx="3566160" cy="2377440"/>
          </a:xfrm>
          <a:prstGeom prst="roundRect">
            <a:avLst>
              <a:gd name="adj" fmla="val 6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17720" y="1874519"/>
            <a:ext cx="3017520" cy="914400"/>
          </a:xfrm>
          <a:prstGeom prst="rect">
            <a:avLst/>
          </a:prstGeom>
          <a:noFill/>
        </p:spPr>
        <p:txBody>
          <a:bodyPr wrap="square" lIns="0" rIns="0" tIns="0" bIns="0" anchor="t">
            <a:spAutoFit/>
          </a:bodyPr>
          <a:lstStyle/>
          <a:p>
            <a:pPr algn="l"/>
            <a:r>
              <a:rPr sz="5400" b="1" i="0">
                <a:solidFill>
                  <a:srgbClr val="E9A23B"/>
                </a:solidFill>
                <a:latin typeface="Cambria"/>
              </a:rPr>
              <a:t>-0,02</a:t>
            </a:r>
          </a:p>
        </p:txBody>
      </p:sp>
      <p:sp>
        <p:nvSpPr>
          <p:cNvPr id="9" name="TextBox 8"/>
          <p:cNvSpPr txBox="1"/>
          <p:nvPr/>
        </p:nvSpPr>
        <p:spPr>
          <a:xfrm>
            <a:off x="4617720" y="2880360"/>
            <a:ext cx="3017520" cy="1097280"/>
          </a:xfrm>
          <a:prstGeom prst="rect">
            <a:avLst/>
          </a:prstGeom>
          <a:noFill/>
        </p:spPr>
        <p:txBody>
          <a:bodyPr wrap="square" lIns="0" rIns="0" tIns="0" bIns="0" anchor="t">
            <a:spAutoFit/>
          </a:bodyPr>
          <a:lstStyle/>
          <a:p>
            <a:pPr algn="l"/>
            <a:r>
              <a:rPr sz="1500" b="0" i="0">
                <a:solidFill>
                  <a:srgbClr val="1E293B"/>
                </a:solidFill>
                <a:latin typeface="Calibri"/>
              </a:rPr>
              <a:t>correlación solo entre clientes que tienen saldo: no capta el monto</a:t>
            </a:r>
          </a:p>
        </p:txBody>
      </p:sp>
      <p:sp>
        <p:nvSpPr>
          <p:cNvPr id="10" name="TextBox 9"/>
          <p:cNvSpPr txBox="1"/>
          <p:nvPr/>
        </p:nvSpPr>
        <p:spPr>
          <a:xfrm>
            <a:off x="548640" y="4343400"/>
            <a:ext cx="2743200" cy="731520"/>
          </a:xfrm>
          <a:prstGeom prst="rect">
            <a:avLst/>
          </a:prstGeom>
          <a:noFill/>
        </p:spPr>
        <p:txBody>
          <a:bodyPr wrap="square" lIns="0" rIns="0" tIns="0" bIns="0" anchor="ctr">
            <a:spAutoFit/>
          </a:bodyPr>
          <a:lstStyle/>
          <a:p>
            <a:pPr algn="l"/>
            <a:r>
              <a:rPr sz="1500" b="1" i="0">
                <a:solidFill>
                  <a:srgbClr val="0B3C49"/>
                </a:solidFill>
                <a:latin typeface="Calibri"/>
              </a:rPr>
              <a:t>Clientes con saldo 0</a:t>
            </a:r>
          </a:p>
        </p:txBody>
      </p:sp>
      <p:sp>
        <p:nvSpPr>
          <p:cNvPr id="11" name="TextBox 10"/>
          <p:cNvSpPr txBox="1"/>
          <p:nvPr/>
        </p:nvSpPr>
        <p:spPr>
          <a:xfrm>
            <a:off x="3383280" y="4343400"/>
            <a:ext cx="2011680" cy="731520"/>
          </a:xfrm>
          <a:prstGeom prst="rect">
            <a:avLst/>
          </a:prstGeom>
          <a:noFill/>
        </p:spPr>
        <p:txBody>
          <a:bodyPr wrap="square" lIns="0" rIns="0" tIns="0" bIns="0" anchor="ctr">
            <a:spAutoFit/>
          </a:bodyPr>
          <a:lstStyle/>
          <a:p>
            <a:pPr algn="l"/>
            <a:r>
              <a:rPr sz="1800" b="0" i="0">
                <a:solidFill>
                  <a:srgbClr val="1E293B"/>
                </a:solidFill>
                <a:latin typeface="Calibri"/>
              </a:rPr>
              <a:t>Real: </a:t>
            </a:r>
            <a:r>
              <a:rPr sz="1800" b="1" i="0">
                <a:solidFill>
                  <a:srgbClr val="1E293B"/>
                </a:solidFill>
                <a:latin typeface="Calibri"/>
              </a:rPr>
              <a:t>0</a:t>
            </a:r>
          </a:p>
        </p:txBody>
      </p:sp>
      <p:sp>
        <p:nvSpPr>
          <p:cNvPr id="12" name="TextBox 11"/>
          <p:cNvSpPr txBox="1"/>
          <p:nvPr/>
        </p:nvSpPr>
        <p:spPr>
          <a:xfrm>
            <a:off x="5394960" y="4343400"/>
            <a:ext cx="2377440" cy="731520"/>
          </a:xfrm>
          <a:prstGeom prst="rect">
            <a:avLst/>
          </a:prstGeom>
          <a:noFill/>
        </p:spPr>
        <p:txBody>
          <a:bodyPr wrap="square" lIns="0" rIns="0" tIns="0" bIns="0" anchor="ctr">
            <a:spAutoFit/>
          </a:bodyPr>
          <a:lstStyle/>
          <a:p>
            <a:pPr algn="l"/>
            <a:r>
              <a:rPr sz="1800" b="0" i="0">
                <a:solidFill>
                  <a:srgbClr val="1B7F79"/>
                </a:solidFill>
                <a:latin typeface="Calibri"/>
              </a:rPr>
              <a:t>Predicho: </a:t>
            </a:r>
            <a:r>
              <a:rPr sz="1800" b="1" i="0">
                <a:solidFill>
                  <a:srgbClr val="1B7F79"/>
                </a:solidFill>
                <a:latin typeface="Calibri"/>
              </a:rPr>
              <a:t>46.900</a:t>
            </a:r>
          </a:p>
        </p:txBody>
      </p:sp>
      <p:sp>
        <p:nvSpPr>
          <p:cNvPr id="13" name="TextBox 12"/>
          <p:cNvSpPr txBox="1"/>
          <p:nvPr/>
        </p:nvSpPr>
        <p:spPr>
          <a:xfrm>
            <a:off x="548640" y="5303520"/>
            <a:ext cx="2743200" cy="731520"/>
          </a:xfrm>
          <a:prstGeom prst="rect">
            <a:avLst/>
          </a:prstGeom>
          <a:noFill/>
        </p:spPr>
        <p:txBody>
          <a:bodyPr wrap="square" lIns="0" rIns="0" tIns="0" bIns="0" anchor="ctr">
            <a:spAutoFit/>
          </a:bodyPr>
          <a:lstStyle/>
          <a:p>
            <a:pPr algn="l"/>
            <a:r>
              <a:rPr sz="1500" b="1" i="0">
                <a:solidFill>
                  <a:srgbClr val="0B3C49"/>
                </a:solidFill>
                <a:latin typeface="Calibri"/>
              </a:rPr>
              <a:t>Clientes con saldo</a:t>
            </a:r>
          </a:p>
        </p:txBody>
      </p:sp>
      <p:sp>
        <p:nvSpPr>
          <p:cNvPr id="14" name="TextBox 13"/>
          <p:cNvSpPr txBox="1"/>
          <p:nvPr/>
        </p:nvSpPr>
        <p:spPr>
          <a:xfrm>
            <a:off x="3383280" y="5303520"/>
            <a:ext cx="2011680" cy="731520"/>
          </a:xfrm>
          <a:prstGeom prst="rect">
            <a:avLst/>
          </a:prstGeom>
          <a:noFill/>
        </p:spPr>
        <p:txBody>
          <a:bodyPr wrap="square" lIns="0" rIns="0" tIns="0" bIns="0" anchor="ctr">
            <a:spAutoFit/>
          </a:bodyPr>
          <a:lstStyle/>
          <a:p>
            <a:pPr algn="l"/>
            <a:r>
              <a:rPr sz="1800" b="0" i="0">
                <a:solidFill>
                  <a:srgbClr val="1E293B"/>
                </a:solidFill>
                <a:latin typeface="Calibri"/>
              </a:rPr>
              <a:t>Real: </a:t>
            </a:r>
            <a:r>
              <a:rPr sz="1800" b="1" i="0">
                <a:solidFill>
                  <a:srgbClr val="1E293B"/>
                </a:solidFill>
                <a:latin typeface="Calibri"/>
              </a:rPr>
              <a:t>120.700</a:t>
            </a:r>
          </a:p>
        </p:txBody>
      </p:sp>
      <p:sp>
        <p:nvSpPr>
          <p:cNvPr id="15" name="TextBox 14"/>
          <p:cNvSpPr txBox="1"/>
          <p:nvPr/>
        </p:nvSpPr>
        <p:spPr>
          <a:xfrm>
            <a:off x="5394960" y="5303520"/>
            <a:ext cx="2377440" cy="731520"/>
          </a:xfrm>
          <a:prstGeom prst="rect">
            <a:avLst/>
          </a:prstGeom>
          <a:noFill/>
        </p:spPr>
        <p:txBody>
          <a:bodyPr wrap="square" lIns="0" rIns="0" tIns="0" bIns="0" anchor="ctr">
            <a:spAutoFit/>
          </a:bodyPr>
          <a:lstStyle/>
          <a:p>
            <a:pPr algn="l"/>
            <a:r>
              <a:rPr sz="1800" b="0" i="0">
                <a:solidFill>
                  <a:srgbClr val="1B7F79"/>
                </a:solidFill>
                <a:latin typeface="Calibri"/>
              </a:rPr>
              <a:t>Predicho: </a:t>
            </a:r>
            <a:r>
              <a:rPr sz="1800" b="1" i="0">
                <a:solidFill>
                  <a:srgbClr val="1B7F79"/>
                </a:solidFill>
                <a:latin typeface="Calibri"/>
              </a:rPr>
              <a:t>93.300</a:t>
            </a:r>
          </a:p>
        </p:txBody>
      </p:sp>
      <p:sp>
        <p:nvSpPr>
          <p:cNvPr id="16" name="Rounded Rectangle 15"/>
          <p:cNvSpPr/>
          <p:nvPr/>
        </p:nvSpPr>
        <p:spPr>
          <a:xfrm>
            <a:off x="8229600" y="1691640"/>
            <a:ext cx="3429000" cy="4572000"/>
          </a:xfrm>
          <a:prstGeom prst="roundRect">
            <a:avLst>
              <a:gd name="adj" fmla="val 6000"/>
            </a:avLst>
          </a:prstGeom>
          <a:solidFill>
            <a:srgbClr val="0B3C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03920" y="1920240"/>
            <a:ext cx="2926080" cy="365760"/>
          </a:xfrm>
          <a:prstGeom prst="rect">
            <a:avLst/>
          </a:prstGeom>
          <a:noFill/>
        </p:spPr>
        <p:txBody>
          <a:bodyPr wrap="square" lIns="0" rIns="0" tIns="0" bIns="0" anchor="t">
            <a:spAutoFit/>
          </a:bodyPr>
          <a:lstStyle/>
          <a:p>
            <a:pPr algn="l"/>
            <a:r>
              <a:rPr sz="1500" b="1" i="0">
                <a:solidFill>
                  <a:srgbClr val="E9A23B"/>
                </a:solidFill>
                <a:latin typeface="Calibri"/>
              </a:rPr>
              <a:t>Conclusión</a:t>
            </a:r>
          </a:p>
        </p:txBody>
      </p:sp>
      <p:sp>
        <p:nvSpPr>
          <p:cNvPr id="18" name="TextBox 17"/>
          <p:cNvSpPr txBox="1"/>
          <p:nvPr/>
        </p:nvSpPr>
        <p:spPr>
          <a:xfrm>
            <a:off x="8503920" y="2331720"/>
            <a:ext cx="2926080" cy="1554480"/>
          </a:xfrm>
          <a:prstGeom prst="rect">
            <a:avLst/>
          </a:prstGeom>
          <a:noFill/>
        </p:spPr>
        <p:txBody>
          <a:bodyPr wrap="square" lIns="0" rIns="0" tIns="0" bIns="0" anchor="t">
            <a:spAutoFit/>
          </a:bodyPr>
          <a:lstStyle/>
          <a:p>
            <a:pPr algn="l"/>
            <a:r>
              <a:rPr sz="2000" b="1" i="0">
                <a:solidFill>
                  <a:srgbClr val="FFFFFF"/>
                </a:solidFill>
                <a:latin typeface="Cambria"/>
              </a:rPr>
              <a:t>Proyectar el volumen de fondos de cada cliente no es posible con estas variables.</a:t>
            </a:r>
          </a:p>
        </p:txBody>
      </p:sp>
      <p:sp>
        <p:nvSpPr>
          <p:cNvPr id="19" name="TextBox 18"/>
          <p:cNvSpPr txBox="1"/>
          <p:nvPr/>
        </p:nvSpPr>
        <p:spPr>
          <a:xfrm>
            <a:off x="8503920" y="4069080"/>
            <a:ext cx="2926080" cy="1463040"/>
          </a:xfrm>
          <a:prstGeom prst="rect">
            <a:avLst/>
          </a:prstGeom>
          <a:noFill/>
        </p:spPr>
        <p:txBody>
          <a:bodyPr wrap="square" lIns="0" rIns="0" tIns="0" bIns="0" anchor="t">
            <a:spAutoFit/>
          </a:bodyPr>
          <a:lstStyle/>
          <a:p>
            <a:pPr algn="l"/>
            <a:r>
              <a:rPr sz="1500" b="0" i="0">
                <a:solidFill>
                  <a:srgbClr val="CBE4E2"/>
                </a:solidFill>
                <a:latin typeface="Calibri"/>
              </a:rPr>
              <a:t>El modelo sí sirve para estimar qué clientes probablemente tienen fondos y cuáles no.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57200"/>
            <a:ext cx="11064240" cy="640080"/>
          </a:xfrm>
          <a:prstGeom prst="rect">
            <a:avLst/>
          </a:prstGeom>
          <a:noFill/>
        </p:spPr>
        <p:txBody>
          <a:bodyPr wrap="square" lIns="0" rIns="0" tIns="0" bIns="0" anchor="t">
            <a:spAutoFit/>
          </a:bodyPr>
          <a:lstStyle/>
          <a:p>
            <a:pPr algn="l"/>
            <a:r>
              <a:rPr sz="3000" b="1" i="0">
                <a:solidFill>
                  <a:srgbClr val="0B3C49"/>
                </a:solidFill>
                <a:latin typeface="Cambria"/>
              </a:rPr>
              <a:t>Clustering: KneeLocator detecta el codo en K = 4</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600" b="0" i="0">
                <a:solidFill>
                  <a:srgbClr val="556578"/>
                </a:solidFill>
                <a:latin typeface="Calibri"/>
              </a:rPr>
              <a:t>K-Means sobre 6 variables del perfil comercial, escaladas con StandardScaler</a:t>
            </a:r>
          </a:p>
        </p:txBody>
      </p:sp>
      <p:graphicFrame>
        <p:nvGraphicFramePr>
          <p:cNvPr id="4" name="Chart 3"/>
          <p:cNvGraphicFramePr>
            <a:graphicFrameLocks noGrp="1"/>
          </p:cNvGraphicFramePr>
          <p:nvPr/>
        </p:nvGraphicFramePr>
        <p:xfrm>
          <a:off x="548640" y="1645920"/>
          <a:ext cx="6949440" cy="4663440"/>
        </p:xfrm>
        <a:graphic>
          <a:graphicData uri="http://schemas.openxmlformats.org/drawingml/2006/chart">
            <c:chart xmlns:c="http://schemas.openxmlformats.org/drawingml/2006/chart" r:id="rId2"/>
          </a:graphicData>
        </a:graphic>
      </p:graphicFrame>
      <p:sp>
        <p:nvSpPr>
          <p:cNvPr id="5" name="TextBox 4"/>
          <p:cNvSpPr txBox="1"/>
          <p:nvPr/>
        </p:nvSpPr>
        <p:spPr>
          <a:xfrm>
            <a:off x="7863840" y="1737360"/>
            <a:ext cx="3840480" cy="4572000"/>
          </a:xfrm>
          <a:prstGeom prst="rect">
            <a:avLst/>
          </a:prstGeom>
          <a:noFill/>
        </p:spPr>
        <p:txBody>
          <a:bodyPr wrap="square" lIns="0" rIns="0" tIns="0" bIns="0">
            <a:spAutoFit/>
          </a:bodyPr>
          <a:lstStyle/>
          <a:p>
            <a:pPr marL="228600" indent="-228600">
              <a:spcAft>
                <a:spcPts val="800"/>
              </a:spcAft>
              <a:buChar char="•"/>
            </a:pPr>
            <a:r>
              <a:rPr sz="1500" b="1">
                <a:solidFill>
                  <a:srgbClr val="1E293B"/>
                </a:solidFill>
                <a:latin typeface="Calibri"/>
              </a:rPr>
              <a:t>KneeLocator: </a:t>
            </a:r>
            <a:r>
              <a:rPr sz="1500" b="0">
                <a:solidFill>
                  <a:srgbClr val="1E293B"/>
                </a:solidFill>
                <a:latin typeface="Calibri"/>
              </a:rPr>
              <a:t>detecta el codo en K = 4, aunque es suave: la inercia baja de forma gradual.</a:t>
            </a:r>
          </a:p>
          <a:p>
            <a:pPr marL="228600" indent="-228600">
              <a:spcAft>
                <a:spcPts val="800"/>
              </a:spcAft>
              <a:buChar char="•"/>
            </a:pPr>
            <a:r>
              <a:rPr sz="1500" b="1">
                <a:solidFill>
                  <a:srgbClr val="1E293B"/>
                </a:solidFill>
                <a:latin typeface="Calibri"/>
              </a:rPr>
              <a:t>Silhouette: </a:t>
            </a:r>
            <a:r>
              <a:rPr sz="1500" b="0">
                <a:solidFill>
                  <a:srgbClr val="1E293B"/>
                </a:solidFill>
                <a:latin typeface="Calibri"/>
              </a:rPr>
              <a:t>K = 4 tiene el mayor valor entre K = 3 y K = 10 (0,170).</a:t>
            </a:r>
          </a:p>
          <a:p>
            <a:pPr marL="228600" indent="-228600">
              <a:spcAft>
                <a:spcPts val="800"/>
              </a:spcAft>
              <a:buChar char="•"/>
            </a:pPr>
            <a:r>
              <a:rPr sz="1500" b="1">
                <a:solidFill>
                  <a:srgbClr val="1E293B"/>
                </a:solidFill>
                <a:latin typeface="Calibri"/>
              </a:rPr>
              <a:t>Utilidad: </a:t>
            </a:r>
            <a:r>
              <a:rPr sz="1500" b="0">
                <a:solidFill>
                  <a:srgbClr val="1E293B"/>
                </a:solidFill>
                <a:latin typeface="Calibri"/>
              </a:rPr>
              <a:t>K = 4 es el primero que separa a un grupo de clientes mayores.</a:t>
            </a:r>
          </a:p>
          <a:p>
            <a:pPr marL="228600" indent="-228600">
              <a:spcAft>
                <a:spcPts val="800"/>
              </a:spcAft>
              <a:buChar char="•"/>
            </a:pPr>
            <a:r>
              <a:rPr sz="1500" b="1">
                <a:solidFill>
                  <a:srgbClr val="1E293B"/>
                </a:solidFill>
                <a:latin typeface="Calibri"/>
              </a:rPr>
              <a:t>Silhouette bajo (&lt; 0,2): </a:t>
            </a:r>
            <a:r>
              <a:rPr sz="1500" b="0">
                <a:solidFill>
                  <a:srgbClr val="1E293B"/>
                </a:solidFill>
                <a:latin typeface="Calibri"/>
              </a:rPr>
              <a:t>los clientes forman un continuo, no grupos naturales muy separados.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57200"/>
            <a:ext cx="11064240" cy="640080"/>
          </a:xfrm>
          <a:prstGeom prst="rect">
            <a:avLst/>
          </a:prstGeom>
          <a:noFill/>
        </p:spPr>
        <p:txBody>
          <a:bodyPr wrap="square" lIns="0" rIns="0" tIns="0" bIns="0" anchor="t">
            <a:spAutoFit/>
          </a:bodyPr>
          <a:lstStyle/>
          <a:p>
            <a:pPr algn="l"/>
            <a:r>
              <a:rPr sz="3000" b="1" i="0">
                <a:solidFill>
                  <a:srgbClr val="0B3C49"/>
                </a:solidFill>
                <a:latin typeface="Cambria"/>
              </a:rPr>
              <a:t>Cuatro segmentos de clientes</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600" b="0" i="0">
                <a:solidFill>
                  <a:srgbClr val="556578"/>
                </a:solidFill>
                <a:latin typeface="Calibri"/>
              </a:rPr>
              <a:t>Promedios de cada clúster · el abandono no se usó para agrupar</a:t>
            </a:r>
          </a:p>
        </p:txBody>
      </p:sp>
      <p:sp>
        <p:nvSpPr>
          <p:cNvPr id="4" name="Rounded Rectangle 3"/>
          <p:cNvSpPr/>
          <p:nvPr/>
        </p:nvSpPr>
        <p:spPr>
          <a:xfrm>
            <a:off x="548640" y="1691640"/>
            <a:ext cx="2606040" cy="4572000"/>
          </a:xfrm>
          <a:prstGeom prst="roundRect">
            <a:avLst>
              <a:gd name="adj" fmla="val 6000"/>
            </a:avLst>
          </a:prstGeom>
          <a:solidFill>
            <a:srgbClr val="0B3C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874519"/>
            <a:ext cx="2194560" cy="685800"/>
          </a:xfrm>
          <a:prstGeom prst="rect">
            <a:avLst/>
          </a:prstGeom>
          <a:noFill/>
        </p:spPr>
        <p:txBody>
          <a:bodyPr wrap="square" lIns="0" rIns="0" tIns="0" bIns="0" anchor="t">
            <a:spAutoFit/>
          </a:bodyPr>
          <a:lstStyle/>
          <a:p>
            <a:pPr algn="l"/>
            <a:r>
              <a:rPr sz="1800" b="1" i="0">
                <a:solidFill>
                  <a:srgbClr val="E9A23B"/>
                </a:solidFill>
                <a:latin typeface="Cambria"/>
              </a:rPr>
              <a:t>Senior</a:t>
            </a:r>
          </a:p>
        </p:txBody>
      </p:sp>
      <p:sp>
        <p:nvSpPr>
          <p:cNvPr id="6" name="TextBox 5"/>
          <p:cNvSpPr txBox="1"/>
          <p:nvPr/>
        </p:nvSpPr>
        <p:spPr>
          <a:xfrm>
            <a:off x="777240" y="2560320"/>
            <a:ext cx="2194560" cy="457200"/>
          </a:xfrm>
          <a:prstGeom prst="rect">
            <a:avLst/>
          </a:prstGeom>
          <a:noFill/>
        </p:spPr>
        <p:txBody>
          <a:bodyPr wrap="square" lIns="0" rIns="0" tIns="0" bIns="0" anchor="t">
            <a:spAutoFit/>
          </a:bodyPr>
          <a:lstStyle/>
          <a:p>
            <a:pPr algn="l"/>
            <a:r>
              <a:rPr sz="1200" b="0" i="0">
                <a:solidFill>
                  <a:srgbClr val="CBE4E2"/>
                </a:solidFill>
                <a:latin typeface="Calibri"/>
              </a:rPr>
              <a:t>Mayores, saldo medio</a:t>
            </a:r>
          </a:p>
        </p:txBody>
      </p:sp>
      <p:sp>
        <p:nvSpPr>
          <p:cNvPr id="7" name="TextBox 6"/>
          <p:cNvSpPr txBox="1"/>
          <p:nvPr/>
        </p:nvSpPr>
        <p:spPr>
          <a:xfrm>
            <a:off x="777240" y="3017520"/>
            <a:ext cx="2194560" cy="731520"/>
          </a:xfrm>
          <a:prstGeom prst="rect">
            <a:avLst/>
          </a:prstGeom>
          <a:noFill/>
        </p:spPr>
        <p:txBody>
          <a:bodyPr wrap="square" lIns="0" rIns="0" tIns="0" bIns="0" anchor="t">
            <a:spAutoFit/>
          </a:bodyPr>
          <a:lstStyle/>
          <a:p>
            <a:pPr algn="l"/>
            <a:r>
              <a:rPr sz="3800" b="1" i="0">
                <a:solidFill>
                  <a:srgbClr val="E9A23B"/>
                </a:solidFill>
                <a:latin typeface="Cambria"/>
              </a:rPr>
              <a:t>45,4%</a:t>
            </a:r>
          </a:p>
        </p:txBody>
      </p:sp>
      <p:sp>
        <p:nvSpPr>
          <p:cNvPr id="8" name="TextBox 7"/>
          <p:cNvSpPr txBox="1"/>
          <p:nvPr/>
        </p:nvSpPr>
        <p:spPr>
          <a:xfrm>
            <a:off x="777240" y="3703320"/>
            <a:ext cx="2194560" cy="320040"/>
          </a:xfrm>
          <a:prstGeom prst="rect">
            <a:avLst/>
          </a:prstGeom>
          <a:noFill/>
        </p:spPr>
        <p:txBody>
          <a:bodyPr wrap="square" lIns="0" rIns="0" tIns="0" bIns="0" anchor="t">
            <a:spAutoFit/>
          </a:bodyPr>
          <a:lstStyle/>
          <a:p>
            <a:pPr algn="l"/>
            <a:r>
              <a:rPr sz="1300" b="0" i="0">
                <a:solidFill>
                  <a:srgbClr val="FFFFFF"/>
                </a:solidFill>
                <a:latin typeface="Calibri"/>
              </a:rPr>
              <a:t>de abandono</a:t>
            </a:r>
          </a:p>
        </p:txBody>
      </p:sp>
      <p:sp>
        <p:nvSpPr>
          <p:cNvPr id="9" name="TextBox 8"/>
          <p:cNvSpPr txBox="1"/>
          <p:nvPr/>
        </p:nvSpPr>
        <p:spPr>
          <a:xfrm>
            <a:off x="777240" y="4160520"/>
            <a:ext cx="1097280" cy="365760"/>
          </a:xfrm>
          <a:prstGeom prst="rect">
            <a:avLst/>
          </a:prstGeom>
          <a:noFill/>
        </p:spPr>
        <p:txBody>
          <a:bodyPr wrap="square" lIns="0" rIns="0" tIns="0" bIns="0" anchor="t">
            <a:spAutoFit/>
          </a:bodyPr>
          <a:lstStyle/>
          <a:p>
            <a:pPr algn="l"/>
            <a:r>
              <a:rPr sz="1300" b="0" i="0">
                <a:solidFill>
                  <a:srgbClr val="FFFFFF"/>
                </a:solidFill>
                <a:latin typeface="Calibri"/>
              </a:rPr>
              <a:t>Edad</a:t>
            </a:r>
          </a:p>
        </p:txBody>
      </p:sp>
      <p:sp>
        <p:nvSpPr>
          <p:cNvPr id="10" name="TextBox 9"/>
          <p:cNvSpPr txBox="1"/>
          <p:nvPr/>
        </p:nvSpPr>
        <p:spPr>
          <a:xfrm>
            <a:off x="1737360" y="4160520"/>
            <a:ext cx="1234440" cy="365760"/>
          </a:xfrm>
          <a:prstGeom prst="rect">
            <a:avLst/>
          </a:prstGeom>
          <a:noFill/>
        </p:spPr>
        <p:txBody>
          <a:bodyPr wrap="square" lIns="0" rIns="0" tIns="0" bIns="0" anchor="t">
            <a:spAutoFit/>
          </a:bodyPr>
          <a:lstStyle/>
          <a:p>
            <a:pPr algn="r"/>
            <a:r>
              <a:rPr sz="1400" b="1" i="0">
                <a:solidFill>
                  <a:srgbClr val="FFFFFF"/>
                </a:solidFill>
                <a:latin typeface="Calibri"/>
              </a:rPr>
              <a:t>59 años</a:t>
            </a:r>
          </a:p>
        </p:txBody>
      </p:sp>
      <p:sp>
        <p:nvSpPr>
          <p:cNvPr id="11" name="TextBox 10"/>
          <p:cNvSpPr txBox="1"/>
          <p:nvPr/>
        </p:nvSpPr>
        <p:spPr>
          <a:xfrm>
            <a:off x="777240" y="4636008"/>
            <a:ext cx="1097280" cy="365760"/>
          </a:xfrm>
          <a:prstGeom prst="rect">
            <a:avLst/>
          </a:prstGeom>
          <a:noFill/>
        </p:spPr>
        <p:txBody>
          <a:bodyPr wrap="square" lIns="0" rIns="0" tIns="0" bIns="0" anchor="t">
            <a:spAutoFit/>
          </a:bodyPr>
          <a:lstStyle/>
          <a:p>
            <a:pPr algn="l"/>
            <a:r>
              <a:rPr sz="1300" b="0" i="0">
                <a:solidFill>
                  <a:srgbClr val="FFFFFF"/>
                </a:solidFill>
                <a:latin typeface="Calibri"/>
              </a:rPr>
              <a:t>Saldo</a:t>
            </a:r>
          </a:p>
        </p:txBody>
      </p:sp>
      <p:sp>
        <p:nvSpPr>
          <p:cNvPr id="12" name="TextBox 11"/>
          <p:cNvSpPr txBox="1"/>
          <p:nvPr/>
        </p:nvSpPr>
        <p:spPr>
          <a:xfrm>
            <a:off x="1737360" y="4636008"/>
            <a:ext cx="1234440" cy="365760"/>
          </a:xfrm>
          <a:prstGeom prst="rect">
            <a:avLst/>
          </a:prstGeom>
          <a:noFill/>
        </p:spPr>
        <p:txBody>
          <a:bodyPr wrap="square" lIns="0" rIns="0" tIns="0" bIns="0" anchor="t">
            <a:spAutoFit/>
          </a:bodyPr>
          <a:lstStyle/>
          <a:p>
            <a:pPr algn="r"/>
            <a:r>
              <a:rPr sz="1400" b="1" i="0">
                <a:solidFill>
                  <a:srgbClr val="FFFFFF"/>
                </a:solidFill>
                <a:latin typeface="Calibri"/>
              </a:rPr>
              <a:t>77.134</a:t>
            </a:r>
          </a:p>
        </p:txBody>
      </p:sp>
      <p:sp>
        <p:nvSpPr>
          <p:cNvPr id="13" name="TextBox 12"/>
          <p:cNvSpPr txBox="1"/>
          <p:nvPr/>
        </p:nvSpPr>
        <p:spPr>
          <a:xfrm>
            <a:off x="777240" y="5111496"/>
            <a:ext cx="1097280" cy="365760"/>
          </a:xfrm>
          <a:prstGeom prst="rect">
            <a:avLst/>
          </a:prstGeom>
          <a:noFill/>
        </p:spPr>
        <p:txBody>
          <a:bodyPr wrap="square" lIns="0" rIns="0" tIns="0" bIns="0" anchor="t">
            <a:spAutoFit/>
          </a:bodyPr>
          <a:lstStyle/>
          <a:p>
            <a:pPr algn="l"/>
            <a:r>
              <a:rPr sz="1300" b="0" i="0">
                <a:solidFill>
                  <a:srgbClr val="FFFFFF"/>
                </a:solidFill>
                <a:latin typeface="Calibri"/>
              </a:rPr>
              <a:t>Productos</a:t>
            </a:r>
          </a:p>
        </p:txBody>
      </p:sp>
      <p:sp>
        <p:nvSpPr>
          <p:cNvPr id="14" name="TextBox 13"/>
          <p:cNvSpPr txBox="1"/>
          <p:nvPr/>
        </p:nvSpPr>
        <p:spPr>
          <a:xfrm>
            <a:off x="1737360" y="5111496"/>
            <a:ext cx="1234440" cy="365760"/>
          </a:xfrm>
          <a:prstGeom prst="rect">
            <a:avLst/>
          </a:prstGeom>
          <a:noFill/>
        </p:spPr>
        <p:txBody>
          <a:bodyPr wrap="square" lIns="0" rIns="0" tIns="0" bIns="0" anchor="t">
            <a:spAutoFit/>
          </a:bodyPr>
          <a:lstStyle/>
          <a:p>
            <a:pPr algn="r"/>
            <a:r>
              <a:rPr sz="1400" b="1" i="0">
                <a:solidFill>
                  <a:srgbClr val="FFFFFF"/>
                </a:solidFill>
                <a:latin typeface="Calibri"/>
              </a:rPr>
              <a:t>1,3</a:t>
            </a:r>
          </a:p>
        </p:txBody>
      </p:sp>
      <p:sp>
        <p:nvSpPr>
          <p:cNvPr id="15" name="TextBox 14"/>
          <p:cNvSpPr txBox="1"/>
          <p:nvPr/>
        </p:nvSpPr>
        <p:spPr>
          <a:xfrm>
            <a:off x="777240" y="5586983"/>
            <a:ext cx="1097280" cy="365760"/>
          </a:xfrm>
          <a:prstGeom prst="rect">
            <a:avLst/>
          </a:prstGeom>
          <a:noFill/>
        </p:spPr>
        <p:txBody>
          <a:bodyPr wrap="square" lIns="0" rIns="0" tIns="0" bIns="0" anchor="t">
            <a:spAutoFit/>
          </a:bodyPr>
          <a:lstStyle/>
          <a:p>
            <a:pPr algn="l"/>
            <a:r>
              <a:rPr sz="1300" b="0" i="0">
                <a:solidFill>
                  <a:srgbClr val="FFFFFF"/>
                </a:solidFill>
                <a:latin typeface="Calibri"/>
              </a:rPr>
              <a:t>Clientes</a:t>
            </a:r>
          </a:p>
        </p:txBody>
      </p:sp>
      <p:sp>
        <p:nvSpPr>
          <p:cNvPr id="16" name="TextBox 15"/>
          <p:cNvSpPr txBox="1"/>
          <p:nvPr/>
        </p:nvSpPr>
        <p:spPr>
          <a:xfrm>
            <a:off x="1737360" y="5586983"/>
            <a:ext cx="1234440" cy="365760"/>
          </a:xfrm>
          <a:prstGeom prst="rect">
            <a:avLst/>
          </a:prstGeom>
          <a:noFill/>
        </p:spPr>
        <p:txBody>
          <a:bodyPr wrap="square" lIns="0" rIns="0" tIns="0" bIns="0" anchor="t">
            <a:spAutoFit/>
          </a:bodyPr>
          <a:lstStyle/>
          <a:p>
            <a:pPr algn="r"/>
            <a:r>
              <a:rPr sz="1400" b="1" i="0">
                <a:solidFill>
                  <a:srgbClr val="FFFFFF"/>
                </a:solidFill>
                <a:latin typeface="Calibri"/>
              </a:rPr>
              <a:t>1.305</a:t>
            </a:r>
          </a:p>
        </p:txBody>
      </p:sp>
      <p:sp>
        <p:nvSpPr>
          <p:cNvPr id="17" name="Rounded Rectangle 16"/>
          <p:cNvSpPr/>
          <p:nvPr/>
        </p:nvSpPr>
        <p:spPr>
          <a:xfrm>
            <a:off x="3383280" y="1691640"/>
            <a:ext cx="2606040" cy="4572000"/>
          </a:xfrm>
          <a:prstGeom prst="roundRect">
            <a:avLst>
              <a:gd name="adj" fmla="val 6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11880" y="1874519"/>
            <a:ext cx="2194560" cy="685800"/>
          </a:xfrm>
          <a:prstGeom prst="rect">
            <a:avLst/>
          </a:prstGeom>
          <a:noFill/>
        </p:spPr>
        <p:txBody>
          <a:bodyPr wrap="square" lIns="0" rIns="0" tIns="0" bIns="0" anchor="t">
            <a:spAutoFit/>
          </a:bodyPr>
          <a:lstStyle/>
          <a:p>
            <a:pPr algn="l"/>
            <a:r>
              <a:rPr sz="1800" b="1" i="0">
                <a:solidFill>
                  <a:srgbClr val="0B3C49"/>
                </a:solidFill>
                <a:latin typeface="Cambria"/>
              </a:rPr>
              <a:t>Con saldo, 1 producto</a:t>
            </a:r>
          </a:p>
        </p:txBody>
      </p:sp>
      <p:sp>
        <p:nvSpPr>
          <p:cNvPr id="19" name="TextBox 18"/>
          <p:cNvSpPr txBox="1"/>
          <p:nvPr/>
        </p:nvSpPr>
        <p:spPr>
          <a:xfrm>
            <a:off x="3611880" y="2560320"/>
            <a:ext cx="2194560" cy="457200"/>
          </a:xfrm>
          <a:prstGeom prst="rect">
            <a:avLst/>
          </a:prstGeom>
          <a:noFill/>
        </p:spPr>
        <p:txBody>
          <a:bodyPr wrap="square" lIns="0" rIns="0" tIns="0" bIns="0" anchor="t">
            <a:spAutoFit/>
          </a:bodyPr>
          <a:lstStyle/>
          <a:p>
            <a:pPr algn="l"/>
            <a:r>
              <a:rPr sz="1200" b="0" i="0">
                <a:solidFill>
                  <a:srgbClr val="556578"/>
                </a:solidFill>
                <a:latin typeface="Calibri"/>
              </a:rPr>
              <a:t>Jóvenes con fondos</a:t>
            </a:r>
          </a:p>
        </p:txBody>
      </p:sp>
      <p:sp>
        <p:nvSpPr>
          <p:cNvPr id="20" name="TextBox 19"/>
          <p:cNvSpPr txBox="1"/>
          <p:nvPr/>
        </p:nvSpPr>
        <p:spPr>
          <a:xfrm>
            <a:off x="3611880" y="3017520"/>
            <a:ext cx="2194560" cy="731520"/>
          </a:xfrm>
          <a:prstGeom prst="rect">
            <a:avLst/>
          </a:prstGeom>
          <a:noFill/>
        </p:spPr>
        <p:txBody>
          <a:bodyPr wrap="square" lIns="0" rIns="0" tIns="0" bIns="0" anchor="t">
            <a:spAutoFit/>
          </a:bodyPr>
          <a:lstStyle/>
          <a:p>
            <a:pPr algn="l"/>
            <a:r>
              <a:rPr sz="3800" b="1" i="0">
                <a:solidFill>
                  <a:srgbClr val="1B7F79"/>
                </a:solidFill>
                <a:latin typeface="Cambria"/>
              </a:rPr>
              <a:t>20,7%</a:t>
            </a:r>
          </a:p>
        </p:txBody>
      </p:sp>
      <p:sp>
        <p:nvSpPr>
          <p:cNvPr id="21" name="TextBox 20"/>
          <p:cNvSpPr txBox="1"/>
          <p:nvPr/>
        </p:nvSpPr>
        <p:spPr>
          <a:xfrm>
            <a:off x="3611880" y="3703320"/>
            <a:ext cx="2194560" cy="320040"/>
          </a:xfrm>
          <a:prstGeom prst="rect">
            <a:avLst/>
          </a:prstGeom>
          <a:noFill/>
        </p:spPr>
        <p:txBody>
          <a:bodyPr wrap="square" lIns="0" rIns="0" tIns="0" bIns="0" anchor="t">
            <a:spAutoFit/>
          </a:bodyPr>
          <a:lstStyle/>
          <a:p>
            <a:pPr algn="l"/>
            <a:r>
              <a:rPr sz="1300" b="0" i="0">
                <a:solidFill>
                  <a:srgbClr val="1E293B"/>
                </a:solidFill>
                <a:latin typeface="Calibri"/>
              </a:rPr>
              <a:t>de abandono</a:t>
            </a:r>
          </a:p>
        </p:txBody>
      </p:sp>
      <p:sp>
        <p:nvSpPr>
          <p:cNvPr id="22" name="TextBox 21"/>
          <p:cNvSpPr txBox="1"/>
          <p:nvPr/>
        </p:nvSpPr>
        <p:spPr>
          <a:xfrm>
            <a:off x="3611880" y="4160520"/>
            <a:ext cx="1097280" cy="365760"/>
          </a:xfrm>
          <a:prstGeom prst="rect">
            <a:avLst/>
          </a:prstGeom>
          <a:noFill/>
        </p:spPr>
        <p:txBody>
          <a:bodyPr wrap="square" lIns="0" rIns="0" tIns="0" bIns="0" anchor="t">
            <a:spAutoFit/>
          </a:bodyPr>
          <a:lstStyle/>
          <a:p>
            <a:pPr algn="l"/>
            <a:r>
              <a:rPr sz="1300" b="0" i="0">
                <a:solidFill>
                  <a:srgbClr val="1E293B"/>
                </a:solidFill>
                <a:latin typeface="Calibri"/>
              </a:rPr>
              <a:t>Edad</a:t>
            </a:r>
          </a:p>
        </p:txBody>
      </p:sp>
      <p:sp>
        <p:nvSpPr>
          <p:cNvPr id="23" name="TextBox 22"/>
          <p:cNvSpPr txBox="1"/>
          <p:nvPr/>
        </p:nvSpPr>
        <p:spPr>
          <a:xfrm>
            <a:off x="4572000" y="4160520"/>
            <a:ext cx="1234440" cy="365760"/>
          </a:xfrm>
          <a:prstGeom prst="rect">
            <a:avLst/>
          </a:prstGeom>
          <a:noFill/>
        </p:spPr>
        <p:txBody>
          <a:bodyPr wrap="square" lIns="0" rIns="0" tIns="0" bIns="0" anchor="t">
            <a:spAutoFit/>
          </a:bodyPr>
          <a:lstStyle/>
          <a:p>
            <a:pPr algn="r"/>
            <a:r>
              <a:rPr sz="1400" b="1" i="0">
                <a:solidFill>
                  <a:srgbClr val="1E293B"/>
                </a:solidFill>
                <a:latin typeface="Calibri"/>
              </a:rPr>
              <a:t>36 años</a:t>
            </a:r>
          </a:p>
        </p:txBody>
      </p:sp>
      <p:sp>
        <p:nvSpPr>
          <p:cNvPr id="24" name="TextBox 23"/>
          <p:cNvSpPr txBox="1"/>
          <p:nvPr/>
        </p:nvSpPr>
        <p:spPr>
          <a:xfrm>
            <a:off x="3611880" y="4636008"/>
            <a:ext cx="1097280" cy="365760"/>
          </a:xfrm>
          <a:prstGeom prst="rect">
            <a:avLst/>
          </a:prstGeom>
          <a:noFill/>
        </p:spPr>
        <p:txBody>
          <a:bodyPr wrap="square" lIns="0" rIns="0" tIns="0" bIns="0" anchor="t">
            <a:spAutoFit/>
          </a:bodyPr>
          <a:lstStyle/>
          <a:p>
            <a:pPr algn="l"/>
            <a:r>
              <a:rPr sz="1300" b="0" i="0">
                <a:solidFill>
                  <a:srgbClr val="1E293B"/>
                </a:solidFill>
                <a:latin typeface="Calibri"/>
              </a:rPr>
              <a:t>Saldo</a:t>
            </a:r>
          </a:p>
        </p:txBody>
      </p:sp>
      <p:sp>
        <p:nvSpPr>
          <p:cNvPr id="25" name="TextBox 24"/>
          <p:cNvSpPr txBox="1"/>
          <p:nvPr/>
        </p:nvSpPr>
        <p:spPr>
          <a:xfrm>
            <a:off x="4572000" y="4636008"/>
            <a:ext cx="1234440" cy="365760"/>
          </a:xfrm>
          <a:prstGeom prst="rect">
            <a:avLst/>
          </a:prstGeom>
          <a:noFill/>
        </p:spPr>
        <p:txBody>
          <a:bodyPr wrap="square" lIns="0" rIns="0" tIns="0" bIns="0" anchor="t">
            <a:spAutoFit/>
          </a:bodyPr>
          <a:lstStyle/>
          <a:p>
            <a:pPr algn="r"/>
            <a:r>
              <a:rPr sz="1400" b="1" i="0">
                <a:solidFill>
                  <a:srgbClr val="1E293B"/>
                </a:solidFill>
                <a:latin typeface="Calibri"/>
              </a:rPr>
              <a:t>121.031</a:t>
            </a:r>
          </a:p>
        </p:txBody>
      </p:sp>
      <p:sp>
        <p:nvSpPr>
          <p:cNvPr id="26" name="TextBox 25"/>
          <p:cNvSpPr txBox="1"/>
          <p:nvPr/>
        </p:nvSpPr>
        <p:spPr>
          <a:xfrm>
            <a:off x="3611880" y="5111496"/>
            <a:ext cx="1097280" cy="365760"/>
          </a:xfrm>
          <a:prstGeom prst="rect">
            <a:avLst/>
          </a:prstGeom>
          <a:noFill/>
        </p:spPr>
        <p:txBody>
          <a:bodyPr wrap="square" lIns="0" rIns="0" tIns="0" bIns="0" anchor="t">
            <a:spAutoFit/>
          </a:bodyPr>
          <a:lstStyle/>
          <a:p>
            <a:pPr algn="l"/>
            <a:r>
              <a:rPr sz="1300" b="0" i="0">
                <a:solidFill>
                  <a:srgbClr val="1E293B"/>
                </a:solidFill>
                <a:latin typeface="Calibri"/>
              </a:rPr>
              <a:t>Productos</a:t>
            </a:r>
          </a:p>
        </p:txBody>
      </p:sp>
      <p:sp>
        <p:nvSpPr>
          <p:cNvPr id="27" name="TextBox 26"/>
          <p:cNvSpPr txBox="1"/>
          <p:nvPr/>
        </p:nvSpPr>
        <p:spPr>
          <a:xfrm>
            <a:off x="4572000" y="5111496"/>
            <a:ext cx="1234440" cy="365760"/>
          </a:xfrm>
          <a:prstGeom prst="rect">
            <a:avLst/>
          </a:prstGeom>
          <a:noFill/>
        </p:spPr>
        <p:txBody>
          <a:bodyPr wrap="square" lIns="0" rIns="0" tIns="0" bIns="0" anchor="t">
            <a:spAutoFit/>
          </a:bodyPr>
          <a:lstStyle/>
          <a:p>
            <a:pPr algn="r"/>
            <a:r>
              <a:rPr sz="1400" b="1" i="0">
                <a:solidFill>
                  <a:srgbClr val="1E293B"/>
                </a:solidFill>
                <a:latin typeface="Calibri"/>
              </a:rPr>
              <a:t>1,0</a:t>
            </a:r>
          </a:p>
        </p:txBody>
      </p:sp>
      <p:sp>
        <p:nvSpPr>
          <p:cNvPr id="28" name="TextBox 27"/>
          <p:cNvSpPr txBox="1"/>
          <p:nvPr/>
        </p:nvSpPr>
        <p:spPr>
          <a:xfrm>
            <a:off x="3611880" y="5586983"/>
            <a:ext cx="1097280" cy="365760"/>
          </a:xfrm>
          <a:prstGeom prst="rect">
            <a:avLst/>
          </a:prstGeom>
          <a:noFill/>
        </p:spPr>
        <p:txBody>
          <a:bodyPr wrap="square" lIns="0" rIns="0" tIns="0" bIns="0" anchor="t">
            <a:spAutoFit/>
          </a:bodyPr>
          <a:lstStyle/>
          <a:p>
            <a:pPr algn="l"/>
            <a:r>
              <a:rPr sz="1300" b="0" i="0">
                <a:solidFill>
                  <a:srgbClr val="1E293B"/>
                </a:solidFill>
                <a:latin typeface="Calibri"/>
              </a:rPr>
              <a:t>Clientes</a:t>
            </a:r>
          </a:p>
        </p:txBody>
      </p:sp>
      <p:sp>
        <p:nvSpPr>
          <p:cNvPr id="29" name="TextBox 28"/>
          <p:cNvSpPr txBox="1"/>
          <p:nvPr/>
        </p:nvSpPr>
        <p:spPr>
          <a:xfrm>
            <a:off x="4572000" y="5586983"/>
            <a:ext cx="1234440" cy="365760"/>
          </a:xfrm>
          <a:prstGeom prst="rect">
            <a:avLst/>
          </a:prstGeom>
          <a:noFill/>
        </p:spPr>
        <p:txBody>
          <a:bodyPr wrap="square" lIns="0" rIns="0" tIns="0" bIns="0" anchor="t">
            <a:spAutoFit/>
          </a:bodyPr>
          <a:lstStyle/>
          <a:p>
            <a:pPr algn="r"/>
            <a:r>
              <a:rPr sz="1400" b="1" i="0">
                <a:solidFill>
                  <a:srgbClr val="1E293B"/>
                </a:solidFill>
                <a:latin typeface="Calibri"/>
              </a:rPr>
              <a:t>3.471</a:t>
            </a:r>
          </a:p>
        </p:txBody>
      </p:sp>
      <p:sp>
        <p:nvSpPr>
          <p:cNvPr id="30" name="Rounded Rectangle 29"/>
          <p:cNvSpPr/>
          <p:nvPr/>
        </p:nvSpPr>
        <p:spPr>
          <a:xfrm>
            <a:off x="6217920" y="1691640"/>
            <a:ext cx="2606040" cy="4572000"/>
          </a:xfrm>
          <a:prstGeom prst="roundRect">
            <a:avLst>
              <a:gd name="adj" fmla="val 6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46520" y="1874519"/>
            <a:ext cx="2194560" cy="685800"/>
          </a:xfrm>
          <a:prstGeom prst="rect">
            <a:avLst/>
          </a:prstGeom>
          <a:noFill/>
        </p:spPr>
        <p:txBody>
          <a:bodyPr wrap="square" lIns="0" rIns="0" tIns="0" bIns="0" anchor="t">
            <a:spAutoFit/>
          </a:bodyPr>
          <a:lstStyle/>
          <a:p>
            <a:pPr algn="l"/>
            <a:r>
              <a:rPr sz="1800" b="1" i="0">
                <a:solidFill>
                  <a:srgbClr val="0B3C49"/>
                </a:solidFill>
                <a:latin typeface="Cambria"/>
              </a:rPr>
              <a:t>Con saldo, 2+ productos</a:t>
            </a:r>
          </a:p>
        </p:txBody>
      </p:sp>
      <p:sp>
        <p:nvSpPr>
          <p:cNvPr id="32" name="TextBox 31"/>
          <p:cNvSpPr txBox="1"/>
          <p:nvPr/>
        </p:nvSpPr>
        <p:spPr>
          <a:xfrm>
            <a:off x="6446520" y="2560320"/>
            <a:ext cx="2194560" cy="457200"/>
          </a:xfrm>
          <a:prstGeom prst="rect">
            <a:avLst/>
          </a:prstGeom>
          <a:noFill/>
        </p:spPr>
        <p:txBody>
          <a:bodyPr wrap="square" lIns="0" rIns="0" tIns="0" bIns="0" anchor="t">
            <a:spAutoFit/>
          </a:bodyPr>
          <a:lstStyle/>
          <a:p>
            <a:pPr algn="l"/>
            <a:r>
              <a:rPr sz="1200" b="0" i="0">
                <a:solidFill>
                  <a:srgbClr val="556578"/>
                </a:solidFill>
                <a:latin typeface="Calibri"/>
              </a:rPr>
              <a:t>Jóvenes con fondos y varios productos</a:t>
            </a:r>
          </a:p>
        </p:txBody>
      </p:sp>
      <p:sp>
        <p:nvSpPr>
          <p:cNvPr id="33" name="TextBox 32"/>
          <p:cNvSpPr txBox="1"/>
          <p:nvPr/>
        </p:nvSpPr>
        <p:spPr>
          <a:xfrm>
            <a:off x="6446520" y="3017520"/>
            <a:ext cx="2194560" cy="731520"/>
          </a:xfrm>
          <a:prstGeom prst="rect">
            <a:avLst/>
          </a:prstGeom>
          <a:noFill/>
        </p:spPr>
        <p:txBody>
          <a:bodyPr wrap="square" lIns="0" rIns="0" tIns="0" bIns="0" anchor="t">
            <a:spAutoFit/>
          </a:bodyPr>
          <a:lstStyle/>
          <a:p>
            <a:pPr algn="l"/>
            <a:r>
              <a:rPr sz="3800" b="1" i="0">
                <a:solidFill>
                  <a:srgbClr val="1B7F79"/>
                </a:solidFill>
                <a:latin typeface="Cambria"/>
              </a:rPr>
              <a:t>20,6%</a:t>
            </a:r>
          </a:p>
        </p:txBody>
      </p:sp>
      <p:sp>
        <p:nvSpPr>
          <p:cNvPr id="34" name="TextBox 33"/>
          <p:cNvSpPr txBox="1"/>
          <p:nvPr/>
        </p:nvSpPr>
        <p:spPr>
          <a:xfrm>
            <a:off x="6446520" y="3703320"/>
            <a:ext cx="2194560" cy="320040"/>
          </a:xfrm>
          <a:prstGeom prst="rect">
            <a:avLst/>
          </a:prstGeom>
          <a:noFill/>
        </p:spPr>
        <p:txBody>
          <a:bodyPr wrap="square" lIns="0" rIns="0" tIns="0" bIns="0" anchor="t">
            <a:spAutoFit/>
          </a:bodyPr>
          <a:lstStyle/>
          <a:p>
            <a:pPr algn="l"/>
            <a:r>
              <a:rPr sz="1300" b="0" i="0">
                <a:solidFill>
                  <a:srgbClr val="1E293B"/>
                </a:solidFill>
                <a:latin typeface="Calibri"/>
              </a:rPr>
              <a:t>de abandono</a:t>
            </a:r>
          </a:p>
        </p:txBody>
      </p:sp>
      <p:sp>
        <p:nvSpPr>
          <p:cNvPr id="35" name="TextBox 34"/>
          <p:cNvSpPr txBox="1"/>
          <p:nvPr/>
        </p:nvSpPr>
        <p:spPr>
          <a:xfrm>
            <a:off x="6446520" y="4160520"/>
            <a:ext cx="1097280" cy="365760"/>
          </a:xfrm>
          <a:prstGeom prst="rect">
            <a:avLst/>
          </a:prstGeom>
          <a:noFill/>
        </p:spPr>
        <p:txBody>
          <a:bodyPr wrap="square" lIns="0" rIns="0" tIns="0" bIns="0" anchor="t">
            <a:spAutoFit/>
          </a:bodyPr>
          <a:lstStyle/>
          <a:p>
            <a:pPr algn="l"/>
            <a:r>
              <a:rPr sz="1300" b="0" i="0">
                <a:solidFill>
                  <a:srgbClr val="1E293B"/>
                </a:solidFill>
                <a:latin typeface="Calibri"/>
              </a:rPr>
              <a:t>Edad</a:t>
            </a:r>
          </a:p>
        </p:txBody>
      </p:sp>
      <p:sp>
        <p:nvSpPr>
          <p:cNvPr id="36" name="TextBox 35"/>
          <p:cNvSpPr txBox="1"/>
          <p:nvPr/>
        </p:nvSpPr>
        <p:spPr>
          <a:xfrm>
            <a:off x="7406640" y="4160520"/>
            <a:ext cx="1234440" cy="365760"/>
          </a:xfrm>
          <a:prstGeom prst="rect">
            <a:avLst/>
          </a:prstGeom>
          <a:noFill/>
        </p:spPr>
        <p:txBody>
          <a:bodyPr wrap="square" lIns="0" rIns="0" tIns="0" bIns="0" anchor="t">
            <a:spAutoFit/>
          </a:bodyPr>
          <a:lstStyle/>
          <a:p>
            <a:pPr algn="r"/>
            <a:r>
              <a:rPr sz="1400" b="1" i="0">
                <a:solidFill>
                  <a:srgbClr val="1E293B"/>
                </a:solidFill>
                <a:latin typeface="Calibri"/>
              </a:rPr>
              <a:t>37 años</a:t>
            </a:r>
          </a:p>
        </p:txBody>
      </p:sp>
      <p:sp>
        <p:nvSpPr>
          <p:cNvPr id="37" name="TextBox 36"/>
          <p:cNvSpPr txBox="1"/>
          <p:nvPr/>
        </p:nvSpPr>
        <p:spPr>
          <a:xfrm>
            <a:off x="6446520" y="4636008"/>
            <a:ext cx="1097280" cy="365760"/>
          </a:xfrm>
          <a:prstGeom prst="rect">
            <a:avLst/>
          </a:prstGeom>
          <a:noFill/>
        </p:spPr>
        <p:txBody>
          <a:bodyPr wrap="square" lIns="0" rIns="0" tIns="0" bIns="0" anchor="t">
            <a:spAutoFit/>
          </a:bodyPr>
          <a:lstStyle/>
          <a:p>
            <a:pPr algn="l"/>
            <a:r>
              <a:rPr sz="1300" b="0" i="0">
                <a:solidFill>
                  <a:srgbClr val="1E293B"/>
                </a:solidFill>
                <a:latin typeface="Calibri"/>
              </a:rPr>
              <a:t>Saldo</a:t>
            </a:r>
          </a:p>
        </p:txBody>
      </p:sp>
      <p:sp>
        <p:nvSpPr>
          <p:cNvPr id="38" name="TextBox 37"/>
          <p:cNvSpPr txBox="1"/>
          <p:nvPr/>
        </p:nvSpPr>
        <p:spPr>
          <a:xfrm>
            <a:off x="7406640" y="4636008"/>
            <a:ext cx="1234440" cy="365760"/>
          </a:xfrm>
          <a:prstGeom prst="rect">
            <a:avLst/>
          </a:prstGeom>
          <a:noFill/>
        </p:spPr>
        <p:txBody>
          <a:bodyPr wrap="square" lIns="0" rIns="0" tIns="0" bIns="0" anchor="t">
            <a:spAutoFit/>
          </a:bodyPr>
          <a:lstStyle/>
          <a:p>
            <a:pPr algn="r"/>
            <a:r>
              <a:rPr sz="1400" b="1" i="0">
                <a:solidFill>
                  <a:srgbClr val="1E293B"/>
                </a:solidFill>
                <a:latin typeface="Calibri"/>
              </a:rPr>
              <a:t>121.155</a:t>
            </a:r>
          </a:p>
        </p:txBody>
      </p:sp>
      <p:sp>
        <p:nvSpPr>
          <p:cNvPr id="39" name="TextBox 38"/>
          <p:cNvSpPr txBox="1"/>
          <p:nvPr/>
        </p:nvSpPr>
        <p:spPr>
          <a:xfrm>
            <a:off x="6446520" y="5111496"/>
            <a:ext cx="1097280" cy="365760"/>
          </a:xfrm>
          <a:prstGeom prst="rect">
            <a:avLst/>
          </a:prstGeom>
          <a:noFill/>
        </p:spPr>
        <p:txBody>
          <a:bodyPr wrap="square" lIns="0" rIns="0" tIns="0" bIns="0" anchor="t">
            <a:spAutoFit/>
          </a:bodyPr>
          <a:lstStyle/>
          <a:p>
            <a:pPr algn="l"/>
            <a:r>
              <a:rPr sz="1300" b="0" i="0">
                <a:solidFill>
                  <a:srgbClr val="1E293B"/>
                </a:solidFill>
                <a:latin typeface="Calibri"/>
              </a:rPr>
              <a:t>Productos</a:t>
            </a:r>
          </a:p>
        </p:txBody>
      </p:sp>
      <p:sp>
        <p:nvSpPr>
          <p:cNvPr id="40" name="TextBox 39"/>
          <p:cNvSpPr txBox="1"/>
          <p:nvPr/>
        </p:nvSpPr>
        <p:spPr>
          <a:xfrm>
            <a:off x="7406640" y="5111496"/>
            <a:ext cx="1234440" cy="365760"/>
          </a:xfrm>
          <a:prstGeom prst="rect">
            <a:avLst/>
          </a:prstGeom>
          <a:noFill/>
        </p:spPr>
        <p:txBody>
          <a:bodyPr wrap="square" lIns="0" rIns="0" tIns="0" bIns="0" anchor="t">
            <a:spAutoFit/>
          </a:bodyPr>
          <a:lstStyle/>
          <a:p>
            <a:pPr algn="r"/>
            <a:r>
              <a:rPr sz="1400" b="1" i="0">
                <a:solidFill>
                  <a:srgbClr val="1E293B"/>
                </a:solidFill>
                <a:latin typeface="Calibri"/>
              </a:rPr>
              <a:t>2,1</a:t>
            </a:r>
          </a:p>
        </p:txBody>
      </p:sp>
      <p:sp>
        <p:nvSpPr>
          <p:cNvPr id="41" name="TextBox 40"/>
          <p:cNvSpPr txBox="1"/>
          <p:nvPr/>
        </p:nvSpPr>
        <p:spPr>
          <a:xfrm>
            <a:off x="6446520" y="5586983"/>
            <a:ext cx="1097280" cy="365760"/>
          </a:xfrm>
          <a:prstGeom prst="rect">
            <a:avLst/>
          </a:prstGeom>
          <a:noFill/>
        </p:spPr>
        <p:txBody>
          <a:bodyPr wrap="square" lIns="0" rIns="0" tIns="0" bIns="0" anchor="t">
            <a:spAutoFit/>
          </a:bodyPr>
          <a:lstStyle/>
          <a:p>
            <a:pPr algn="l"/>
            <a:r>
              <a:rPr sz="1300" b="0" i="0">
                <a:solidFill>
                  <a:srgbClr val="1E293B"/>
                </a:solidFill>
                <a:latin typeface="Calibri"/>
              </a:rPr>
              <a:t>Clientes</a:t>
            </a:r>
          </a:p>
        </p:txBody>
      </p:sp>
      <p:sp>
        <p:nvSpPr>
          <p:cNvPr id="42" name="TextBox 41"/>
          <p:cNvSpPr txBox="1"/>
          <p:nvPr/>
        </p:nvSpPr>
        <p:spPr>
          <a:xfrm>
            <a:off x="7406640" y="5586983"/>
            <a:ext cx="1234440" cy="365760"/>
          </a:xfrm>
          <a:prstGeom prst="rect">
            <a:avLst/>
          </a:prstGeom>
          <a:noFill/>
        </p:spPr>
        <p:txBody>
          <a:bodyPr wrap="square" lIns="0" rIns="0" tIns="0" bIns="0" anchor="t">
            <a:spAutoFit/>
          </a:bodyPr>
          <a:lstStyle/>
          <a:p>
            <a:pPr algn="r"/>
            <a:r>
              <a:rPr sz="1400" b="1" i="0">
                <a:solidFill>
                  <a:srgbClr val="1E293B"/>
                </a:solidFill>
                <a:latin typeface="Calibri"/>
              </a:rPr>
              <a:t>1.991</a:t>
            </a:r>
          </a:p>
        </p:txBody>
      </p:sp>
      <p:sp>
        <p:nvSpPr>
          <p:cNvPr id="43" name="Rounded Rectangle 42"/>
          <p:cNvSpPr/>
          <p:nvPr/>
        </p:nvSpPr>
        <p:spPr>
          <a:xfrm>
            <a:off x="9052560" y="1691640"/>
            <a:ext cx="2606040" cy="4572000"/>
          </a:xfrm>
          <a:prstGeom prst="roundRect">
            <a:avLst>
              <a:gd name="adj" fmla="val 6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281160" y="1874519"/>
            <a:ext cx="2194560" cy="685800"/>
          </a:xfrm>
          <a:prstGeom prst="rect">
            <a:avLst/>
          </a:prstGeom>
          <a:noFill/>
        </p:spPr>
        <p:txBody>
          <a:bodyPr wrap="square" lIns="0" rIns="0" tIns="0" bIns="0" anchor="t">
            <a:spAutoFit/>
          </a:bodyPr>
          <a:lstStyle/>
          <a:p>
            <a:pPr algn="l"/>
            <a:r>
              <a:rPr sz="1800" b="1" i="0">
                <a:solidFill>
                  <a:srgbClr val="0B3C49"/>
                </a:solidFill>
                <a:latin typeface="Cambria"/>
              </a:rPr>
              <a:t>Sin saldo</a:t>
            </a:r>
          </a:p>
        </p:txBody>
      </p:sp>
      <p:sp>
        <p:nvSpPr>
          <p:cNvPr id="45" name="TextBox 44"/>
          <p:cNvSpPr txBox="1"/>
          <p:nvPr/>
        </p:nvSpPr>
        <p:spPr>
          <a:xfrm>
            <a:off x="9281160" y="2560320"/>
            <a:ext cx="2194560" cy="457200"/>
          </a:xfrm>
          <a:prstGeom prst="rect">
            <a:avLst/>
          </a:prstGeom>
          <a:noFill/>
        </p:spPr>
        <p:txBody>
          <a:bodyPr wrap="square" lIns="0" rIns="0" tIns="0" bIns="0" anchor="t">
            <a:spAutoFit/>
          </a:bodyPr>
          <a:lstStyle/>
          <a:p>
            <a:pPr algn="l"/>
            <a:r>
              <a:rPr sz="1200" b="0" i="0">
                <a:solidFill>
                  <a:srgbClr val="556578"/>
                </a:solidFill>
                <a:latin typeface="Calibri"/>
              </a:rPr>
              <a:t>Jóvenes sin fondos</a:t>
            </a:r>
          </a:p>
        </p:txBody>
      </p:sp>
      <p:sp>
        <p:nvSpPr>
          <p:cNvPr id="46" name="TextBox 45"/>
          <p:cNvSpPr txBox="1"/>
          <p:nvPr/>
        </p:nvSpPr>
        <p:spPr>
          <a:xfrm>
            <a:off x="9281160" y="3017520"/>
            <a:ext cx="2194560" cy="731520"/>
          </a:xfrm>
          <a:prstGeom prst="rect">
            <a:avLst/>
          </a:prstGeom>
          <a:noFill/>
        </p:spPr>
        <p:txBody>
          <a:bodyPr wrap="square" lIns="0" rIns="0" tIns="0" bIns="0" anchor="t">
            <a:spAutoFit/>
          </a:bodyPr>
          <a:lstStyle/>
          <a:p>
            <a:pPr algn="l"/>
            <a:r>
              <a:rPr sz="3800" b="1" i="0">
                <a:solidFill>
                  <a:srgbClr val="1B7F79"/>
                </a:solidFill>
                <a:latin typeface="Cambria"/>
              </a:rPr>
              <a:t>9,8%</a:t>
            </a:r>
          </a:p>
        </p:txBody>
      </p:sp>
      <p:sp>
        <p:nvSpPr>
          <p:cNvPr id="47" name="TextBox 46"/>
          <p:cNvSpPr txBox="1"/>
          <p:nvPr/>
        </p:nvSpPr>
        <p:spPr>
          <a:xfrm>
            <a:off x="9281160" y="3703320"/>
            <a:ext cx="2194560" cy="320040"/>
          </a:xfrm>
          <a:prstGeom prst="rect">
            <a:avLst/>
          </a:prstGeom>
          <a:noFill/>
        </p:spPr>
        <p:txBody>
          <a:bodyPr wrap="square" lIns="0" rIns="0" tIns="0" bIns="0" anchor="t">
            <a:spAutoFit/>
          </a:bodyPr>
          <a:lstStyle/>
          <a:p>
            <a:pPr algn="l"/>
            <a:r>
              <a:rPr sz="1300" b="0" i="0">
                <a:solidFill>
                  <a:srgbClr val="1E293B"/>
                </a:solidFill>
                <a:latin typeface="Calibri"/>
              </a:rPr>
              <a:t>de abandono</a:t>
            </a:r>
          </a:p>
        </p:txBody>
      </p:sp>
      <p:sp>
        <p:nvSpPr>
          <p:cNvPr id="48" name="TextBox 47"/>
          <p:cNvSpPr txBox="1"/>
          <p:nvPr/>
        </p:nvSpPr>
        <p:spPr>
          <a:xfrm>
            <a:off x="9281160" y="4160520"/>
            <a:ext cx="1097280" cy="365760"/>
          </a:xfrm>
          <a:prstGeom prst="rect">
            <a:avLst/>
          </a:prstGeom>
          <a:noFill/>
        </p:spPr>
        <p:txBody>
          <a:bodyPr wrap="square" lIns="0" rIns="0" tIns="0" bIns="0" anchor="t">
            <a:spAutoFit/>
          </a:bodyPr>
          <a:lstStyle/>
          <a:p>
            <a:pPr algn="l"/>
            <a:r>
              <a:rPr sz="1300" b="0" i="0">
                <a:solidFill>
                  <a:srgbClr val="1E293B"/>
                </a:solidFill>
                <a:latin typeface="Calibri"/>
              </a:rPr>
              <a:t>Edad</a:t>
            </a:r>
          </a:p>
        </p:txBody>
      </p:sp>
      <p:sp>
        <p:nvSpPr>
          <p:cNvPr id="49" name="TextBox 48"/>
          <p:cNvSpPr txBox="1"/>
          <p:nvPr/>
        </p:nvSpPr>
        <p:spPr>
          <a:xfrm>
            <a:off x="10241280" y="4160520"/>
            <a:ext cx="1234440" cy="365760"/>
          </a:xfrm>
          <a:prstGeom prst="rect">
            <a:avLst/>
          </a:prstGeom>
          <a:noFill/>
        </p:spPr>
        <p:txBody>
          <a:bodyPr wrap="square" lIns="0" rIns="0" tIns="0" bIns="0" anchor="t">
            <a:spAutoFit/>
          </a:bodyPr>
          <a:lstStyle/>
          <a:p>
            <a:pPr algn="r"/>
            <a:r>
              <a:rPr sz="1400" b="1" i="0">
                <a:solidFill>
                  <a:srgbClr val="1E293B"/>
                </a:solidFill>
                <a:latin typeface="Calibri"/>
              </a:rPr>
              <a:t>36 años</a:t>
            </a:r>
          </a:p>
        </p:txBody>
      </p:sp>
      <p:sp>
        <p:nvSpPr>
          <p:cNvPr id="50" name="TextBox 49"/>
          <p:cNvSpPr txBox="1"/>
          <p:nvPr/>
        </p:nvSpPr>
        <p:spPr>
          <a:xfrm>
            <a:off x="9281160" y="4636008"/>
            <a:ext cx="1097280" cy="365760"/>
          </a:xfrm>
          <a:prstGeom prst="rect">
            <a:avLst/>
          </a:prstGeom>
          <a:noFill/>
        </p:spPr>
        <p:txBody>
          <a:bodyPr wrap="square" lIns="0" rIns="0" tIns="0" bIns="0" anchor="t">
            <a:spAutoFit/>
          </a:bodyPr>
          <a:lstStyle/>
          <a:p>
            <a:pPr algn="l"/>
            <a:r>
              <a:rPr sz="1300" b="0" i="0">
                <a:solidFill>
                  <a:srgbClr val="1E293B"/>
                </a:solidFill>
                <a:latin typeface="Calibri"/>
              </a:rPr>
              <a:t>Saldo</a:t>
            </a:r>
          </a:p>
        </p:txBody>
      </p:sp>
      <p:sp>
        <p:nvSpPr>
          <p:cNvPr id="51" name="TextBox 50"/>
          <p:cNvSpPr txBox="1"/>
          <p:nvPr/>
        </p:nvSpPr>
        <p:spPr>
          <a:xfrm>
            <a:off x="10241280" y="4636008"/>
            <a:ext cx="1234440" cy="365760"/>
          </a:xfrm>
          <a:prstGeom prst="rect">
            <a:avLst/>
          </a:prstGeom>
          <a:noFill/>
        </p:spPr>
        <p:txBody>
          <a:bodyPr wrap="square" lIns="0" rIns="0" tIns="0" bIns="0" anchor="t">
            <a:spAutoFit/>
          </a:bodyPr>
          <a:lstStyle/>
          <a:p>
            <a:pPr algn="r"/>
            <a:r>
              <a:rPr sz="1400" b="1" i="0">
                <a:solidFill>
                  <a:srgbClr val="1E293B"/>
                </a:solidFill>
                <a:latin typeface="Calibri"/>
              </a:rPr>
              <a:t>891</a:t>
            </a:r>
          </a:p>
        </p:txBody>
      </p:sp>
      <p:sp>
        <p:nvSpPr>
          <p:cNvPr id="52" name="TextBox 51"/>
          <p:cNvSpPr txBox="1"/>
          <p:nvPr/>
        </p:nvSpPr>
        <p:spPr>
          <a:xfrm>
            <a:off x="9281160" y="5111496"/>
            <a:ext cx="1097280" cy="365760"/>
          </a:xfrm>
          <a:prstGeom prst="rect">
            <a:avLst/>
          </a:prstGeom>
          <a:noFill/>
        </p:spPr>
        <p:txBody>
          <a:bodyPr wrap="square" lIns="0" rIns="0" tIns="0" bIns="0" anchor="t">
            <a:spAutoFit/>
          </a:bodyPr>
          <a:lstStyle/>
          <a:p>
            <a:pPr algn="l"/>
            <a:r>
              <a:rPr sz="1300" b="0" i="0">
                <a:solidFill>
                  <a:srgbClr val="1E293B"/>
                </a:solidFill>
                <a:latin typeface="Calibri"/>
              </a:rPr>
              <a:t>Productos</a:t>
            </a:r>
          </a:p>
        </p:txBody>
      </p:sp>
      <p:sp>
        <p:nvSpPr>
          <p:cNvPr id="53" name="TextBox 52"/>
          <p:cNvSpPr txBox="1"/>
          <p:nvPr/>
        </p:nvSpPr>
        <p:spPr>
          <a:xfrm>
            <a:off x="10241280" y="5111496"/>
            <a:ext cx="1234440" cy="365760"/>
          </a:xfrm>
          <a:prstGeom prst="rect">
            <a:avLst/>
          </a:prstGeom>
          <a:noFill/>
        </p:spPr>
        <p:txBody>
          <a:bodyPr wrap="square" lIns="0" rIns="0" tIns="0" bIns="0" anchor="t">
            <a:spAutoFit/>
          </a:bodyPr>
          <a:lstStyle/>
          <a:p>
            <a:pPr algn="r"/>
            <a:r>
              <a:rPr sz="1400" b="1" i="0">
                <a:solidFill>
                  <a:srgbClr val="1E293B"/>
                </a:solidFill>
                <a:latin typeface="Calibri"/>
              </a:rPr>
              <a:t>1,8</a:t>
            </a:r>
          </a:p>
        </p:txBody>
      </p:sp>
      <p:sp>
        <p:nvSpPr>
          <p:cNvPr id="54" name="TextBox 53"/>
          <p:cNvSpPr txBox="1"/>
          <p:nvPr/>
        </p:nvSpPr>
        <p:spPr>
          <a:xfrm>
            <a:off x="9281160" y="5586983"/>
            <a:ext cx="1097280" cy="365760"/>
          </a:xfrm>
          <a:prstGeom prst="rect">
            <a:avLst/>
          </a:prstGeom>
          <a:noFill/>
        </p:spPr>
        <p:txBody>
          <a:bodyPr wrap="square" lIns="0" rIns="0" tIns="0" bIns="0" anchor="t">
            <a:spAutoFit/>
          </a:bodyPr>
          <a:lstStyle/>
          <a:p>
            <a:pPr algn="l"/>
            <a:r>
              <a:rPr sz="1300" b="0" i="0">
                <a:solidFill>
                  <a:srgbClr val="1E293B"/>
                </a:solidFill>
                <a:latin typeface="Calibri"/>
              </a:rPr>
              <a:t>Clientes</a:t>
            </a:r>
          </a:p>
        </p:txBody>
      </p:sp>
      <p:sp>
        <p:nvSpPr>
          <p:cNvPr id="55" name="TextBox 54"/>
          <p:cNvSpPr txBox="1"/>
          <p:nvPr/>
        </p:nvSpPr>
        <p:spPr>
          <a:xfrm>
            <a:off x="10241280" y="5586983"/>
            <a:ext cx="1234440" cy="365760"/>
          </a:xfrm>
          <a:prstGeom prst="rect">
            <a:avLst/>
          </a:prstGeom>
          <a:noFill/>
        </p:spPr>
        <p:txBody>
          <a:bodyPr wrap="square" lIns="0" rIns="0" tIns="0" bIns="0" anchor="t">
            <a:spAutoFit/>
          </a:bodyPr>
          <a:lstStyle/>
          <a:p>
            <a:pPr algn="r"/>
            <a:r>
              <a:rPr sz="1400" b="1" i="0">
                <a:solidFill>
                  <a:srgbClr val="1E293B"/>
                </a:solidFill>
                <a:latin typeface="Calibri"/>
              </a:rPr>
              <a:t>3.233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57200"/>
            <a:ext cx="11064240" cy="640080"/>
          </a:xfrm>
          <a:prstGeom prst="rect">
            <a:avLst/>
          </a:prstGeom>
          <a:noFill/>
        </p:spPr>
        <p:txBody>
          <a:bodyPr wrap="square" lIns="0" rIns="0" tIns="0" bIns="0" anchor="t">
            <a:spAutoFit/>
          </a:bodyPr>
          <a:lstStyle/>
          <a:p>
            <a:pPr algn="l"/>
            <a:r>
              <a:rPr sz="3000" b="1" i="0">
                <a:solidFill>
                  <a:srgbClr val="0B3C49"/>
                </a:solidFill>
                <a:latin typeface="Cambria"/>
              </a:rPr>
              <a:t>Producto de inversión de alta gama: ¿a quién ofrecerlo?</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600" b="0" i="0">
                <a:solidFill>
                  <a:srgbClr val="556578"/>
                </a:solidFill>
                <a:latin typeface="Calibri"/>
              </a:rPr>
              <a:t>Producto de bajo riesgo, campaña focalizada y ética</a:t>
            </a:r>
          </a:p>
        </p:txBody>
      </p:sp>
      <p:sp>
        <p:nvSpPr>
          <p:cNvPr id="4" name="Rounded Rectangle 3"/>
          <p:cNvSpPr/>
          <p:nvPr/>
        </p:nvSpPr>
        <p:spPr>
          <a:xfrm>
            <a:off x="548640" y="1691640"/>
            <a:ext cx="5120640" cy="4572000"/>
          </a:xfrm>
          <a:prstGeom prst="roundRect">
            <a:avLst>
              <a:gd name="adj" fmla="val 6000"/>
            </a:avLst>
          </a:prstGeom>
          <a:solidFill>
            <a:srgbClr val="0B3C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920240"/>
            <a:ext cx="4572000" cy="365760"/>
          </a:xfrm>
          <a:prstGeom prst="rect">
            <a:avLst/>
          </a:prstGeom>
          <a:noFill/>
        </p:spPr>
        <p:txBody>
          <a:bodyPr wrap="square" lIns="0" rIns="0" tIns="0" bIns="0" anchor="t">
            <a:spAutoFit/>
          </a:bodyPr>
          <a:lstStyle/>
          <a:p>
            <a:pPr algn="l"/>
            <a:r>
              <a:rPr sz="1300" b="1" i="0">
                <a:solidFill>
                  <a:srgbClr val="E9A23B"/>
                </a:solidFill>
                <a:latin typeface="Calibri"/>
              </a:rPr>
              <a:t>RECOMENDADO</a:t>
            </a:r>
          </a:p>
        </p:txBody>
      </p:sp>
      <p:sp>
        <p:nvSpPr>
          <p:cNvPr id="6" name="TextBox 5"/>
          <p:cNvSpPr txBox="1"/>
          <p:nvPr/>
        </p:nvSpPr>
        <p:spPr>
          <a:xfrm>
            <a:off x="868680" y="2286000"/>
            <a:ext cx="4572000" cy="640080"/>
          </a:xfrm>
          <a:prstGeom prst="rect">
            <a:avLst/>
          </a:prstGeom>
          <a:noFill/>
        </p:spPr>
        <p:txBody>
          <a:bodyPr wrap="square" lIns="0" rIns="0" tIns="0" bIns="0" anchor="t">
            <a:spAutoFit/>
          </a:bodyPr>
          <a:lstStyle/>
          <a:p>
            <a:pPr algn="l"/>
            <a:r>
              <a:rPr sz="3000" b="1" i="0">
                <a:solidFill>
                  <a:srgbClr val="FFFFFF"/>
                </a:solidFill>
                <a:latin typeface="Cambria"/>
              </a:rPr>
              <a:t>Con saldo, 1 producto</a:t>
            </a:r>
          </a:p>
        </p:txBody>
      </p:sp>
      <p:sp>
        <p:nvSpPr>
          <p:cNvPr id="7" name="TextBox 6"/>
          <p:cNvSpPr txBox="1"/>
          <p:nvPr/>
        </p:nvSpPr>
        <p:spPr>
          <a:xfrm>
            <a:off x="868680" y="3108960"/>
            <a:ext cx="4526280" cy="3017520"/>
          </a:xfrm>
          <a:prstGeom prst="rect">
            <a:avLst/>
          </a:prstGeom>
          <a:noFill/>
        </p:spPr>
        <p:txBody>
          <a:bodyPr wrap="square" lIns="0" rIns="0" tIns="0" bIns="0">
            <a:spAutoFit/>
          </a:bodyPr>
          <a:lstStyle/>
          <a:p>
            <a:pPr marL="228600" indent="-228600">
              <a:spcAft>
                <a:spcPts val="1200"/>
              </a:spcAft>
              <a:buChar char="•"/>
            </a:pPr>
            <a:r>
              <a:rPr sz="1500" b="1">
                <a:solidFill>
                  <a:srgbClr val="FFFFFF"/>
                </a:solidFill>
                <a:latin typeface="Calibri"/>
              </a:rPr>
              <a:t>Tienen fondos: </a:t>
            </a:r>
            <a:r>
              <a:rPr sz="1500" b="0">
                <a:solidFill>
                  <a:srgbClr val="FFFFFF"/>
                </a:solidFill>
                <a:latin typeface="Calibri"/>
              </a:rPr>
              <a:t>saldo promedio ~121.000 y ninguno con saldo 0.</a:t>
            </a:r>
          </a:p>
          <a:p>
            <a:pPr marL="228600" indent="-228600">
              <a:spcAft>
                <a:spcPts val="1200"/>
              </a:spcAft>
              <a:buChar char="•"/>
            </a:pPr>
            <a:r>
              <a:rPr sz="1500" b="1">
                <a:solidFill>
                  <a:srgbClr val="FFFFFF"/>
                </a:solidFill>
                <a:latin typeface="Calibri"/>
              </a:rPr>
              <a:t>Amplía la relación sin sobrecargarla: </a:t>
            </a:r>
            <a:r>
              <a:rPr sz="1500" b="0">
                <a:solidFill>
                  <a:srgbClr val="FFFFFF"/>
                </a:solidFill>
                <a:latin typeface="Calibri"/>
              </a:rPr>
              <a:t>hoy tienen un solo producto; los clientes con 2 son los que menos abandonan.</a:t>
            </a:r>
          </a:p>
          <a:p>
            <a:pPr marL="228600" indent="-228600">
              <a:spcAft>
                <a:spcPts val="1200"/>
              </a:spcAft>
              <a:buChar char="•"/>
            </a:pPr>
            <a:r>
              <a:rPr sz="1500" b="1">
                <a:solidFill>
                  <a:srgbClr val="FFFFFF"/>
                </a:solidFill>
                <a:latin typeface="Calibri"/>
              </a:rPr>
              <a:t>El menos afectado por el sesgo: </a:t>
            </a:r>
            <a:r>
              <a:rPr sz="1500" b="0">
                <a:solidFill>
                  <a:srgbClr val="FFFFFF"/>
                </a:solidFill>
                <a:latin typeface="Calibri"/>
              </a:rPr>
              <a:t>el segmento más grande (3.471) y con una proporción de alemanes cercana al total.</a:t>
            </a:r>
          </a:p>
        </p:txBody>
      </p:sp>
      <p:sp>
        <p:nvSpPr>
          <p:cNvPr id="8" name="Rounded Rectangle 7"/>
          <p:cNvSpPr/>
          <p:nvPr/>
        </p:nvSpPr>
        <p:spPr>
          <a:xfrm>
            <a:off x="5943600" y="1691640"/>
            <a:ext cx="5715000" cy="1417320"/>
          </a:xfrm>
          <a:prstGeom prst="roundRect">
            <a:avLst>
              <a:gd name="adj" fmla="val 6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0" y="1874520"/>
            <a:ext cx="3200400" cy="365760"/>
          </a:xfrm>
          <a:prstGeom prst="rect">
            <a:avLst/>
          </a:prstGeom>
          <a:noFill/>
        </p:spPr>
        <p:txBody>
          <a:bodyPr wrap="square" lIns="0" rIns="0" tIns="0" bIns="0" anchor="t">
            <a:spAutoFit/>
          </a:bodyPr>
          <a:lstStyle/>
          <a:p>
            <a:pPr algn="l"/>
            <a:r>
              <a:rPr sz="1700" b="1" i="0">
                <a:solidFill>
                  <a:srgbClr val="0B3C49"/>
                </a:solidFill>
                <a:latin typeface="Calibri"/>
              </a:rPr>
              <a:t>Sin saldo</a:t>
            </a:r>
          </a:p>
        </p:txBody>
      </p:sp>
      <p:sp>
        <p:nvSpPr>
          <p:cNvPr id="10" name="TextBox 9"/>
          <p:cNvSpPr txBox="1"/>
          <p:nvPr/>
        </p:nvSpPr>
        <p:spPr>
          <a:xfrm>
            <a:off x="9326880" y="1874520"/>
            <a:ext cx="2103120" cy="365760"/>
          </a:xfrm>
          <a:prstGeom prst="rect">
            <a:avLst/>
          </a:prstGeom>
          <a:noFill/>
        </p:spPr>
        <p:txBody>
          <a:bodyPr wrap="square" lIns="0" rIns="0" tIns="0" bIns="0" anchor="t">
            <a:spAutoFit/>
          </a:bodyPr>
          <a:lstStyle/>
          <a:p>
            <a:pPr algn="r"/>
            <a:r>
              <a:rPr sz="1400" b="1" i="0">
                <a:solidFill>
                  <a:srgbClr val="E9A23B"/>
                </a:solidFill>
                <a:latin typeface="Calibri"/>
              </a:rPr>
              <a:t>No</a:t>
            </a:r>
          </a:p>
        </p:txBody>
      </p:sp>
      <p:sp>
        <p:nvSpPr>
          <p:cNvPr id="11" name="TextBox 10"/>
          <p:cNvSpPr txBox="1"/>
          <p:nvPr/>
        </p:nvSpPr>
        <p:spPr>
          <a:xfrm>
            <a:off x="6217920" y="2286000"/>
            <a:ext cx="5257800" cy="777240"/>
          </a:xfrm>
          <a:prstGeom prst="rect">
            <a:avLst/>
          </a:prstGeom>
          <a:noFill/>
        </p:spPr>
        <p:txBody>
          <a:bodyPr wrap="square" lIns="0" rIns="0" tIns="0" bIns="0" anchor="t">
            <a:spAutoFit/>
          </a:bodyPr>
          <a:lstStyle/>
          <a:p>
            <a:pPr algn="l"/>
            <a:r>
              <a:rPr sz="1300" b="0" i="0">
                <a:solidFill>
                  <a:srgbClr val="1E293B"/>
                </a:solidFill>
                <a:latin typeface="Calibri"/>
              </a:rPr>
              <a:t>Casi no tienen fondos: empujarles una inversión podría llevarlos a endeudarse.</a:t>
            </a:r>
          </a:p>
        </p:txBody>
      </p:sp>
      <p:sp>
        <p:nvSpPr>
          <p:cNvPr id="12" name="Rounded Rectangle 11"/>
          <p:cNvSpPr/>
          <p:nvPr/>
        </p:nvSpPr>
        <p:spPr>
          <a:xfrm>
            <a:off x="5943600" y="3264408"/>
            <a:ext cx="5715000" cy="1417320"/>
          </a:xfrm>
          <a:prstGeom prst="roundRect">
            <a:avLst>
              <a:gd name="adj" fmla="val 6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17920" y="3447288"/>
            <a:ext cx="3200400" cy="365760"/>
          </a:xfrm>
          <a:prstGeom prst="rect">
            <a:avLst/>
          </a:prstGeom>
          <a:noFill/>
        </p:spPr>
        <p:txBody>
          <a:bodyPr wrap="square" lIns="0" rIns="0" tIns="0" bIns="0" anchor="t">
            <a:spAutoFit/>
          </a:bodyPr>
          <a:lstStyle/>
          <a:p>
            <a:pPr algn="l"/>
            <a:r>
              <a:rPr sz="1700" b="1" i="0">
                <a:solidFill>
                  <a:srgbClr val="0B3C49"/>
                </a:solidFill>
                <a:latin typeface="Calibri"/>
              </a:rPr>
              <a:t>Senior</a:t>
            </a:r>
          </a:p>
        </p:txBody>
      </p:sp>
      <p:sp>
        <p:nvSpPr>
          <p:cNvPr id="14" name="TextBox 13"/>
          <p:cNvSpPr txBox="1"/>
          <p:nvPr/>
        </p:nvSpPr>
        <p:spPr>
          <a:xfrm>
            <a:off x="9326880" y="3447288"/>
            <a:ext cx="2103120" cy="365760"/>
          </a:xfrm>
          <a:prstGeom prst="rect">
            <a:avLst/>
          </a:prstGeom>
          <a:noFill/>
        </p:spPr>
        <p:txBody>
          <a:bodyPr wrap="square" lIns="0" rIns="0" tIns="0" bIns="0" anchor="t">
            <a:spAutoFit/>
          </a:bodyPr>
          <a:lstStyle/>
          <a:p>
            <a:pPr algn="r"/>
            <a:r>
              <a:rPr sz="1400" b="1" i="0">
                <a:solidFill>
                  <a:srgbClr val="1B7F79"/>
                </a:solidFill>
                <a:latin typeface="Calibri"/>
              </a:rPr>
              <a:t>Con cuidado</a:t>
            </a:r>
          </a:p>
        </p:txBody>
      </p:sp>
      <p:sp>
        <p:nvSpPr>
          <p:cNvPr id="15" name="TextBox 14"/>
          <p:cNvSpPr txBox="1"/>
          <p:nvPr/>
        </p:nvSpPr>
        <p:spPr>
          <a:xfrm>
            <a:off x="6217920" y="3858768"/>
            <a:ext cx="5257800" cy="777240"/>
          </a:xfrm>
          <a:prstGeom prst="rect">
            <a:avLst/>
          </a:prstGeom>
          <a:noFill/>
        </p:spPr>
        <p:txBody>
          <a:bodyPr wrap="square" lIns="0" rIns="0" tIns="0" bIns="0" anchor="t">
            <a:spAutoFit/>
          </a:bodyPr>
          <a:lstStyle/>
          <a:p>
            <a:pPr algn="l"/>
            <a:r>
              <a:rPr sz="1300" b="0" i="0">
                <a:solidFill>
                  <a:srgbClr val="1E293B"/>
                </a:solidFill>
                <a:latin typeface="Calibri"/>
              </a:rPr>
              <a:t>Tienen fondos, pero el 45% abandona: usar la inversión como gancho para retener a personas mayores no es ético.</a:t>
            </a:r>
          </a:p>
        </p:txBody>
      </p:sp>
      <p:sp>
        <p:nvSpPr>
          <p:cNvPr id="16" name="Rounded Rectangle 15"/>
          <p:cNvSpPr/>
          <p:nvPr/>
        </p:nvSpPr>
        <p:spPr>
          <a:xfrm>
            <a:off x="5943600" y="4837176"/>
            <a:ext cx="5715000" cy="1417320"/>
          </a:xfrm>
          <a:prstGeom prst="roundRect">
            <a:avLst>
              <a:gd name="adj" fmla="val 6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7920" y="5020056"/>
            <a:ext cx="3200400" cy="365760"/>
          </a:xfrm>
          <a:prstGeom prst="rect">
            <a:avLst/>
          </a:prstGeom>
          <a:noFill/>
        </p:spPr>
        <p:txBody>
          <a:bodyPr wrap="square" lIns="0" rIns="0" tIns="0" bIns="0" anchor="t">
            <a:spAutoFit/>
          </a:bodyPr>
          <a:lstStyle/>
          <a:p>
            <a:pPr algn="l"/>
            <a:r>
              <a:rPr sz="1700" b="1" i="0">
                <a:solidFill>
                  <a:srgbClr val="0B3C49"/>
                </a:solidFill>
                <a:latin typeface="Calibri"/>
              </a:rPr>
              <a:t>Con saldo, 2+ productos</a:t>
            </a:r>
          </a:p>
        </p:txBody>
      </p:sp>
      <p:sp>
        <p:nvSpPr>
          <p:cNvPr id="18" name="TextBox 17"/>
          <p:cNvSpPr txBox="1"/>
          <p:nvPr/>
        </p:nvSpPr>
        <p:spPr>
          <a:xfrm>
            <a:off x="9326880" y="5020056"/>
            <a:ext cx="2103120" cy="365760"/>
          </a:xfrm>
          <a:prstGeom prst="rect">
            <a:avLst/>
          </a:prstGeom>
          <a:noFill/>
        </p:spPr>
        <p:txBody>
          <a:bodyPr wrap="square" lIns="0" rIns="0" tIns="0" bIns="0" anchor="t">
            <a:spAutoFit/>
          </a:bodyPr>
          <a:lstStyle/>
          <a:p>
            <a:pPr algn="r"/>
            <a:r>
              <a:rPr sz="1400" b="1" i="0">
                <a:solidFill>
                  <a:srgbClr val="1B7F79"/>
                </a:solidFill>
                <a:latin typeface="Calibri"/>
              </a:rPr>
              <a:t>Solo asesorado</a:t>
            </a:r>
          </a:p>
        </p:txBody>
      </p:sp>
      <p:sp>
        <p:nvSpPr>
          <p:cNvPr id="19" name="TextBox 18"/>
          <p:cNvSpPr txBox="1"/>
          <p:nvPr/>
        </p:nvSpPr>
        <p:spPr>
          <a:xfrm>
            <a:off x="6217920" y="5431536"/>
            <a:ext cx="5257800" cy="777240"/>
          </a:xfrm>
          <a:prstGeom prst="rect">
            <a:avLst/>
          </a:prstGeom>
          <a:noFill/>
        </p:spPr>
        <p:txBody>
          <a:bodyPr wrap="square" lIns="0" rIns="0" tIns="0" bIns="0" anchor="t">
            <a:spAutoFit/>
          </a:bodyPr>
          <a:lstStyle/>
          <a:p>
            <a:pPr algn="l"/>
            <a:r>
              <a:rPr sz="1300" b="0" i="0">
                <a:solidFill>
                  <a:srgbClr val="1E293B"/>
                </a:solidFill>
                <a:latin typeface="Calibri"/>
              </a:rPr>
              <a:t>Ya tienen varios productos (con 3, el 83% abandona) y la mitad son alemanes por el sesgo de la muestra.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3C49"/>
        </a:solidFill>
        <a:effectLst/>
      </p:bgPr>
    </p:bg>
    <p:spTree>
      <p:nvGrpSpPr>
        <p:cNvPr id="1" name=""/>
        <p:cNvGrpSpPr/>
        <p:nvPr/>
      </p:nvGrpSpPr>
      <p:grpSpPr/>
      <p:sp>
        <p:nvSpPr>
          <p:cNvPr id="2" name="TextBox 1"/>
          <p:cNvSpPr txBox="1"/>
          <p:nvPr/>
        </p:nvSpPr>
        <p:spPr>
          <a:xfrm>
            <a:off x="731520" y="640080"/>
            <a:ext cx="10058400" cy="822960"/>
          </a:xfrm>
          <a:prstGeom prst="rect">
            <a:avLst/>
          </a:prstGeom>
          <a:noFill/>
        </p:spPr>
        <p:txBody>
          <a:bodyPr wrap="square" lIns="0" rIns="0" tIns="0" bIns="0" anchor="t">
            <a:spAutoFit/>
          </a:bodyPr>
          <a:lstStyle/>
          <a:p>
            <a:pPr algn="l"/>
            <a:r>
              <a:rPr sz="4000" b="1" i="0">
                <a:solidFill>
                  <a:srgbClr val="FFFFFF"/>
                </a:solidFill>
                <a:latin typeface="Cambria"/>
              </a:rPr>
              <a:t>Conclusiones</a:t>
            </a:r>
          </a:p>
        </p:txBody>
      </p:sp>
      <p:sp>
        <p:nvSpPr>
          <p:cNvPr id="3" name="Oval 2"/>
          <p:cNvSpPr/>
          <p:nvPr/>
        </p:nvSpPr>
        <p:spPr>
          <a:xfrm>
            <a:off x="731520" y="1783080"/>
            <a:ext cx="548640" cy="548640"/>
          </a:xfrm>
          <a:prstGeom prst="ellipse">
            <a:avLst/>
          </a:prstGeom>
          <a:solidFill>
            <a:srgbClr val="E9A2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0B3C49"/>
                </a:solidFill>
                <a:latin typeface="Calibri"/>
              </a:rPr>
              <a:t>1</a:t>
            </a:r>
          </a:p>
        </p:txBody>
      </p:sp>
      <p:sp>
        <p:nvSpPr>
          <p:cNvPr id="4" name="TextBox 3"/>
          <p:cNvSpPr txBox="1"/>
          <p:nvPr/>
        </p:nvSpPr>
        <p:spPr>
          <a:xfrm>
            <a:off x="1508760" y="1783080"/>
            <a:ext cx="4389120" cy="548640"/>
          </a:xfrm>
          <a:prstGeom prst="rect">
            <a:avLst/>
          </a:prstGeom>
          <a:noFill/>
        </p:spPr>
        <p:txBody>
          <a:bodyPr wrap="square" lIns="0" rIns="0" tIns="0" bIns="0" anchor="ctr">
            <a:spAutoFit/>
          </a:bodyPr>
          <a:lstStyle/>
          <a:p>
            <a:pPr algn="l"/>
            <a:r>
              <a:rPr sz="2000" b="1" i="0">
                <a:solidFill>
                  <a:srgbClr val="FFFFFF"/>
                </a:solidFill>
                <a:latin typeface="Cambria"/>
              </a:rPr>
              <a:t>Abandono</a:t>
            </a:r>
          </a:p>
        </p:txBody>
      </p:sp>
      <p:sp>
        <p:nvSpPr>
          <p:cNvPr id="5" name="TextBox 4"/>
          <p:cNvSpPr txBox="1"/>
          <p:nvPr/>
        </p:nvSpPr>
        <p:spPr>
          <a:xfrm>
            <a:off x="1508760" y="2423160"/>
            <a:ext cx="4434840" cy="1371600"/>
          </a:xfrm>
          <a:prstGeom prst="rect">
            <a:avLst/>
          </a:prstGeom>
          <a:noFill/>
        </p:spPr>
        <p:txBody>
          <a:bodyPr wrap="square" lIns="0" rIns="0" tIns="0" bIns="0" anchor="t">
            <a:spAutoFit/>
          </a:bodyPr>
          <a:lstStyle/>
          <a:p>
            <a:pPr algn="l"/>
            <a:r>
              <a:rPr sz="1500" b="0" i="0">
                <a:solidFill>
                  <a:srgbClr val="CBE4E2"/>
                </a:solidFill>
                <a:latin typeface="Calibri"/>
              </a:rPr>
              <a:t>Se puede anticipar: ROC-AUC 0,86, mejor que la logística y el árbol. Priorizando el recall (umbral 0,25), el Random Forest detecta el 71% de los abandonos y el 55% de sus alertas son reales.</a:t>
            </a:r>
          </a:p>
        </p:txBody>
      </p:sp>
      <p:sp>
        <p:nvSpPr>
          <p:cNvPr id="6" name="Oval 5"/>
          <p:cNvSpPr/>
          <p:nvPr/>
        </p:nvSpPr>
        <p:spPr>
          <a:xfrm>
            <a:off x="6217920" y="1783080"/>
            <a:ext cx="548640" cy="548640"/>
          </a:xfrm>
          <a:prstGeom prst="ellipse">
            <a:avLst/>
          </a:prstGeom>
          <a:solidFill>
            <a:srgbClr val="E9A2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0B3C49"/>
                </a:solidFill>
                <a:latin typeface="Calibri"/>
              </a:rPr>
              <a:t>2</a:t>
            </a:r>
          </a:p>
        </p:txBody>
      </p:sp>
      <p:sp>
        <p:nvSpPr>
          <p:cNvPr id="7" name="TextBox 6"/>
          <p:cNvSpPr txBox="1"/>
          <p:nvPr/>
        </p:nvSpPr>
        <p:spPr>
          <a:xfrm>
            <a:off x="6995159" y="1783080"/>
            <a:ext cx="4389120" cy="548640"/>
          </a:xfrm>
          <a:prstGeom prst="rect">
            <a:avLst/>
          </a:prstGeom>
          <a:noFill/>
        </p:spPr>
        <p:txBody>
          <a:bodyPr wrap="square" lIns="0" rIns="0" tIns="0" bIns="0" anchor="ctr">
            <a:spAutoFit/>
          </a:bodyPr>
          <a:lstStyle/>
          <a:p>
            <a:pPr algn="l"/>
            <a:r>
              <a:rPr sz="2000" b="1" i="0">
                <a:solidFill>
                  <a:srgbClr val="FFFFFF"/>
                </a:solidFill>
                <a:latin typeface="Cambria"/>
              </a:rPr>
              <a:t>Saldo</a:t>
            </a:r>
          </a:p>
        </p:txBody>
      </p:sp>
      <p:sp>
        <p:nvSpPr>
          <p:cNvPr id="8" name="TextBox 7"/>
          <p:cNvSpPr txBox="1"/>
          <p:nvPr/>
        </p:nvSpPr>
        <p:spPr>
          <a:xfrm>
            <a:off x="6995159" y="2423160"/>
            <a:ext cx="4434840" cy="1371600"/>
          </a:xfrm>
          <a:prstGeom prst="rect">
            <a:avLst/>
          </a:prstGeom>
          <a:noFill/>
        </p:spPr>
        <p:txBody>
          <a:bodyPr wrap="square" lIns="0" rIns="0" tIns="0" bIns="0" anchor="t">
            <a:spAutoFit/>
          </a:bodyPr>
          <a:lstStyle/>
          <a:p>
            <a:pPr algn="l"/>
            <a:r>
              <a:rPr sz="1500" b="0" i="0">
                <a:solidFill>
                  <a:srgbClr val="CBE4E2"/>
                </a:solidFill>
                <a:latin typeface="Calibri"/>
              </a:rPr>
              <a:t>No se puede proyectar el monto con estas variables: el modelo solo distingue, a medias, quién tiene saldo. Explica entre 13% y 21% sin depender del país.</a:t>
            </a:r>
          </a:p>
        </p:txBody>
      </p:sp>
      <p:sp>
        <p:nvSpPr>
          <p:cNvPr id="9" name="Oval 8"/>
          <p:cNvSpPr/>
          <p:nvPr/>
        </p:nvSpPr>
        <p:spPr>
          <a:xfrm>
            <a:off x="731520" y="4023360"/>
            <a:ext cx="548640" cy="548640"/>
          </a:xfrm>
          <a:prstGeom prst="ellipse">
            <a:avLst/>
          </a:prstGeom>
          <a:solidFill>
            <a:srgbClr val="E9A2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0B3C49"/>
                </a:solidFill>
                <a:latin typeface="Calibri"/>
              </a:rPr>
              <a:t>3</a:t>
            </a:r>
          </a:p>
        </p:txBody>
      </p:sp>
      <p:sp>
        <p:nvSpPr>
          <p:cNvPr id="10" name="TextBox 9"/>
          <p:cNvSpPr txBox="1"/>
          <p:nvPr/>
        </p:nvSpPr>
        <p:spPr>
          <a:xfrm>
            <a:off x="1508760" y="4023360"/>
            <a:ext cx="4389120" cy="548640"/>
          </a:xfrm>
          <a:prstGeom prst="rect">
            <a:avLst/>
          </a:prstGeom>
          <a:noFill/>
        </p:spPr>
        <p:txBody>
          <a:bodyPr wrap="square" lIns="0" rIns="0" tIns="0" bIns="0" anchor="ctr">
            <a:spAutoFit/>
          </a:bodyPr>
          <a:lstStyle/>
          <a:p>
            <a:pPr algn="l"/>
            <a:r>
              <a:rPr sz="2000" b="1" i="0">
                <a:solidFill>
                  <a:srgbClr val="FFFFFF"/>
                </a:solidFill>
                <a:latin typeface="Cambria"/>
              </a:rPr>
              <a:t>Segmentos</a:t>
            </a:r>
          </a:p>
        </p:txBody>
      </p:sp>
      <p:sp>
        <p:nvSpPr>
          <p:cNvPr id="11" name="TextBox 10"/>
          <p:cNvSpPr txBox="1"/>
          <p:nvPr/>
        </p:nvSpPr>
        <p:spPr>
          <a:xfrm>
            <a:off x="1508760" y="4663440"/>
            <a:ext cx="4434840" cy="1371600"/>
          </a:xfrm>
          <a:prstGeom prst="rect">
            <a:avLst/>
          </a:prstGeom>
          <a:noFill/>
        </p:spPr>
        <p:txBody>
          <a:bodyPr wrap="square" lIns="0" rIns="0" tIns="0" bIns="0" anchor="t">
            <a:spAutoFit/>
          </a:bodyPr>
          <a:lstStyle/>
          <a:p>
            <a:pPr algn="l"/>
            <a:r>
              <a:rPr sz="1500" b="0" i="0">
                <a:solidFill>
                  <a:srgbClr val="CBE4E2"/>
                </a:solidFill>
                <a:latin typeface="Calibri"/>
              </a:rPr>
              <a:t>Cuatro grupos útiles para campañas. Los clientes senior son el grupo de mayor riesgo (45% de abandono).</a:t>
            </a:r>
          </a:p>
        </p:txBody>
      </p:sp>
      <p:sp>
        <p:nvSpPr>
          <p:cNvPr id="12" name="Oval 11"/>
          <p:cNvSpPr/>
          <p:nvPr/>
        </p:nvSpPr>
        <p:spPr>
          <a:xfrm>
            <a:off x="6217920" y="4023360"/>
            <a:ext cx="548640" cy="548640"/>
          </a:xfrm>
          <a:prstGeom prst="ellipse">
            <a:avLst/>
          </a:prstGeom>
          <a:solidFill>
            <a:srgbClr val="E9A2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0B3C49"/>
                </a:solidFill>
                <a:latin typeface="Calibri"/>
              </a:rPr>
              <a:t>4</a:t>
            </a:r>
          </a:p>
        </p:txBody>
      </p:sp>
      <p:sp>
        <p:nvSpPr>
          <p:cNvPr id="13" name="TextBox 12"/>
          <p:cNvSpPr txBox="1"/>
          <p:nvPr/>
        </p:nvSpPr>
        <p:spPr>
          <a:xfrm>
            <a:off x="6995159" y="4023360"/>
            <a:ext cx="4389120" cy="548640"/>
          </a:xfrm>
          <a:prstGeom prst="rect">
            <a:avLst/>
          </a:prstGeom>
          <a:noFill/>
        </p:spPr>
        <p:txBody>
          <a:bodyPr wrap="square" lIns="0" rIns="0" tIns="0" bIns="0" anchor="ctr">
            <a:spAutoFit/>
          </a:bodyPr>
          <a:lstStyle/>
          <a:p>
            <a:pPr algn="l"/>
            <a:r>
              <a:rPr sz="2000" b="1" i="0">
                <a:solidFill>
                  <a:srgbClr val="FFFFFF"/>
                </a:solidFill>
                <a:latin typeface="Cambria"/>
              </a:rPr>
              <a:t>Datos</a:t>
            </a:r>
          </a:p>
        </p:txBody>
      </p:sp>
      <p:sp>
        <p:nvSpPr>
          <p:cNvPr id="14" name="TextBox 13"/>
          <p:cNvSpPr txBox="1"/>
          <p:nvPr/>
        </p:nvSpPr>
        <p:spPr>
          <a:xfrm>
            <a:off x="6995159" y="4663440"/>
            <a:ext cx="4434840" cy="1371600"/>
          </a:xfrm>
          <a:prstGeom prst="rect">
            <a:avLst/>
          </a:prstGeom>
          <a:noFill/>
        </p:spPr>
        <p:txBody>
          <a:bodyPr wrap="square" lIns="0" rIns="0" tIns="0" bIns="0" anchor="t">
            <a:spAutoFit/>
          </a:bodyPr>
          <a:lstStyle/>
          <a:p>
            <a:pPr algn="l"/>
            <a:r>
              <a:rPr sz="1500" b="0" i="0">
                <a:solidFill>
                  <a:srgbClr val="CBE4E2"/>
                </a:solidFill>
                <a:latin typeface="Calibri"/>
              </a:rPr>
              <a:t>Alemania no tiene clientes con saldo 0 (probable sesgo de muestreo) y el dataset no trae fechas, lo que limita las conclusiones.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