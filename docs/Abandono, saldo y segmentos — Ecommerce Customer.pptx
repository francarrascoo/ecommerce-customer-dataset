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idea central, antes de cualquier gráfico: con este dataset se puede anticipar razonablemente quién va a abandonar (ROC-AUC 0,86 en prueba), pero el saldo de un cliente prácticamente no se puede proyectar, y buena parte de lo que parecía predecible venía de un sesgo de muestreo. La presentación sigue el orden CRISP-DM de los notebooks: auditoría y EDA, preparación, modelos supervisados y, al final, la segmentación con K-Means. Duración objetivo: ~10 minutos, menos de 1 minuto por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respuesta completa en una lámina; el resto la respalda. 1) Clasificación de Exited: Random Forest, ROC-AUC 0,862 y PR-AUC 0,703 en prueba (azar = 0,204). Con umbral 0,35: recall 0,60, precisión 0,65, F1 0,62. 2) Regresión de Balance: R² de 0,33 en prueba, pero sin la variable país cae a 0,13; en Francia/España el modelo con país explica 0,21. De ahí el rango honesto de 13–21%. 3) Clustering: K-Means con K = 4 sobre 6 variables numéricas escaladas. El segmento Senior (edad promedio 59) abandona 45,4%. Mensaje: la misma base de datos da un problema bien resuelto, uno que no se puede resolver con estas variables, y una segmentación que confirma el EDA sin usar la etiqueta.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modelar, la auditoría revisó duplicados, nulos, rangos y outliers (todo limpio) y puso a prueba cada patrón demasiado limpio para ser natural. Hallazgo clave: Francia y España tienen ~48% de clientes con saldo 0; Alemania, ninguno (saldo mínimo 27.288). Entre los clientes con saldo, el promedio es el mismo en los tres países (~120.000), así que no es que los alemanes tengan más dinero. Lo más plausible es que de Alemania solo se incluyeran clientes con saldo. No se puede corregir eliminando filas: se documenta y se mide su efecto en la regresión (lámina 10). Alemania además abandona más (32,4% vs ~16,5%), y esa diferencia se mantiene al comparar clientes parecidos (1,6 a 2,2 veces más dentro de cada grupo de edad, actividad y productos), por eso sí se usa como predictor en clasificación, con la duda documentada. Fuga temporal: el dataset es una foto sin fechas. Si NumOfProducts o IsActiveMember se registraron después del abandono, las métricas de clasificación serían optimistas. Se conservan porque son muy informativas, pero queda como limitación.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relación no es ordinal: 27,7% con 1 producto, 7,6% con 2, 82,7% con 3 y 100% con 4. Pasar de 1 a 2 reduce el abandono a menos de un tercio; pasar a 3 lo multiplica por 11. Por eso la correlación de Pearson con Exited es -0,05: el efecto negativo de 2 productos (r = -0,29 en la columna one-hot) y el positivo de 3 (r = +0,26) se cancelan cuando la variable se trata como número. Implicancia: one-hot con drop='first'. Los grupos de 3 y 4 productos son chicos (326 clientes, 3,3% de la cartera), así que son un grupo de riesgo casi seguro, pero también el principal sospechoso de fuga temporal (lámina anterior). Si preguntan por el desbalance: 20,4% de abandono, por eso la partición es estratificada y no se usa accuracy como métrica principal (predecir siempre "se mantiene" da 79,6%).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abandono sube de 7,5% (18–30) a 56,2% (51–60) y vuelve a caer: 31,4% entre 61 y 70 y 8,3% sobre 70. Una relación así no la captura bien un término lineal en Age. Solución: distancia_edad_riesgo = |Age − centro|. Se barrieron centros entre 40 y 65 y se eligió el que maximiza |r| con Exited. En el EDA dio ~54–56 con los 10.000 clientes; como el centro se elige mirando el target, es un parámetro aprendido, así que en preprocesamiento se recalcula solo con el entrenamiento: vuelve a dar 55. r pasa de +0,28 (Age) a −0,36 (distancia). Age y la distancia correlacionan −0,82, bajo el umbral de 0,9 del filtro: se conservan ambas. Matiz honesto: en la validación cruzada de modelamiento ese centro se calculó con todo el entrenamiento (incluida la parte de validación de cada partición). Es un solo número y coincide con el del EDA, pero deja la CV levemente optimista; la prueba no se ve afectada. Los outliers de Age (3,59% sobre ~62 años) no se recortan: son justamente los que abandonan menos, y un winsorizer los fusionaría con el grupo de mayor riesgo. Interacción: 18–40 años, inactivo 13,5% vs activo 7,9%; sobre 60, 82,0% vs 11,2% (solo 89 inactivos mayores de 60: la cifra exacta es menos precisa que la tendencia).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hilo de esta lámina es evitar data leakage en cada paso. - Partición antes de ajustar cualquier transformador. Una sola partición 80/20 estratificada (8.000 / 2.000), reutilizada para clasificación y regresión. - Imputación por mediana aunque no hay nulos: deja el pipeline seguro ante datos nuevos; mediana porque Balance es bimodal (36% en 0) y su media no representa a ningún cliente real. - drop='first' evita la trampa de las dummies en la regresión lineal. Combinado con handle_unknown='ignore' sería peligroso: un país nuevo quedaría codificado igual que la categoría eliminada (Francia), sin aviso. Por eso 'error'; se comprobó con un cliente ficticio de Italia: el pipeline se detiene. - CorrelationFilter (BaseEstimator + TransformerMixin) aprende en fit qué columnas eliminar. Descartó tiene_saldo en clasificación (r = 0,92 con Balance); en regresión no descarta nada. - Regresión: se excluyen Balance, tiene_saldo (derivada del target) y Exited (posterior al saldo). Búsqueda: el escalado, el one-hot y el filtro se reajustan dentro de cada partición. GridSearch para la logística porque el espacio es chico; RandomizedSearch para el Random Forest porque son miles de combinaciones. refit='PR-AUC' por ser la métrica más informativa con clases desbalanceadas. Resultado de la búsqueda: logística C = 10, l1 (pero C = 1 ya daba lo mismo al cuarto decimal); RF 513 árboles, max_depth 10, min_samples_leaf 1, max_features 'sqrt'. Las 30 combinaciones del RF quedan entre 0,663 y 0,684 de PR-AUC: es poco sensible a sus hiperparámetros.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modelos se evalúan con las mismas 5 particiones, lo que permite una comparación pareada: restar los puntajes en cada partición. Por qué no basta con mirar media ± desviación: la desviación entre particiones (0,012–0,023) mide sobre todo qué tan difícil le tocó cada partición, y esa dificultad la comparten ambos modelos. La diferencia pareada es positiva en las 5 particiones. Por qué la corrección de Nadeau y Bengio (2003): las 5 particiones comparten gran parte del entrenamiento, así que los puntajes no son independientes y la t clásica exageraría la confianza. Con la corrección: t = 3,72, p = 0,020 (ROC-AUC); t = 2,98, p = 0,041 (PR-AUC). Cautela: la ventaja puede estar algo inflada, porque el RF se eligió entre 30 combinaciones y la logística entre 12 (la mejor de muchas queda un poco sobre lo que logrará con datos nuevos). La prueba (lámina 9) lo confirma: 0,862 vs 0,850. La logística sigue siendo razonable si se prioriza explicar cada predicción. Con el mismo recall, el RF tiene más precisión en todos los niveles (0,5 a 2,1 puntos entre recall 0,60 y 0,80).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Decisión técnica central del notebook: el desbalance (20,4%) no se corrige con class_weight='balanced' sino con el umbral. Calibración (predicciones fuera de pliegue): sin class_weight, la probabilidad media es 0,204 (logística) y 0,203 (RF), igual a la tasa real. Con 'balanced' sube a 0,391 y 0,318, el Brier empeora (0,108 → 0,155 y 0,105 → 0,124) y el ROC-AUC no mejora (0,848 → 0,848; 0,858 → 0,854). Es decir, class_weight solo desplaza las probabilidades hacia arriba, que es equivalente a bajar el umbral, pero se pierde la interpretación probabilística. El umbral se elige con predicciones out-of-fold sobre el entrenamiento, maximizando F1 en pasos de 0,05: 0,35 para el RF (0,30 para la logística). F1 es casi plano entre 0,25 y 0,35 (0,608–0,615), así que dentro de ese rango manda el negocio. Lectura de la tabla: con 0,20 se detecta el 76% de los abandonos, pero se alerta a un tercio de la cartera y menos de la mitad de las alertas son reales; con 0,50, 78% de las alertas son reales pero solo se detecta el 44%. Si se conocieran los costos (perder un cliente vs una acción de retención), se minimizaría el costo esperado en vez de maximizar F1; scikit-learn 1.5+ trae TunedThresholdClassifierCV para 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hiperparámetros, modelo y umbral ya decididos en validación cruzada, la prueba se usa una sola vez. Random Forest (umbral 0,35): ROC-AUC 0,862, PR-AUC 0,703, Brier 0,103, accuracy 0,851, precisión 0,645, recall 0,595, F1 0,619. Logística (umbral 0,30): ROC-AUC 0,850, PR-AUC 0,684, Brier 0,106, accuracy 0,827, precisión 0,565, recall 0,654, F1 0,606. Las métricas de prueba quedan dentro del rango de la CV (PR-AUC 0,703 vs 0,684 ± 0,023): no hay señales de sobreajuste ni de que la búsqueda de hiperparámetros haya inflado la validación. Matriz de confusión del RF: 242 VP, 165 FN, 133 FP, 1.460 VN. La logística detecta 24 abandonos más (266) a cambio de 72 falsas alarmas más (205): es consecuencia de que cada umbral se eligió por F1, no de que sea mejor modelo. Referencia: predecir siempre "se mantiene" da accuracy 0,796 y recall 0. Importancia de variables (si preguntan): distancia_edad_riesgo, Age, NumOfProducts_2, Balance y NumOfProducts_3 son las más usadas, coherente con el EDA. Ojo: es importancia por impureza, que favorece variables continuas con muchos valores; por eso CreditScore y EstimatedSalary aparecen sobre IsActiveMember aunque el EDA mostró que no cambian el abandono. La importancia por permutación sería la verificación natural.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vuelve el sesgo de la lámina 3. Balance tiene distribución inflada en cero (36,2% exactamente 0; el resto ~normal en torno a 120.000), y la variable más relacionada es Geography_Germany (r = 0,40). Diseño: cada modelo se evalúa con y sin Geography; el RF se ajusta por separado en cada versión (RandomizedSearchCV, KFold de 5). Líneas base: la mediana para el MAE (54.499 en CV) y el promedio para RMSE y R² (R² = 0). Usar el promedio como referencia del MAE habría exagerado la mejora. Resultados CV: RF con país R² 0,320 (MAE 41.321); sin país 0,132. Lineal 0,281 → 0,134. En prueba: RF con país R² 0,327, MAE 41.230; sin país R² 0,132, MAE 50.446. R² por grupo en prueba (RF con país): Alemania −0,008 (no sabe qué alemán tiene más saldo, solo que en promedio tienen), Francia/España 0,207. Sin país, Alemania cae a −3,40. De ahí la estimación honesta: 13–21%. Lo que realmente aprende: a clientes con saldo 0 les predice en promedio ~47.000 y a los que tienen ~121.000 les predice ~93.000. Correlación predicción–real: 0,57 en total, −0,02 entre los que tienen saldo. El R² mide la separación entre saldo 0 y saldo positivo, no la estimación de montos. Conclusión: el objetivo de la guía (proyectar el volumen de fondos de un cliente) no se puede cumplir con estas variables. Propuesta para seguir (no está implementada en el repo): un modelo en dos partes, clasificador de "tiene saldo" + regresión del monto solo en quienes tienen.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2.3.2, no supervisada. Variables: CreditScore, Age, Tenure, Balance, NumOfProducts y EstimatedSalary, escaladas con StandardScaler. Se excluyen identificadores, categóricas (Geography, Gender: distancia sin sentido), binarias (dominarían la distancia) y Exited (se usa solo para describir los grupos después). Elección de K: la inercia no tiene un codo marcado; la mayor caída es de 1 a 2 (−10.145) y luego −4.857, −3.980, −2.928. K = 2 tiene el mayor Silhouette (0,179), pero solo separa con/sin saldo, algo ya conocido. Entre 3 y 10, K = 4 es el mayor (0,170). Con K = 3 los tres grupos tienen 38–40 años de promedio; K = 4 separa además a los mayores. El abandono no se usó para elegir K. Robustez: con n_init = 10, las semillas 1, 2 y 3 llegan a particiones distintas (ARI 0,44–0,46) con inercia apenas mayor (&lt;0,5%): hay varias soluciones casi igual de buenas. Con 300 inicializaciones las 5 semillas coinciden (ARI ≥ 0,996). PCA a 2 componentes conserva 38,7% de la varianza (21,9 + 16,9): solo el grupo sin saldo se ve separado. Perfiles: Senior 59 años, saldo medio ~77.100, 64% activos, 45,4% abandono. Con saldo 1 producto: ~121.000, 20,7%. Con saldo 2+ productos: ~121.000, 20,6%, y es 52,6% alemán (efecto del sesgo: en Francia/España quien tiene 2 productos suele no tener saldo). Sin saldo: 98% en 0, 9,8% abandono. Puntaje, salario y antigüedad no diferencian a ningún segmento. Desafío ético: el producto de inversión va a "Con saldo, 1 producto" (tiene fondos, amplía una relación de un solo producto, y es el segmento más grande y menos afectado por el sesgo). No a Sin saldo (riesgo de endeudamiento), no a Senior como blanco masivo (usar la inversión como gancho de retención con personas mayores exige especial cuidado), no a 2+ productos de forma masiva (3 o más productos se asocia a 82–100% de abandono).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volviendo a la idea de la portada. 1) Clasificación: problema bien resuelto con un pipeline sin fugas; la diferencia entre modelos es real pero chica, y lo que define el resultado operativo es el umbral. 2) Regresión: el resultado negativo también es un resultado. Medir con y sin país evitó reportar un R² de 0,33 que en realidad dependía de un artefacto de muestreo. 3) Clustering: sin usar la etiqueta, aparecen las mismas variables que el EDA marcó (edad, saldo, productos). Limitaciones a reconocer antes de que las pregunten: - Sesgo de Alemania: no corregible con estos datos. - Fuga temporal posible en NumOfProducts e IsActiveMember: si se confirmara, las métricas de clasificación serían optimistas. - Centro de la edad calculado con todo el entrenamiento en la CV: CV levemente optimista (la prueba no se afecta). - Umbral elegido por F1 a falta de costos. - Importancia por impureza, no por permutación. - Gender (mujeres 25,1% vs hombres 16,5%) se usa como predictor: puede implicar trato diferenciado. Nota: el modelo en dos partes para el saldo es una propuesta de trabajo futuro, no algo implementado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894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26580"/>
            <a:ext cx="10566400" cy="371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MLY1101 MACHINE LEARNING · DUOC UC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20640"/>
            <a:ext cx="10883392" cy="125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Podemos anticipar quién se va.</a:t>
            </a:r>
            <a:endParaRPr lang="en-US" sz="4400" dirty="0"/>
          </a:p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cuánto saldo tiene.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903960"/>
            <a:ext cx="850265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Clasificación del abandono, regresión del saldo y segmentación de 10.000 clientes del Ecommerce Customer Dataset.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58318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Felipe Ahumada · Laboratorio 2.2.2 y actividad 2.3.2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Tres preguntas sobre 10.000 clientes, tres respuestas de distinta solidez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29755"/>
            <a:ext cx="3380284" cy="2752030"/>
          </a:xfrm>
          <a:prstGeom prst="roundRect">
            <a:avLst>
              <a:gd name="adj" fmla="val 3576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586930"/>
            <a:ext cx="29519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CLASIFICACIÓN · EXITED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90185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¿Quién abandona?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3150" y="3308251"/>
            <a:ext cx="295191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0,86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73150" y="4024511"/>
            <a:ext cx="295191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 en prueba. Detecta 6 de cada 10 abandonos con el umbral 0,35.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05809" y="2329755"/>
            <a:ext cx="3380333" cy="2752030"/>
          </a:xfrm>
          <a:prstGeom prst="roundRect">
            <a:avLst>
              <a:gd name="adj" fmla="val 3576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2984" y="2586930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REGRESIÓN · BALANCE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2984" y="2901851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¿Cuánto saldo tiene?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2984" y="3308251"/>
            <a:ext cx="2951963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13–21%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62984" y="4024511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 saldo explicado, una vez descontado el sesgo de muestreo de Alemania.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5692" y="2329755"/>
            <a:ext cx="3380333" cy="2752030"/>
          </a:xfrm>
          <a:prstGeom prst="roundRect">
            <a:avLst>
              <a:gd name="adj" fmla="val 3576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2867" y="2586930"/>
            <a:ext cx="29519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CLUSTERING · K-MEANS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52867" y="2901851"/>
            <a:ext cx="2951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¿Qué grupos existen?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52867" y="3308251"/>
            <a:ext cx="2951963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252867" y="4024511"/>
            <a:ext cx="295196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abandono en el segmento Senior, más del doble del promedio (20,4%).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5700"/>
            <a:ext cx="513367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Ecommerce Customer Dataset · 10.000 clientes · 13 columnas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AUDITORÍA DE DATOS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Ningún cliente alemán tiene saldo 0: el dataset trae un sesgo de muestreo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60172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Clientes con saldo exactamente 0, por país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851051"/>
            <a:ext cx="1066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Francia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55800" y="2806601"/>
            <a:ext cx="3181350" cy="3556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7" name="Text 5"/>
          <p:cNvSpPr/>
          <p:nvPr/>
        </p:nvSpPr>
        <p:spPr>
          <a:xfrm>
            <a:off x="5264150" y="2717701"/>
            <a:ext cx="49951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48,2%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39867" y="2771080"/>
            <a:ext cx="8657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2.418 de 5.014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562251"/>
            <a:ext cx="1066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España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55800" y="3517801"/>
            <a:ext cx="3194050" cy="3556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1" name="Text 9"/>
          <p:cNvSpPr/>
          <p:nvPr/>
        </p:nvSpPr>
        <p:spPr>
          <a:xfrm>
            <a:off x="5276850" y="3428901"/>
            <a:ext cx="49500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48,4%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48052" y="3482280"/>
            <a:ext cx="8575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1.199 de 2.477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4140101"/>
            <a:ext cx="1066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Alemania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55800" y="4140101"/>
            <a:ext cx="562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51261" y="4166791"/>
            <a:ext cx="8911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 de 2.509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584601"/>
            <a:ext cx="60172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una población real de 2.509 clientes, que ninguno tenga saldo 0 es muy improbable.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61200" y="2326580"/>
            <a:ext cx="44475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es riqueza: es selección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61200" y="270758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 quienes tienen saldo, el promedio es ~120.000 en los tres países. Un modelo de saldo aprenderá «alemán = tiene saldo».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1200" y="3761680"/>
            <a:ext cx="444754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Segundo riesgo: fuga temporal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61200" y="4142680"/>
            <a:ext cx="444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4 productos abandona el 100% (60 de 60). Sin fechas, no se puede descartar que NumOfProducts se registrara después de la salida.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5700"/>
            <a:ext cx="445811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analisis_exploratorio.ipynb, secciones 2.7–2.9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HALLAZGO 1 · ABANDONO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abandono cae con 2 productos y se dispara con 3 o más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Tasa de abandono según cantidad de productos contratados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5794871"/>
            <a:ext cx="5715000" cy="0"/>
          </a:xfrm>
          <a:prstGeom prst="line">
            <a:avLst/>
          </a:prstGeom>
          <a:noFill/>
          <a:ln w="12700">
            <a:solidFill>
              <a:srgbClr val="5F66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4618" y="415915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27,7%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4502051"/>
            <a:ext cx="1143000" cy="56515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8" name="Text 6"/>
          <p:cNvSpPr/>
          <p:nvPr/>
        </p:nvSpPr>
        <p:spPr>
          <a:xfrm>
            <a:off x="1282700" y="5143401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9970" y="5575201"/>
            <a:ext cx="788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= 5.084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50998" y="4571901"/>
            <a:ext cx="562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7,6%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60600" y="4914801"/>
            <a:ext cx="1143000" cy="1524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2" name="Text 10"/>
          <p:cNvSpPr/>
          <p:nvPr/>
        </p:nvSpPr>
        <p:spPr>
          <a:xfrm>
            <a:off x="2730500" y="5143401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37770" y="5575201"/>
            <a:ext cx="7886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= 4.590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0218" y="304155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82,7%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708400" y="3384451"/>
            <a:ext cx="1143000" cy="168275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16" name="Text 14"/>
          <p:cNvSpPr/>
          <p:nvPr/>
        </p:nvSpPr>
        <p:spPr>
          <a:xfrm>
            <a:off x="4178300" y="5143401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65337" y="5575201"/>
            <a:ext cx="6291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= 266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9438" y="2692301"/>
            <a:ext cx="83647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100,0%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156200" y="3035201"/>
            <a:ext cx="1143000" cy="20320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20" name="Text 18"/>
          <p:cNvSpPr/>
          <p:nvPr/>
        </p:nvSpPr>
        <p:spPr>
          <a:xfrm>
            <a:off x="5626100" y="5143401"/>
            <a:ext cx="203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67970" y="5575201"/>
            <a:ext cx="5194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 = 60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34200" y="2886621"/>
            <a:ext cx="4578350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 = −0,05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934200" y="3653681"/>
            <a:ext cx="457835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Correlación lineal de NumOfProducts con Exited: casi nula, aunque es la variable más informativa. Los efectos de 2 y de 3 productos se anulan.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46900" y="4606181"/>
            <a:ext cx="0" cy="635000"/>
          </a:xfrm>
          <a:prstGeom prst="line">
            <a:avLst/>
          </a:prstGeom>
          <a:noFill/>
          <a:ln w="25400">
            <a:solidFill>
              <a:srgbClr val="B34A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12000" y="4656981"/>
            <a:ext cx="43952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Decisión:</a:t>
            </a: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NumOfProducts entra como categórica (one-hot), no como número.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2800" y="6235700"/>
            <a:ext cx="658463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analisis_exploratorio.ipynb, sección 4.2 · promedio de abandono: 20,4%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HALLAZGO 2 · ABANDONO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abandono sigue una U invertida con la edad: máximo entre 51 y 60 años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Tasa de abandono por tramo de edad (años) · n bajo cada tramo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5636121"/>
            <a:ext cx="5715000" cy="0"/>
          </a:xfrm>
          <a:prstGeom prst="line">
            <a:avLst/>
          </a:prstGeom>
          <a:noFill/>
          <a:ln w="12700">
            <a:solidFill>
              <a:srgbClr val="5F66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9998" y="4394101"/>
            <a:ext cx="562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7,5%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4737001"/>
            <a:ext cx="736600" cy="26035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8" name="Text 6"/>
          <p:cNvSpPr/>
          <p:nvPr/>
        </p:nvSpPr>
        <p:spPr>
          <a:xfrm>
            <a:off x="839569" y="5073551"/>
            <a:ext cx="6830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18–30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6729" y="5416451"/>
            <a:ext cx="4886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1.968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2018" y="422900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12,1%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03400" y="4571901"/>
            <a:ext cx="736600" cy="42545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2" name="Text 10"/>
          <p:cNvSpPr/>
          <p:nvPr/>
        </p:nvSpPr>
        <p:spPr>
          <a:xfrm>
            <a:off x="1830169" y="5073551"/>
            <a:ext cx="6830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31–40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27329" y="5416451"/>
            <a:ext cx="4886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4.451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12618" y="346700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34,0%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94000" y="3809901"/>
            <a:ext cx="736600" cy="118745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6" name="Text 14"/>
          <p:cNvSpPr/>
          <p:nvPr/>
        </p:nvSpPr>
        <p:spPr>
          <a:xfrm>
            <a:off x="2820769" y="5073551"/>
            <a:ext cx="6830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41–50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17929" y="5416451"/>
            <a:ext cx="4886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2.320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03218" y="269230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56,2%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84600" y="3035201"/>
            <a:ext cx="736600" cy="196215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20" name="Text 18"/>
          <p:cNvSpPr/>
          <p:nvPr/>
        </p:nvSpPr>
        <p:spPr>
          <a:xfrm>
            <a:off x="3811369" y="5073551"/>
            <a:ext cx="6830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51–60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88296" y="541645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797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3818" y="355590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31,4%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75200" y="3898801"/>
            <a:ext cx="736600" cy="109855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24" name="Text 22"/>
          <p:cNvSpPr/>
          <p:nvPr/>
        </p:nvSpPr>
        <p:spPr>
          <a:xfrm>
            <a:off x="4801969" y="5073551"/>
            <a:ext cx="6830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61–70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78896" y="541645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331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998" y="4362351"/>
            <a:ext cx="562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8,3%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765800" y="4705251"/>
            <a:ext cx="736600" cy="2921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28" name="Text 26"/>
          <p:cNvSpPr/>
          <p:nvPr/>
        </p:nvSpPr>
        <p:spPr>
          <a:xfrm>
            <a:off x="5928360" y="5073551"/>
            <a:ext cx="4114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71+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969496" y="5416451"/>
            <a:ext cx="3292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34200" y="2326580"/>
            <a:ext cx="457835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Nueva variable: distancia a la edad de mayor riesgo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6900" y="3126680"/>
          <a:ext cx="4432300" cy="1238250"/>
        </p:xfrm>
        <a:graphic>
          <a:graphicData uri="http://schemas.openxmlformats.org/drawingml/2006/table">
            <a:tbl>
              <a:tblPr/>
              <a:tblGrid>
                <a:gridCol w="2659380"/>
                <a:gridCol w="177292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230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Variable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230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r con Exited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230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Age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230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+0,28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34A18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|Age − 55|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34A18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−0,36</a:t>
                      </a:r>
                      <a:endParaRPr lang="en-US" sz="15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6934200" y="4542730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Centro (55) recalculado solo con el entrenamiento, después de la partición.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34200" y="5147171"/>
            <a:ext cx="45783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Sobre 60 años: inactivo 82% vs. activo 11%, una interacción que justifica probar árboles.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12800" y="6235700"/>
            <a:ext cx="7240429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analisis_exploratorio.ipynb, secciones 4.3–4.4 · preprocesamiento.ipynb, paso 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 lo que se aprende de los datos se ajusta solo con el entrenamiento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278955"/>
            <a:ext cx="2292350" cy="1520031"/>
          </a:xfrm>
          <a:prstGeom prst="roundRect">
            <a:avLst>
              <a:gd name="adj" fmla="val 6475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1550" y="2459930"/>
            <a:ext cx="20406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Partición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1550" y="2764730"/>
            <a:ext cx="204063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80/20 estratificada por Exited (20,4% en ambos); la misma para los dos problemas.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2962771"/>
            <a:ext cx="254000" cy="152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71875" y="2278955"/>
            <a:ext cx="2292350" cy="1520031"/>
          </a:xfrm>
          <a:prstGeom prst="roundRect">
            <a:avLst>
              <a:gd name="adj" fmla="val 6475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27450" y="2459930"/>
            <a:ext cx="20406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de edad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727450" y="2764730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|Age − 55|, con el centro buscado solo en el entrenamiento.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962771"/>
            <a:ext cx="254000" cy="1524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27775" y="2278955"/>
            <a:ext cx="2292350" cy="1520031"/>
          </a:xfrm>
          <a:prstGeom prst="roundRect">
            <a:avLst>
              <a:gd name="adj" fmla="val 6475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83350" y="2459930"/>
            <a:ext cx="20406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ColumnTransformer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83350" y="2764730"/>
            <a:ext cx="204063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Mediana + StandardScaler; one-hot que se detiene ante categorías nuevas.</a:t>
            </a:r>
            <a:endParaRPr lang="en-US" sz="12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2962771"/>
            <a:ext cx="254000" cy="1524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83675" y="2278955"/>
            <a:ext cx="2292350" cy="1520031"/>
          </a:xfrm>
          <a:prstGeom prst="roundRect">
            <a:avLst>
              <a:gd name="adj" fmla="val 6475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239250" y="2459930"/>
            <a:ext cx="204063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CorrelationFilter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39250" y="2764730"/>
            <a:ext cx="2040636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Transformador propio (umbral 0,9): descarta tiene_saldo, r = 0,92 con Balance.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2800" y="4068862"/>
            <a:ext cx="10566400" cy="0"/>
          </a:xfrm>
          <a:prstGeom prst="line">
            <a:avLst/>
          </a:prstGeom>
          <a:noFill/>
          <a:ln w="25400">
            <a:solidFill>
              <a:srgbClr val="B34A1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12800" y="4233962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búsqueda de hiperparámetros recorre el pipeline completo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12800" y="4589562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A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GridSearchCV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2800" y="4853682"/>
            <a:ext cx="34184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Regresión logística: 12 combinaciones de C × penalización (l1, l2).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436517" y="4589562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A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RandomizedSearchCV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436517" y="4853682"/>
            <a:ext cx="3418535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Forest: 30 combinaciones de n_estimators, max_depth, min_samples_leaf y max_features.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060283" y="4589562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A1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StratifiedKFold(5)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060283" y="4853682"/>
            <a:ext cx="341848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mismas 5 particiones para ambos modelos · refit por PR-AUC · la prueba se usa una sola vez.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12800" y="6235700"/>
            <a:ext cx="5526822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preprocesamiento.ipynb · modelamiento.ipynb, sección 2.1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CLASIFICACIÓN · SELECCIÓN DE MODELO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Random Forest gana en las 5 particiones, pero por poco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54940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 del Random Forest menos ROC-AUC de la logística, en cada partición de la validación cruzada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931021"/>
            <a:ext cx="119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Partición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362821"/>
            <a:ext cx="119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Partición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3794621"/>
            <a:ext cx="119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Partición 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4226421"/>
            <a:ext cx="119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Partición 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658221"/>
            <a:ext cx="1193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Partición 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14550" y="2931021"/>
            <a:ext cx="0" cy="2032000"/>
          </a:xfrm>
          <a:prstGeom prst="line">
            <a:avLst/>
          </a:prstGeom>
          <a:noFill/>
          <a:ln w="12700">
            <a:solidFill>
              <a:srgbClr val="5F66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0900" y="2956421"/>
            <a:ext cx="3048000" cy="2540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12" name="Text 10"/>
          <p:cNvSpPr/>
          <p:nvPr/>
        </p:nvSpPr>
        <p:spPr>
          <a:xfrm>
            <a:off x="5270500" y="2950071"/>
            <a:ext cx="7541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+0,016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120900" y="3388221"/>
            <a:ext cx="2095500" cy="2540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14" name="Text 12"/>
          <p:cNvSpPr/>
          <p:nvPr/>
        </p:nvSpPr>
        <p:spPr>
          <a:xfrm>
            <a:off x="4318000" y="3381871"/>
            <a:ext cx="7541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+0,011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120900" y="3820021"/>
            <a:ext cx="762000" cy="2540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16" name="Text 14"/>
          <p:cNvSpPr/>
          <p:nvPr/>
        </p:nvSpPr>
        <p:spPr>
          <a:xfrm>
            <a:off x="2984500" y="3813671"/>
            <a:ext cx="7541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+0,004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20900" y="4251821"/>
            <a:ext cx="1905000" cy="2540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18" name="Text 16"/>
          <p:cNvSpPr/>
          <p:nvPr/>
        </p:nvSpPr>
        <p:spPr>
          <a:xfrm>
            <a:off x="4127500" y="4245471"/>
            <a:ext cx="7541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+0,010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120900" y="4683621"/>
            <a:ext cx="2286000" cy="2540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20" name="Text 18"/>
          <p:cNvSpPr/>
          <p:nvPr/>
        </p:nvSpPr>
        <p:spPr>
          <a:xfrm>
            <a:off x="4508500" y="4677271"/>
            <a:ext cx="75414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+0,012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5140821"/>
            <a:ext cx="54940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Diferencia media +0,011. La línea vertical es diferencia 0: ninguna partición queda a su izquierda.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900" y="2339280"/>
          <a:ext cx="4813300" cy="1651000"/>
        </p:xfrm>
        <a:graphic>
          <a:graphicData uri="http://schemas.openxmlformats.org/drawingml/2006/table">
            <a:tbl>
              <a:tblPr/>
              <a:tblGrid>
                <a:gridCol w="1925320"/>
                <a:gridCol w="1443990"/>
                <a:gridCol w="144399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Modelo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ROC-AUC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PR-AUC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Logística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0,848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0,667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34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34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0,859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34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0,684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5F667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Azar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5F667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0,500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5F667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0,204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553200" y="4193480"/>
            <a:ext cx="49707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 t pareada con corrección de Nadeau–Bengio: </a:t>
            </a: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 = 0,020</a:t>
            </a: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 ROC-AUC y p = 0,041 en PR-AUC.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53200" y="4930080"/>
            <a:ext cx="49707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Comparar la diferencia con la desviación entre particiones (±0,012) habría concluido, por error, que no hay diferencia.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2800" y="6235700"/>
            <a:ext cx="884835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modelamiento.ipynb, sección 2.2 · validación cruzada estratificada de 5 partes sobre el entrenamiento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CLASIFICACIÓN · UMBRAL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umbral, no el algoritmo, decide cuántos abandonos se detectan</a:t>
            </a:r>
            <a:endParaRPr lang="en-US" sz="3200" dirty="0"/>
          </a:p>
        </p:txBody>
      </p:sp>
      <p:pic>
        <p:nvPicPr>
          <p:cNvPr id="4" name="Image 0" descr="Recall y precisión del Random Forest según el umbral de decisión, de 0,10 a 0,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326580"/>
            <a:ext cx="66040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140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7325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1145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4330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150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335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5155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0,7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83400" y="519678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0,8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2000" y="234563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2000" y="367913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5012630"/>
            <a:ext cx="482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233170" y="5412680"/>
            <a:ext cx="60172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Umbral de decisión sobre la probabilidad de abandono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447800" y="235198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Recall (abandonos detectados)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47800" y="432048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Precisión (alertas correctas)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511550" y="4739580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0,35: máximo F1 (0,615)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35900" y="2339280"/>
          <a:ext cx="3543300" cy="1330722"/>
        </p:xfrm>
        <a:graphic>
          <a:graphicData uri="http://schemas.openxmlformats.org/drawingml/2006/table">
            <a:tbl>
              <a:tblPr/>
              <a:tblGrid>
                <a:gridCol w="992124"/>
                <a:gridCol w="850392"/>
                <a:gridCol w="850392"/>
                <a:gridCol w="85039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Umbral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Detecta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Acierta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Alerta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0,20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76%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34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0,35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34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34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65%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34A1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0,50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44%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78%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7823200" y="3822402"/>
            <a:ext cx="366268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Detecta = recall · Acierta = precisión · Alerta = % de la cartera marcada. Predicciones fuera de pliegue, Random Forest.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835900" y="4614763"/>
            <a:ext cx="0" cy="741561"/>
          </a:xfrm>
          <a:prstGeom prst="line">
            <a:avLst/>
          </a:prstGeom>
          <a:noFill/>
          <a:ln w="25400">
            <a:solidFill>
              <a:srgbClr val="B34A1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001000" y="4665563"/>
            <a:ext cx="347954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class_weight:</a:t>
            </a:r>
            <a:r>
              <a:rPr lang="en-US" sz="12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 probabilidad media (0,203) coincide con el abandono real (0,204). Con «balanced» sube a 0,318 y el Brier empeora.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12800" y="6235700"/>
            <a:ext cx="394805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modelamiento.ipynb, secciones 2.3–2.5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CLASIFICACIÓN · CONJUNTO DE PRUEBA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prueba detecta 242 de 407 abandonos, y el 65% de sus alertas son reales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278955"/>
            <a:ext cx="2520950" cy="1235621"/>
          </a:xfrm>
          <a:prstGeom prst="roundRect">
            <a:avLst>
              <a:gd name="adj" fmla="val 7966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43453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673251"/>
            <a:ext cx="2171446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0,862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22350" y="314568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CV: 0,859 ± 0,012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2278955"/>
            <a:ext cx="2520950" cy="1235621"/>
          </a:xfrm>
          <a:prstGeom prst="roundRect">
            <a:avLst>
              <a:gd name="adj" fmla="val 7966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2050" y="243453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PR-AUC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2050" y="2673251"/>
            <a:ext cx="2171446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0,703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02050" y="314568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azar: 0,204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2278955"/>
            <a:ext cx="2520950" cy="1235621"/>
          </a:xfrm>
          <a:prstGeom prst="roundRect">
            <a:avLst>
              <a:gd name="adj" fmla="val 7966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1750" y="243453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1750" y="2673251"/>
            <a:ext cx="2171446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0,619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81750" y="314568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umbral 0,35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5075" y="2278955"/>
            <a:ext cx="2520950" cy="1235621"/>
          </a:xfrm>
          <a:prstGeom prst="roundRect">
            <a:avLst>
              <a:gd name="adj" fmla="val 7966"/>
            </a:avLst>
          </a:prstGeom>
          <a:solidFill>
            <a:srgbClr val="FDFCFA"/>
          </a:solidFill>
          <a:ln w="6350">
            <a:solidFill>
              <a:srgbClr val="DEDB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1450" y="2434530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61450" y="2673251"/>
            <a:ext cx="2171446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0,103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61450" y="3145681"/>
            <a:ext cx="21714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probabilidades calibradas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377175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407 clientes de prueba que abandonaron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4114651"/>
            <a:ext cx="5664200" cy="406400"/>
          </a:xfrm>
          <a:prstGeom prst="rect">
            <a:avLst/>
          </a:prstGeom>
          <a:solidFill>
            <a:srgbClr val="B34A18"/>
          </a:solidFill>
          <a:ln/>
        </p:spPr>
        <p:txBody>
          <a:bodyPr wrap="square" lIns="127000" tIns="0" rIns="0" bIns="0" rtlCol="0" anchor="ctr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242 detectados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02400" y="4114651"/>
            <a:ext cx="3860800" cy="406400"/>
          </a:xfrm>
          <a:prstGeom prst="rect">
            <a:avLst/>
          </a:prstGeom>
          <a:solidFill>
            <a:srgbClr val="C8CBD0"/>
          </a:solidFill>
          <a:ln/>
        </p:spPr>
        <p:txBody>
          <a:bodyPr wrap="square" lIns="127000" tIns="0" rIns="18796" bIns="0" rtlCol="0" anchor="ctr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165 no detectados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2800" y="472425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 375 alertas del modelo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2800" y="5067151"/>
            <a:ext cx="5664200" cy="406400"/>
          </a:xfrm>
          <a:prstGeom prst="rect">
            <a:avLst/>
          </a:prstGeom>
          <a:solidFill>
            <a:srgbClr val="B34A18"/>
          </a:solidFill>
          <a:ln/>
        </p:spPr>
        <p:txBody>
          <a:bodyPr wrap="square" lIns="127000" tIns="0" rIns="0" bIns="0" rtlCol="0" anchor="ctr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242 abandonos reales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02400" y="5067151"/>
            <a:ext cx="3111500" cy="406400"/>
          </a:xfrm>
          <a:prstGeom prst="rect">
            <a:avLst/>
          </a:prstGeom>
          <a:solidFill>
            <a:srgbClr val="C8CBD0"/>
          </a:solidFill>
          <a:ln/>
        </p:spPr>
        <p:txBody>
          <a:bodyPr wrap="square" lIns="127000" tIns="0" rIns="41275" bIns="0" rtlCol="0" anchor="ctr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133 falsas alarmas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2800" y="6235700"/>
            <a:ext cx="916367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modelamiento.ipynb, sección 2.6 · Random Forest, umbral 0,35 · 2.000 clientes de prueba, usados una sola vez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893604" y="6235700"/>
            <a:ext cx="485596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REGRESIÓN · BALANCE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Más de la mitad del R² venía de reconocer a los clientes alemanes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706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R² en validación cruzada de 5 partes, con y sin la variable Geography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743101"/>
            <a:ext cx="70637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093641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país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3047901"/>
            <a:ext cx="4413250" cy="3048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8" name="Text 6"/>
          <p:cNvSpPr/>
          <p:nvPr/>
        </p:nvSpPr>
        <p:spPr>
          <a:xfrm>
            <a:off x="6572250" y="3066951"/>
            <a:ext cx="6169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0,320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474641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país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3428901"/>
            <a:ext cx="1822450" cy="3048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11" name="Text 9"/>
          <p:cNvSpPr/>
          <p:nvPr/>
        </p:nvSpPr>
        <p:spPr>
          <a:xfrm>
            <a:off x="3981450" y="3447951"/>
            <a:ext cx="6169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0,132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936901"/>
            <a:ext cx="70637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Regresión lineal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287441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país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57400" y="4241701"/>
            <a:ext cx="3873500" cy="3048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4260751"/>
            <a:ext cx="6169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0,281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4668441"/>
            <a:ext cx="1193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país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57400" y="4622701"/>
            <a:ext cx="1847850" cy="3048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18" name="Text 16"/>
          <p:cNvSpPr/>
          <p:nvPr/>
        </p:nvSpPr>
        <p:spPr>
          <a:xfrm>
            <a:off x="4006850" y="4641751"/>
            <a:ext cx="6169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0,134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5130701"/>
            <a:ext cx="70637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el país, los dos modelos empatan: lo que queda (sobre todo la cantidad de productos) es una relación simple.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77200" y="2326580"/>
            <a:ext cx="3401060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−0,02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077200" y="3068241"/>
            <a:ext cx="34010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Correlación entre saldo predicho y real </a:t>
            </a:r>
            <a:r>
              <a:rPr lang="en-US" sz="1500" b="1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entre los clientes que tienen saldo</a:t>
            </a:r>
            <a:r>
              <a:rPr lang="en-US" sz="15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El modelo solo separa, a medias, saldo 0 de saldo positivo.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77200" y="4262041"/>
            <a:ext cx="3401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Prueba: MAE 41.230 vs. 54.786 de la mediana (−25%). Sin país: −8%.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6235700"/>
            <a:ext cx="2993231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modelamiento.ipynb, paso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83888" y="6235700"/>
            <a:ext cx="5953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SEGMENTACIÓN · K-MEANS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mirar el abandono, K-Means aísla a los Senior: el 45% se 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26580"/>
            <a:ext cx="6148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Tasa de abandono por segmento (Exited no se usó para agrupar) · promedio: 20,4%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692301"/>
            <a:ext cx="61480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Senior</a:t>
            </a: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59 años · 1.305 clientes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2800" y="3009801"/>
            <a:ext cx="3689350" cy="279400"/>
          </a:xfrm>
          <a:prstGeom prst="rect">
            <a:avLst/>
          </a:prstGeom>
          <a:solidFill>
            <a:srgbClr val="B34A18"/>
          </a:solidFill>
          <a:ln/>
        </p:spPr>
      </p:sp>
      <p:sp>
        <p:nvSpPr>
          <p:cNvPr id="7" name="Text 5"/>
          <p:cNvSpPr/>
          <p:nvPr/>
        </p:nvSpPr>
        <p:spPr>
          <a:xfrm>
            <a:off x="4603750" y="301615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34A1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45,4%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441601"/>
            <a:ext cx="61480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saldo, 1 producto</a:t>
            </a: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36 años · 3.471 clientes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2800" y="3759101"/>
            <a:ext cx="1682750" cy="2794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0" name="Text 8"/>
          <p:cNvSpPr/>
          <p:nvPr/>
        </p:nvSpPr>
        <p:spPr>
          <a:xfrm>
            <a:off x="2597150" y="376545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20,7%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4190901"/>
            <a:ext cx="61480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saldo, 2+ productos</a:t>
            </a: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37 años · 1.991 clientes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2800" y="4508401"/>
            <a:ext cx="1676400" cy="2794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3" name="Text 11"/>
          <p:cNvSpPr/>
          <p:nvPr/>
        </p:nvSpPr>
        <p:spPr>
          <a:xfrm>
            <a:off x="2590800" y="4514751"/>
            <a:ext cx="69931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20,6%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940201"/>
            <a:ext cx="61480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 saldo</a:t>
            </a:r>
            <a:r>
              <a:rPr lang="en-US" sz="15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36 años · 3.233 clientes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800" y="5257701"/>
            <a:ext cx="793750" cy="279400"/>
          </a:xfrm>
          <a:prstGeom prst="rect">
            <a:avLst/>
          </a:prstGeom>
          <a:solidFill>
            <a:srgbClr val="C8CBD0"/>
          </a:solidFill>
          <a:ln/>
        </p:spPr>
      </p:sp>
      <p:sp>
        <p:nvSpPr>
          <p:cNvPr id="16" name="Text 14"/>
          <p:cNvSpPr/>
          <p:nvPr/>
        </p:nvSpPr>
        <p:spPr>
          <a:xfrm>
            <a:off x="1708150" y="5264051"/>
            <a:ext cx="562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9,8%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88200" y="2326580"/>
            <a:ext cx="43167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K = 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88200" y="2644080"/>
            <a:ext cx="43167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Codo suave entre 3 y 4; Silhouette 0,170, el mayor entre K = 3 y K = 10.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88200" y="3248521"/>
            <a:ext cx="43167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Silhouette &lt; 0,2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88200" y="3566021"/>
            <a:ext cx="43167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clientes forman un continuo: los segmentos son cortes útiles, no grupos naturales.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88200" y="4170462"/>
            <a:ext cx="43167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n_init = 300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88200" y="4487962"/>
            <a:ext cx="43167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2495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 10 inicializaciones, 3 de 5 semillas daban otra partición (ARI 0,44–0,46).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00900" y="5092402"/>
            <a:ext cx="0" cy="528241"/>
          </a:xfrm>
          <a:prstGeom prst="line">
            <a:avLst/>
          </a:prstGeom>
          <a:noFill/>
          <a:ln w="25400">
            <a:solidFill>
              <a:srgbClr val="B34A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6000" y="5143202"/>
            <a:ext cx="41335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Inversión de bajo riesgo:</a:t>
            </a:r>
            <a:r>
              <a:rPr lang="en-US" sz="1200" dirty="0">
                <a:solidFill>
                  <a:srgbClr val="1C22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al segmento «Con saldo, 1 producto», no a los Senior.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5700"/>
            <a:ext cx="556855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Fuente: clustering.ipynb · 6 variables numéricas con StandardScaler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3888" y="6235700"/>
            <a:ext cx="5953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6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el proyecto demuestra, y lo que estos datos no permiten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710210"/>
            <a:ext cx="3318917" cy="0"/>
          </a:xfrm>
          <a:prstGeom prst="line">
            <a:avLst/>
          </a:prstGeom>
          <a:noFill/>
          <a:ln w="25400">
            <a:solidFill>
              <a:srgbClr val="F08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875310"/>
            <a:ext cx="341848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puede anticipar el abandono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3586510"/>
            <a:ext cx="341848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ROC-AUC 0,86. La palanca de negocio es el umbral: con costos reales, se elegiría minimizando el costo esperado.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6517" y="2710210"/>
            <a:ext cx="3318966" cy="0"/>
          </a:xfrm>
          <a:prstGeom prst="line">
            <a:avLst/>
          </a:prstGeom>
          <a:noFill/>
          <a:ln w="25400">
            <a:solidFill>
              <a:srgbClr val="F08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517" y="2875310"/>
            <a:ext cx="34185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se puede proyectar el saldo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36517" y="3586510"/>
            <a:ext cx="341853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R² honesto de 13–21%. Siguiente paso: modelo en dos partes (¿tiene saldo? → ¿cuánto?) y nuevas variables.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60283" y="2710210"/>
            <a:ext cx="3318917" cy="0"/>
          </a:xfrm>
          <a:prstGeom prst="line">
            <a:avLst/>
          </a:prstGeom>
          <a:noFill/>
          <a:ln w="25400">
            <a:solidFill>
              <a:srgbClr val="F08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0283" y="2875310"/>
            <a:ext cx="341848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Los segmentos confirman el EDA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060283" y="3586510"/>
            <a:ext cx="341848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Edad, saldo y productos separan a los clientes; puntaje, salario y antigüedad no.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53290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4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LIMITACIONES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5618559"/>
            <a:ext cx="108833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0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Sesgo de muestreo de Alemania · posible fuga temporal en NumOfProducts e IsActiveMember (sin fechas) · Gender y Geography como predictores exigen revisión ética antes de usar el modelo en decisiones reales.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andono, saldo y segmentos — Ecommerce Customer">
  <a:themeElements>
    <a:clrScheme name="Abandono, saldo y segmentos — Ecommerce Customer">
      <a:dk1>
        <a:srgbClr val="1C2230"/>
      </a:dk1>
      <a:lt1>
        <a:srgbClr val="F6F5F1"/>
      </a:lt1>
      <a:dk2>
        <a:srgbClr val="535760"/>
      </a:dk2>
      <a:lt2>
        <a:srgbClr val="E0E0DE"/>
      </a:lt2>
      <a:accent1>
        <a:srgbClr val="B34A18"/>
      </a:accent1>
      <a:accent2>
        <a:srgbClr val="F08A4B"/>
      </a:accent2>
      <a:accent3>
        <a:srgbClr val="2F5D8A"/>
      </a:accent3>
      <a:accent4>
        <a:srgbClr val="5F6673"/>
      </a:accent4>
      <a:accent5>
        <a:srgbClr val="424957"/>
      </a:accent5>
      <a:accent6>
        <a:srgbClr val="C8CBD0"/>
      </a:accent6>
      <a:hlink>
        <a:srgbClr val="0563C1"/>
      </a:hlink>
      <a:folHlink>
        <a:srgbClr val="954F72"/>
      </a:folHlink>
    </a:clrScheme>
    <a:fontScheme name="Abandono, saldo y segmentos — Ecommerce Customer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Abandono, saldo y segmentos — Ecommerce Customer</dc:title>
  <dc:subject/>
  <dc:creator/>
  <cp:lastModifiedBy/>
  <cp:revision>1</cp:revision>
  <dcterms:created xsi:type="dcterms:W3CDTF">2026-10-01T01:02:09Z</dcterms:created>
  <dcterms:modified xsi:type="dcterms:W3CDTF">2026-10-01T01:02:09Z</dcterms:modified>
</cp:coreProperties>
</file>