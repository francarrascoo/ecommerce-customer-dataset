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8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Abandono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1B7F79"/>
              </a:solidFill>
            </c:spPr>
            <c:extLst>
              <c:ext xmlns:c16="http://schemas.microsoft.com/office/drawing/2014/chart" uri="{C3380CC4-5D6E-409C-BE32-E72D297353CC}">
                <c16:uniqueId val="{00000001-AB3A-D047-B0C7-9AF7A4978E08}"/>
              </c:ext>
            </c:extLst>
          </c:dPt>
          <c:dPt>
            <c:idx val="1"/>
            <c:invertIfNegative val="1"/>
            <c:bubble3D val="0"/>
            <c:spPr>
              <a:solidFill>
                <a:srgbClr val="1B7F79"/>
              </a:solidFill>
            </c:spPr>
            <c:extLst>
              <c:ext xmlns:c16="http://schemas.microsoft.com/office/drawing/2014/chart" uri="{C3380CC4-5D6E-409C-BE32-E72D297353CC}">
                <c16:uniqueId val="{00000003-AB3A-D047-B0C7-9AF7A4978E08}"/>
              </c:ext>
            </c:extLst>
          </c:dPt>
          <c:dPt>
            <c:idx val="2"/>
            <c:invertIfNegative val="1"/>
            <c:bubble3D val="0"/>
            <c:spPr>
              <a:solidFill>
                <a:srgbClr val="1B7F79"/>
              </a:solidFill>
            </c:spPr>
            <c:extLst>
              <c:ext xmlns:c16="http://schemas.microsoft.com/office/drawing/2014/chart" uri="{C3380CC4-5D6E-409C-BE32-E72D297353CC}">
                <c16:uniqueId val="{00000005-AB3A-D047-B0C7-9AF7A4978E08}"/>
              </c:ext>
            </c:extLst>
          </c:dPt>
          <c:dPt>
            <c:idx val="3"/>
            <c:invertIfNegative val="1"/>
            <c:bubble3D val="0"/>
            <c:spPr>
              <a:solidFill>
                <a:srgbClr val="E9A23B"/>
              </a:solidFill>
            </c:spPr>
            <c:extLst>
              <c:ext xmlns:c16="http://schemas.microsoft.com/office/drawing/2014/chart" uri="{C3380CC4-5D6E-409C-BE32-E72D297353CC}">
                <c16:uniqueId val="{00000007-AB3A-D047-B0C7-9AF7A4978E08}"/>
              </c:ext>
            </c:extLst>
          </c:dPt>
          <c:dPt>
            <c:idx val="4"/>
            <c:invertIfNegative val="1"/>
            <c:bubble3D val="0"/>
            <c:spPr>
              <a:solidFill>
                <a:srgbClr val="1B7F79"/>
              </a:solidFill>
            </c:spPr>
            <c:extLst>
              <c:ext xmlns:c16="http://schemas.microsoft.com/office/drawing/2014/chart" uri="{C3380CC4-5D6E-409C-BE32-E72D297353CC}">
                <c16:uniqueId val="{00000009-AB3A-D047-B0C7-9AF7A4978E08}"/>
              </c:ext>
            </c:extLst>
          </c:dPt>
          <c:dPt>
            <c:idx val="5"/>
            <c:invertIfNegative val="1"/>
            <c:bubble3D val="0"/>
            <c:spPr>
              <a:solidFill>
                <a:srgbClr val="1B7F79"/>
              </a:solidFill>
            </c:spPr>
            <c:extLst>
              <c:ext xmlns:c16="http://schemas.microsoft.com/office/drawing/2014/chart" uri="{C3380CC4-5D6E-409C-BE32-E72D297353CC}">
                <c16:uniqueId val="{0000000B-AB3A-D047-B0C7-9AF7A4978E08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1E293B"/>
                    </a:solidFill>
                  </a:defRPr>
                </a:pPr>
                <a:endParaRPr lang="en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18-30</c:v>
                </c:pt>
                <c:pt idx="1">
                  <c:v>31-40</c:v>
                </c:pt>
                <c:pt idx="2">
                  <c:v>41-50</c:v>
                </c:pt>
                <c:pt idx="3">
                  <c:v>51-60</c:v>
                </c:pt>
                <c:pt idx="4">
                  <c:v>61-70</c:v>
                </c:pt>
                <c:pt idx="5">
                  <c:v>71+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7.5</c:v>
                </c:pt>
                <c:pt idx="1">
                  <c:v>12.1</c:v>
                </c:pt>
                <c:pt idx="2">
                  <c:v>34</c:v>
                </c:pt>
                <c:pt idx="3">
                  <c:v>56.2</c:v>
                </c:pt>
                <c:pt idx="4">
                  <c:v>31.4</c:v>
                </c:pt>
                <c:pt idx="5">
                  <c:v>8.3000000000000007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B3A-D047-B0C7-9AF7A4978E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200">
                <a:solidFill>
                  <a:srgbClr val="1E293B"/>
                </a:solidFill>
              </a:defRPr>
            </a:pPr>
            <a:endParaRPr lang="en-CL"/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56578"/>
                </a:solidFill>
              </a:defRPr>
            </a:pPr>
            <a:endParaRPr lang="en-CL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E293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Abandono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1B7F79"/>
              </a:solidFill>
            </c:spPr>
            <c:extLst>
              <c:ext xmlns:c16="http://schemas.microsoft.com/office/drawing/2014/chart" uri="{C3380CC4-5D6E-409C-BE32-E72D297353CC}">
                <c16:uniqueId val="{00000001-2174-9047-94B6-2F4065B578A1}"/>
              </c:ext>
            </c:extLst>
          </c:dPt>
          <c:dPt>
            <c:idx val="1"/>
            <c:invertIfNegative val="1"/>
            <c:bubble3D val="0"/>
            <c:spPr>
              <a:solidFill>
                <a:srgbClr val="1B7F79"/>
              </a:solidFill>
            </c:spPr>
            <c:extLst>
              <c:ext xmlns:c16="http://schemas.microsoft.com/office/drawing/2014/chart" uri="{C3380CC4-5D6E-409C-BE32-E72D297353CC}">
                <c16:uniqueId val="{00000003-2174-9047-94B6-2F4065B578A1}"/>
              </c:ext>
            </c:extLst>
          </c:dPt>
          <c:dPt>
            <c:idx val="2"/>
            <c:invertIfNegative val="1"/>
            <c:bubble3D val="0"/>
            <c:spPr>
              <a:solidFill>
                <a:srgbClr val="E9A23B"/>
              </a:solidFill>
            </c:spPr>
            <c:extLst>
              <c:ext xmlns:c16="http://schemas.microsoft.com/office/drawing/2014/chart" uri="{C3380CC4-5D6E-409C-BE32-E72D297353CC}">
                <c16:uniqueId val="{00000005-2174-9047-94B6-2F4065B578A1}"/>
              </c:ext>
            </c:extLst>
          </c:dPt>
          <c:dPt>
            <c:idx val="3"/>
            <c:invertIfNegative val="1"/>
            <c:bubble3D val="0"/>
            <c:spPr>
              <a:solidFill>
                <a:srgbClr val="E9A23B"/>
              </a:solidFill>
            </c:spPr>
            <c:extLst>
              <c:ext xmlns:c16="http://schemas.microsoft.com/office/drawing/2014/chart" uri="{C3380CC4-5D6E-409C-BE32-E72D297353CC}">
                <c16:uniqueId val="{00000007-2174-9047-94B6-2F4065B578A1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1E293B"/>
                    </a:solidFill>
                  </a:defRPr>
                </a:pPr>
                <a:endParaRPr lang="en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 producto</c:v>
                </c:pt>
                <c:pt idx="1">
                  <c:v>2 productos</c:v>
                </c:pt>
                <c:pt idx="2">
                  <c:v>3 productos</c:v>
                </c:pt>
                <c:pt idx="3">
                  <c:v>4 productos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27.7</c:v>
                </c:pt>
                <c:pt idx="1">
                  <c:v>7.6</c:v>
                </c:pt>
                <c:pt idx="2">
                  <c:v>82.7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174-9047-94B6-2F4065B578A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200">
                <a:solidFill>
                  <a:srgbClr val="1E293B"/>
                </a:solidFill>
              </a:defRPr>
            </a:pPr>
            <a:endParaRPr lang="en-CL"/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E2E8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56578"/>
                </a:solidFill>
              </a:defRPr>
            </a:pPr>
            <a:endParaRPr lang="en-CL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E293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1B7F79"/>
            </a:solidFill>
          </c:spPr>
          <c:invertIfNegative val="1"/>
          <c:dPt>
            <c:idx val="3"/>
            <c:invertIfNegative val="1"/>
            <c:bubble3D val="0"/>
            <c:spPr>
              <a:solidFill>
                <a:srgbClr val="94A3B8"/>
              </a:solidFill>
            </c:spPr>
            <c:extLst>
              <c:ext xmlns:c16="http://schemas.microsoft.com/office/drawing/2014/chart" uri="{C3380CC4-5D6E-409C-BE32-E72D297353CC}">
                <c16:uniqueId val="{00000001-E3CA-4B44-8D28-265466E3E665}"/>
              </c:ext>
            </c:extLst>
          </c:dPt>
          <c:dPt>
            <c:idx val="4"/>
            <c:invertIfNegative val="1"/>
            <c:bubble3D val="0"/>
            <c:spPr>
              <a:solidFill>
                <a:srgbClr val="94A3B8"/>
              </a:solidFill>
            </c:spPr>
            <c:extLst>
              <c:ext xmlns:c16="http://schemas.microsoft.com/office/drawing/2014/chart" uri="{C3380CC4-5D6E-409C-BE32-E72D297353CC}">
                <c16:uniqueId val="{00000003-E3CA-4B44-8D28-265466E3E665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1E293B"/>
                    </a:solidFill>
                  </a:defRPr>
                </a:pPr>
                <a:endParaRPr lang="en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Antigüedad</c:v>
                </c:pt>
                <c:pt idx="1">
                  <c:v>Ser de Alemania</c:v>
                </c:pt>
                <c:pt idx="2">
                  <c:v>Cliente activo</c:v>
                </c:pt>
                <c:pt idx="3">
                  <c:v>Salario estimado</c:v>
                </c:pt>
                <c:pt idx="4">
                  <c:v>Puntaje crediticio</c:v>
                </c:pt>
                <c:pt idx="5">
                  <c:v>Tener 3 productos</c:v>
                </c:pt>
                <c:pt idx="6">
                  <c:v>Saldo</c:v>
                </c:pt>
                <c:pt idx="7">
                  <c:v>Tener 2 productos</c:v>
                </c:pt>
                <c:pt idx="8">
                  <c:v>Edad</c:v>
                </c:pt>
                <c:pt idx="9">
                  <c:v>Distancia a los 55 años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3.9100000000000003E-2</c:v>
                </c:pt>
                <c:pt idx="1">
                  <c:v>4.41E-2</c:v>
                </c:pt>
                <c:pt idx="2">
                  <c:v>6.3899999999999998E-2</c:v>
                </c:pt>
                <c:pt idx="3">
                  <c:v>7.0400000000000004E-2</c:v>
                </c:pt>
                <c:pt idx="4">
                  <c:v>7.1099999999999997E-2</c:v>
                </c:pt>
                <c:pt idx="5">
                  <c:v>7.4499999999999997E-2</c:v>
                </c:pt>
                <c:pt idx="6">
                  <c:v>9.5200000000000007E-2</c:v>
                </c:pt>
                <c:pt idx="7">
                  <c:v>0.12139999999999999</c:v>
                </c:pt>
                <c:pt idx="8">
                  <c:v>0.1741</c:v>
                </c:pt>
                <c:pt idx="9">
                  <c:v>0.1857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E3CA-4B44-8D28-265466E3E66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200">
                <a:solidFill>
                  <a:srgbClr val="1E293B"/>
                </a:solidFill>
              </a:defRPr>
            </a:pPr>
            <a:endParaRPr lang="en-CL"/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orientation val="minMax"/>
        </c:scaling>
        <c:delete val="0"/>
        <c:axPos val="b"/>
        <c:majorGridlines>
          <c:spPr>
            <a:ln w="9525">
              <a:solidFill>
                <a:srgbClr val="E2E8F0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56578"/>
                </a:solidFill>
              </a:defRPr>
            </a:pPr>
            <a:endParaRPr lang="en-CL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E293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Con países</c:v>
                </c:pt>
              </c:strCache>
            </c:strRef>
          </c:tx>
          <c:spPr>
            <a:solidFill>
              <a:srgbClr val="1B7F79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1E293B"/>
                    </a:solidFill>
                  </a:defRPr>
                </a:pPr>
                <a:endParaRPr lang="en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Regresión lineal</c:v>
                </c:pt>
                <c:pt idx="1">
                  <c:v>Random Forest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0.28100000000000003</c:v>
                </c:pt>
                <c:pt idx="1">
                  <c:v>0.32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1AD-E449-8446-08D63767AA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Sin países</c:v>
                </c:pt>
              </c:strCache>
            </c:strRef>
          </c:tx>
          <c:spPr>
            <a:solidFill>
              <a:srgbClr val="E9A23B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1E293B"/>
                    </a:solidFill>
                  </a:defRPr>
                </a:pPr>
                <a:endParaRPr lang="en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Regresión lineal</c:v>
                </c:pt>
                <c:pt idx="1">
                  <c:v>Random Forest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0.13400000000000001</c:v>
                </c:pt>
                <c:pt idx="1">
                  <c:v>0.13200000000000001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1AD-E449-8446-08D63767AA8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200">
                <a:solidFill>
                  <a:srgbClr val="1E293B"/>
                </a:solidFill>
              </a:defRPr>
            </a:pPr>
            <a:endParaRPr lang="en-CL"/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orientation val="minMax"/>
          <c:max val="0.4"/>
          <c:min val="0"/>
        </c:scaling>
        <c:delete val="0"/>
        <c:axPos val="l"/>
        <c:majorGridlines>
          <c:spPr>
            <a:ln w="9525">
              <a:solidFill>
                <a:srgbClr val="E2E8F0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56578"/>
                </a:solidFill>
              </a:defRPr>
            </a:pPr>
            <a:endParaRPr lang="en-CL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/>
          </a:pPr>
          <a:endParaRPr lang="en-CL"/>
        </a:p>
      </c:txPr>
    </c:legend>
    <c:plotVisOnly val="1"/>
    <c:dispBlanksAs val="gap"/>
    <c:showDLblsOverMax val="1"/>
  </c:chart>
  <c:txPr>
    <a:bodyPr/>
    <a:lstStyle/>
    <a:p>
      <a:pPr>
        <a:defRPr sz="1200">
          <a:solidFill>
            <a:srgbClr val="1E293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Saldo real</c:v>
                </c:pt>
              </c:strCache>
            </c:strRef>
          </c:tx>
          <c:spPr>
            <a:solidFill>
              <a:srgbClr val="94A3B8"/>
            </a:solidFill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1E293B"/>
                    </a:solidFill>
                  </a:defRPr>
                </a:pPr>
                <a:endParaRPr lang="en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Saldo 0</c:v>
                </c:pt>
                <c:pt idx="1">
                  <c:v>1 a 75</c:v>
                </c:pt>
                <c:pt idx="2">
                  <c:v>75 a 100</c:v>
                </c:pt>
                <c:pt idx="3">
                  <c:v>100 a 125</c:v>
                </c:pt>
                <c:pt idx="4">
                  <c:v>125 a 150</c:v>
                </c:pt>
                <c:pt idx="5">
                  <c:v>Más de 150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61</c:v>
                </c:pt>
                <c:pt idx="2">
                  <c:v>89</c:v>
                </c:pt>
                <c:pt idx="3">
                  <c:v>113</c:v>
                </c:pt>
                <c:pt idx="4">
                  <c:v>137</c:v>
                </c:pt>
                <c:pt idx="5">
                  <c:v>167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472-F946-BBFD-AA0E63C6F6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Saldo predicho</c:v>
                </c:pt>
              </c:strCache>
            </c:strRef>
          </c:tx>
          <c:spPr>
            <a:solidFill>
              <a:srgbClr val="1B7F79"/>
            </a:solidFill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1E293B"/>
                    </a:solidFill>
                  </a:defRPr>
                </a:pPr>
                <a:endParaRPr lang="en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Saldo 0</c:v>
                </c:pt>
                <c:pt idx="1">
                  <c:v>1 a 75</c:v>
                </c:pt>
                <c:pt idx="2">
                  <c:v>75 a 100</c:v>
                </c:pt>
                <c:pt idx="3">
                  <c:v>100 a 125</c:v>
                </c:pt>
                <c:pt idx="4">
                  <c:v>125 a 150</c:v>
                </c:pt>
                <c:pt idx="5">
                  <c:v>Más de 150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47</c:v>
                </c:pt>
                <c:pt idx="1">
                  <c:v>89</c:v>
                </c:pt>
                <c:pt idx="2">
                  <c:v>90</c:v>
                </c:pt>
                <c:pt idx="3">
                  <c:v>97</c:v>
                </c:pt>
                <c:pt idx="4">
                  <c:v>94</c:v>
                </c:pt>
                <c:pt idx="5">
                  <c:v>90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472-F946-BBFD-AA0E63C6F6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200">
                    <a:solidFill>
                      <a:srgbClr val="556578"/>
                    </a:solidFill>
                    <a:latin typeface="Calibri"/>
                  </a:rPr>
                  <a:t>Saldo real del cliente (miles)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200">
                <a:solidFill>
                  <a:srgbClr val="1E293B"/>
                </a:solidFill>
              </a:defRPr>
            </a:pPr>
            <a:endParaRPr lang="en-CL"/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2E8F0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56578"/>
                </a:solidFill>
              </a:defRPr>
            </a:pPr>
            <a:endParaRPr lang="en-CL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/>
          </a:pPr>
          <a:endParaRPr lang="en-CL"/>
        </a:p>
      </c:txPr>
    </c:legend>
    <c:plotVisOnly val="1"/>
    <c:dispBlanksAs val="gap"/>
    <c:showDLblsOverMax val="1"/>
  </c:chart>
  <c:txPr>
    <a:bodyPr/>
    <a:lstStyle/>
    <a:p>
      <a:pPr>
        <a:defRPr sz="1200">
          <a:solidFill>
            <a:srgbClr val="1E293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Inercia</c:v>
                </c:pt>
              </c:strCache>
            </c:strRef>
          </c:tx>
          <c:spPr>
            <a:ln w="31750">
              <a:solidFill>
                <a:srgbClr val="1B7F79"/>
              </a:solidFill>
            </a:ln>
          </c:spPr>
          <c:marker>
            <c:symbol val="diamond"/>
            <c:size val="9"/>
            <c:spPr>
              <a:solidFill>
                <a:srgbClr val="1B7F79"/>
              </a:solidFill>
              <a:ln>
                <a:solidFill>
                  <a:srgbClr val="1B7F79"/>
                </a:solidFill>
              </a:ln>
            </c:spPr>
          </c:marker>
          <c:dPt>
            <c:idx val="3"/>
            <c:marker>
              <c:symbol val="diamond"/>
              <c:size val="14"/>
              <c:spPr>
                <a:solidFill>
                  <a:srgbClr val="E9A23B"/>
                </a:solidFill>
                <a:ln>
                  <a:solidFill>
                    <a:srgbClr val="E9A23B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046B-514C-8B3D-9BFA1C886958}"/>
              </c:ext>
            </c:extLst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lang="en-US" sz="1600" b="1">
                        <a:solidFill>
                          <a:srgbClr val="E9A23B"/>
                        </a:solidFill>
                      </a:rPr>
                      <a:t>Codo: K = 4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046B-514C-8B3D-9BFA1C886958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60000</c:v>
                </c:pt>
                <c:pt idx="1">
                  <c:v>49855.482000000004</c:v>
                </c:pt>
                <c:pt idx="2">
                  <c:v>44998.012999999999</c:v>
                </c:pt>
                <c:pt idx="3">
                  <c:v>41017.732000000004</c:v>
                </c:pt>
                <c:pt idx="4">
                  <c:v>38090.025000000001</c:v>
                </c:pt>
                <c:pt idx="5">
                  <c:v>35611.754000000001</c:v>
                </c:pt>
                <c:pt idx="6">
                  <c:v>33695.741999999998</c:v>
                </c:pt>
                <c:pt idx="7">
                  <c:v>32085.768</c:v>
                </c:pt>
                <c:pt idx="8">
                  <c:v>30586.703000000001</c:v>
                </c:pt>
                <c:pt idx="9">
                  <c:v>29298.525000000001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46B-514C-8B3D-9BFA1C8869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 sz="1200">
                    <a:solidFill>
                      <a:srgbClr val="556578"/>
                    </a:solidFill>
                    <a:latin typeface="Calibri"/>
                  </a:rPr>
                  <a:t>Número de clústeres (K)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100">
                <a:solidFill>
                  <a:srgbClr val="1E293B"/>
                </a:solidFill>
              </a:defRPr>
            </a:pPr>
            <a:endParaRPr lang="en-CL"/>
          </a:p>
        </c:txPr>
        <c:crossAx val="2140495176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9525">
              <a:solidFill>
                <a:srgbClr val="E2E8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56578"/>
                </a:solidFill>
              </a:defRPr>
            </a:pPr>
            <a:endParaRPr lang="en-CL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1E293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4709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Resultados de clasificación del abandono, regresión del saldo y segmentación con K-Means.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Solo 1 de cada 5 clientes abandona (clases desbalanceadas) y más de un tercio tiene saldo 0, lo que condiciona tanto la clasificación como la regresión.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EDA, secciones 4.2 y 4.3. Clientes de 51-60 años: 797; con 3 productos: 266; con 4: 60. Por eso el modelo usa la distancia a los 55 años y trata los productos como categorías.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EDA, secciones 4.4 a 4.7 y 5.2. Alemania abandona más incluso comparando clientes parecidos (mismos productos, actividad y edad). Los clientes con saldo abandonan más (24,1% vs. 13,8%).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Accuracy, precisión, recall y F1 dependen del umbral (0,25, el de mayor recall con al menos 50% de precisión en validación cruzada). La ventaja del Random Forest sobre la logística es pequeña (+0,012 de ROC-AUC); la logística sigue siendo una alternativa si se necesita explicar cada predicción.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Falso negativo (ámbar): cliente que abandona y no se detecta. Falsa alarma (arriba a la derecha): cliente que recibe una oferta que no necesitaba. La precisión mínima de 50% equivale a aceptar como máximo una falsa alarma por cada abandono detectado.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Importancia basada en impureza del Random Forest final (513 árboles, profundidad 10). Las barras grises son variables que el EDA mostró que no se relacionan con el abandono.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Random Forest con profundidad 6 y 543 árboles, elegido por validación cruzada. En prueba: MAE 41.230, RMSE 51.500, R² 0,327; sin países: MAE 50.446, R² 0,132. El saldo promedio es ~76.500, así que un error de ~41.000 es alto.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Sin países, los dos modelos quedan empatados. En prueba, el Random Forest con países explica el 20,7% del saldo en Francia y España, y nada dentro de Alemania (R² ≈ -0,01).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Random Forest con países. Correlación entre predicción y saldo real: 0,57 con todos los clientes y -0,02 solo entre los que tienen saldo. Conclusión: sirve para estimar si un cliente probablemente tiene fondos, no para proyectar cuánto.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K-Means con 300 inicializaciones: con 10, el resultado dependía de la semilla. El abandono no se usó para elegir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puntaje crediticio, el salario y la antigüedad son casi iguales en los cuatro grupos: no definen segmentos. Lo que separa a los clientes es la edad, el saldo y la cantidad de productos.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segmentación no usa género ni país, lo que evita discriminar directamente por esas características. Aun así, el grupo sin saldo casi no tiene alemanes (0,8%) por cómo se armó la muestra.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Qué se puede y qué no se puede responder con estos datos, y las principales limitaciones del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9A23B"/>
                </a:solidFill>
                <a:latin typeface="Calibri"/>
              </a:rPr>
              <a:t>MLY1101 · MACHINE LEARNING · DUOC UC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mbria"/>
              </a:rPr>
              <a:t>Clientes en riesgo, saldo y segmentos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6324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CBE4E2"/>
                </a:solidFill>
                <a:latin typeface="Calibri"/>
              </a:rPr>
              <a:t>Podemos anticipar quién se va, pero no cuánto saldo tiene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4754880"/>
            <a:ext cx="502920" cy="50292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0B3C49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Clasificación del abandono</a:t>
            </a:r>
          </a:p>
        </p:txBody>
      </p:sp>
      <p:sp>
        <p:nvSpPr>
          <p:cNvPr id="7" name="Oval 6"/>
          <p:cNvSpPr/>
          <p:nvPr/>
        </p:nvSpPr>
        <p:spPr>
          <a:xfrm>
            <a:off x="4297680" y="4754880"/>
            <a:ext cx="502920" cy="50292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0B3C49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47548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Regresión del saldo</a:t>
            </a:r>
          </a:p>
        </p:txBody>
      </p:sp>
      <p:sp>
        <p:nvSpPr>
          <p:cNvPr id="9" name="Oval 8"/>
          <p:cNvSpPr/>
          <p:nvPr/>
        </p:nvSpPr>
        <p:spPr>
          <a:xfrm>
            <a:off x="7863840" y="4754880"/>
            <a:ext cx="502920" cy="50292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0B3C49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19" y="47548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Segmentación con clustering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FC5C2"/>
                </a:solidFill>
                <a:latin typeface="Calibri"/>
              </a:rPr>
              <a:t>Ecommerce Customer Dataset · 10.000 clientes · Laboratorio 2.2.2 y Actividad 2.3.2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Tres preguntas de negocio, tres técnicas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3474720" cy="292608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22959" y="1783080"/>
            <a:ext cx="548640" cy="548640"/>
          </a:xfrm>
          <a:prstGeom prst="ellipse">
            <a:avLst/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82880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B7F79"/>
                </a:solidFill>
                <a:latin typeface="Calibri"/>
              </a:rPr>
              <a:t>CLASIFICACIÓN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560320"/>
            <a:ext cx="2971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B3C49"/>
                </a:solidFill>
                <a:latin typeface="Cambria"/>
              </a:rPr>
              <a:t>¿Qué clientes abandonarán?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42900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556578"/>
                </a:solidFill>
                <a:latin typeface="Calibri"/>
              </a:rPr>
              <a:t>Target: Exited (1 = abandonó)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794760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Para dirigirles una campaña de fidelización.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508760"/>
            <a:ext cx="3474720" cy="292608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71999" y="1783080"/>
            <a:ext cx="548640" cy="548640"/>
          </a:xfrm>
          <a:prstGeom prst="ellipse">
            <a:avLst/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799" y="182880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B7F79"/>
                </a:solidFill>
                <a:latin typeface="Calibri"/>
              </a:rPr>
              <a:t>REGRESIÓN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560320"/>
            <a:ext cx="2971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B3C49"/>
                </a:solidFill>
                <a:latin typeface="Cambria"/>
              </a:rPr>
              <a:t>¿Cuánto saldo tendrá un cliente?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342900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556578"/>
                </a:solidFill>
                <a:latin typeface="Calibri"/>
              </a:rPr>
              <a:t>Target: Balance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794760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Para proyectar fondos y optimizar la inversión interna.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508760"/>
            <a:ext cx="3474720" cy="292608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21040" y="1783080"/>
            <a:ext cx="548640" cy="548640"/>
          </a:xfrm>
          <a:prstGeom prst="ellipse">
            <a:avLst/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82880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B7F79"/>
                </a:solidFill>
                <a:latin typeface="Calibri"/>
              </a:rPr>
              <a:t>CLUSTERING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560320"/>
            <a:ext cx="2971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B3C49"/>
                </a:solidFill>
                <a:latin typeface="Cambria"/>
              </a:rPr>
              <a:t>¿Qué grupos de clientes existen?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42900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556578"/>
                </a:solidFill>
                <a:latin typeface="Calibri"/>
              </a:rPr>
              <a:t>Sin target (no supervisado)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794760"/>
            <a:ext cx="2971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Para personalizar campañas en vez de hacerlas masivas.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0060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0B3C49"/>
                </a:solidFill>
                <a:latin typeface="Cambria"/>
              </a:rPr>
              <a:t>10.000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56578"/>
                </a:solidFill>
                <a:latin typeface="Calibri"/>
              </a:rPr>
              <a:t>clientes de Francia, Alemania y España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79" y="480060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E9A23B"/>
                </a:solidFill>
                <a:latin typeface="Cambria"/>
              </a:rPr>
              <a:t>20,4%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562356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56578"/>
                </a:solidFill>
                <a:latin typeface="Calibri"/>
              </a:rPr>
              <a:t>abandonó la empresa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9" y="480060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0B3C49"/>
                </a:solidFill>
                <a:latin typeface="Cambria"/>
              </a:rPr>
              <a:t>36%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562356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56578"/>
                </a:solidFill>
                <a:latin typeface="Calibri"/>
              </a:rPr>
              <a:t>tiene saldo exactamente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Hallazgos: la edad y los productos marcan el abandono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56578"/>
                </a:solidFill>
                <a:latin typeface="Calibri"/>
              </a:rPr>
              <a:t>Porcentaje de clientes que abandonó en cada grupo · promedio general: 20,4%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3C49"/>
                </a:solidFill>
                <a:latin typeface="Calibri"/>
              </a:rPr>
              <a:t>Según la edad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2057400"/>
          <a:ext cx="539496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6928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Sube hasta los 51-60 años (56%) y después vuelve a bajar.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69164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3C49"/>
                </a:solidFill>
                <a:latin typeface="Calibri"/>
              </a:rPr>
              <a:t>Según la cantidad de productos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63640" y="2057400"/>
          <a:ext cx="539496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63640" y="566928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Con 2 productos casi nadie se va (7,6%); con 3 o 4, casi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Otros hallazgos del análisis exploratorio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59" y="169164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9A23B"/>
                </a:solidFill>
                <a:latin typeface="Cambria"/>
              </a:rPr>
              <a:t>82% vs. 11%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56032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abandono de inactivos vs. activos sobre los 60 años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17720" y="169164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9A23B"/>
                </a:solidFill>
                <a:latin typeface="Cambria"/>
              </a:rPr>
              <a:t>32% vs. 16%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56032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abandono en Alemania vs. Francia y España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6304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0" y="169164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0B3C49"/>
                </a:solidFill>
                <a:latin typeface="Cambria"/>
              </a:rPr>
              <a:t>25% vs. 17%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6032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abandono de mujeres vs. hombres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416052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0B3C49"/>
                </a:solidFill>
                <a:latin typeface="Cambria"/>
              </a:rPr>
              <a:t>36%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02920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de los clientes tiene saldo exactamente 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93192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720" y="416052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9A23B"/>
                </a:solidFill>
                <a:latin typeface="Cambria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502920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clientes alemanes con saldo 0: probable sesgo de cómo se armó la muestra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931920"/>
            <a:ext cx="3566160" cy="224028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416052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94A3B8"/>
                </a:solidFill>
                <a:latin typeface="Cambria"/>
              </a:rPr>
              <a:t>18% - 23%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02920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abandono en cualquier nivel de antigüedad, salario o puntaje: no influyen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Clasificación: Random Forest gana en todas las métricas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56578"/>
                </a:solidFill>
                <a:latin typeface="Calibri"/>
              </a:rPr>
              <a:t>Métricas en 2.000 clientes de prueba · umbral 0,25 en los tres modelos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777240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anchor="ctr"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73152" marR="73152" anchor="ctr"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Precisión</a:t>
                      </a:r>
                    </a:p>
                  </a:txBody>
                  <a:tcPr marL="73152" marR="73152" anchor="ctr"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anchor="ctr"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73152" marR="73152" anchor="ctr"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73152" marR="73152" anchor="ctr"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0,804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0,512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0,705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0,594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0,850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Árbol de decisión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0,816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0,537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0,695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0,606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0,841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93B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3152" marR="73152" anchor="ctr">
                    <a:solidFill>
                      <a:srgbClr val="E3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B7F79"/>
                          </a:solidFill>
                          <a:latin typeface="Calibri"/>
                        </a:rPr>
                        <a:t>0,823</a:t>
                      </a:r>
                    </a:p>
                  </a:txBody>
                  <a:tcPr marL="73152" marR="73152" anchor="ctr">
                    <a:solidFill>
                      <a:srgbClr val="E3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B7F79"/>
                          </a:solidFill>
                          <a:latin typeface="Calibri"/>
                        </a:rPr>
                        <a:t>0,550</a:t>
                      </a:r>
                    </a:p>
                  </a:txBody>
                  <a:tcPr marL="73152" marR="73152" anchor="ctr">
                    <a:solidFill>
                      <a:srgbClr val="E3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B7F79"/>
                          </a:solidFill>
                          <a:latin typeface="Calibri"/>
                        </a:rPr>
                        <a:t>0,710</a:t>
                      </a:r>
                    </a:p>
                  </a:txBody>
                  <a:tcPr marL="73152" marR="73152" anchor="ctr">
                    <a:solidFill>
                      <a:srgbClr val="E3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B7F79"/>
                          </a:solidFill>
                          <a:latin typeface="Calibri"/>
                        </a:rPr>
                        <a:t>0,620</a:t>
                      </a:r>
                    </a:p>
                  </a:txBody>
                  <a:tcPr marL="73152" marR="73152" anchor="ctr">
                    <a:solidFill>
                      <a:srgbClr val="E3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B7F79"/>
                          </a:solidFill>
                          <a:latin typeface="Calibri"/>
                        </a:rPr>
                        <a:t>0,862</a:t>
                      </a:r>
                    </a:p>
                  </a:txBody>
                  <a:tcPr marL="73152" marR="73152" anchor="ctr">
                    <a:solidFill>
                      <a:srgbClr val="E3F0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51960"/>
            <a:ext cx="76809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spcAft>
                <a:spcPts val="400"/>
              </a:spcAft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Recall: </a:t>
            </a:r>
            <a:r>
              <a:rPr sz="1400" b="0">
                <a:solidFill>
                  <a:srgbClr val="1E293B"/>
                </a:solidFill>
                <a:latin typeface="Calibri"/>
              </a:rPr>
              <a:t>de los que abandonaron, cuántos detecta. Es la prioridad.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Precisión: </a:t>
            </a:r>
            <a:r>
              <a:rPr sz="1400" b="0">
                <a:solidFill>
                  <a:srgbClr val="1E293B"/>
                </a:solidFill>
                <a:latin typeface="Calibri"/>
              </a:rPr>
              <a:t>de sus alertas, cuántas son reales. Se exige al menos 50%.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ROC-AUC: </a:t>
            </a:r>
            <a:r>
              <a:rPr sz="1400" b="0">
                <a:solidFill>
                  <a:srgbClr val="1E293B"/>
                </a:solidFill>
                <a:latin typeface="Calibri"/>
              </a:rPr>
              <a:t>qué tan bien ordena a los clientes por riesgo, sin depender del umbral.</a:t>
            </a:r>
          </a:p>
          <a:p>
            <a:pPr marL="228600" indent="-228600">
              <a:spcAft>
                <a:spcPts val="400"/>
              </a:spcAft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Accuracy: </a:t>
            </a:r>
            <a:r>
              <a:rPr sz="1400" b="0">
                <a:solidFill>
                  <a:srgbClr val="1E293B"/>
                </a:solidFill>
                <a:latin typeface="Calibri"/>
              </a:rPr>
              <a:t>engaña con clases desbalanceadas: como el 80% se queda, es fácil acertar mucho.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41080" y="1691640"/>
            <a:ext cx="3017520" cy="4572000"/>
          </a:xfrm>
          <a:prstGeom prst="roundRect">
            <a:avLst>
              <a:gd name="adj" fmla="val 6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15400" y="192024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Se elige Random Forest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0" y="2743200"/>
            <a:ext cx="256032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FFFFFF"/>
                </a:solidFill>
                <a:latin typeface="Calibri"/>
              </a:rPr>
              <a:t>Mejor valor en las cinco métricas.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FFFFFF"/>
                </a:solidFill>
                <a:latin typeface="Calibri"/>
              </a:rPr>
              <a:t>También el mejor en validación cruzada (ROC-AUC 0,859 vs. 0,848 y 0,841).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FFFFFF"/>
                </a:solidFill>
                <a:latin typeface="Calibri"/>
              </a:rPr>
              <a:t>Gana en las 5 particiones a los otros dos (p = 0,020 y 0,002).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Random Forest detecta más con menos falsas alarmas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56578"/>
                </a:solidFill>
                <a:latin typeface="Calibri"/>
              </a:rPr>
              <a:t>Umbral 0,25: el de mayor recall con al menos 50% de alertas reales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3C49"/>
                </a:solidFill>
                <a:latin typeface="Calibri"/>
              </a:rPr>
              <a:t>Regresión logística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02996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556578"/>
                </a:solidFill>
                <a:latin typeface="Calibri"/>
              </a:rPr>
              <a:t>Predicción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28600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56578"/>
                </a:solidFill>
                <a:latin typeface="Calibri"/>
              </a:rPr>
              <a:t>Se mantiene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228600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56578"/>
                </a:solidFill>
                <a:latin typeface="Calibri"/>
              </a:rPr>
              <a:t>Abandona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56578"/>
                </a:solidFill>
                <a:latin typeface="Calibri"/>
              </a:rPr>
              <a:t>Real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91440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556578"/>
                </a:solidFill>
                <a:latin typeface="Calibri"/>
              </a:rPr>
              <a:t>Se mantiene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65176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E293B"/>
                </a:solidFill>
                <a:latin typeface="Calibri"/>
              </a:rPr>
              <a:t>1.320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65176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E293B"/>
                </a:solidFill>
                <a:latin typeface="Calibri"/>
              </a:rPr>
              <a:t>273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86200"/>
            <a:ext cx="91440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556578"/>
                </a:solidFill>
                <a:latin typeface="Calibri"/>
              </a:rPr>
              <a:t>Abandona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388620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388620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6459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3C49"/>
                </a:solidFill>
                <a:latin typeface="Calibri"/>
              </a:rPr>
              <a:t>Árbol de decisión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02996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556578"/>
                </a:solidFill>
                <a:latin typeface="Calibri"/>
              </a:rPr>
              <a:t>Predicción 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56578"/>
                </a:solidFill>
                <a:latin typeface="Calibri"/>
              </a:rPr>
              <a:t>Se mantiene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28600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56578"/>
                </a:solidFill>
                <a:latin typeface="Calibri"/>
              </a:rPr>
              <a:t>Abandona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2860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56578"/>
                </a:solidFill>
                <a:latin typeface="Calibri"/>
              </a:rPr>
              <a:t>Real 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651760"/>
            <a:ext cx="91440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556578"/>
                </a:solidFill>
                <a:latin typeface="Calibri"/>
              </a:rPr>
              <a:t>Se mantiene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9240" y="265176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E293B"/>
                </a:solidFill>
                <a:latin typeface="Calibri"/>
              </a:rPr>
              <a:t>1.349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79" y="265176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E293B"/>
                </a:solidFill>
                <a:latin typeface="Calibri"/>
              </a:rPr>
              <a:t>244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3886200"/>
            <a:ext cx="91440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556578"/>
                </a:solidFill>
                <a:latin typeface="Calibri"/>
              </a:rPr>
              <a:t>Abandona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49240" y="388620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79" y="388620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16459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7F79"/>
                </a:solidFill>
                <a:latin typeface="Calibri"/>
              </a:rPr>
              <a:t>Random Forest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02996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556578"/>
                </a:solidFill>
                <a:latin typeface="Calibri"/>
              </a:rPr>
              <a:t>Predicción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28600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56578"/>
                </a:solidFill>
                <a:latin typeface="Calibri"/>
              </a:rPr>
              <a:t>Se mantiene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228600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56578"/>
                </a:solidFill>
                <a:latin typeface="Calibri"/>
              </a:rPr>
              <a:t>Abandona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2860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56578"/>
                </a:solidFill>
                <a:latin typeface="Calibri"/>
              </a:rPr>
              <a:t>Real 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2651760"/>
            <a:ext cx="91440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556578"/>
                </a:solidFill>
                <a:latin typeface="Calibri"/>
              </a:rPr>
              <a:t>Se mantiene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265176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E293B"/>
                </a:solidFill>
                <a:latin typeface="Calibri"/>
              </a:rPr>
              <a:t>1.357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78440" y="265176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1E293B"/>
                </a:solidFill>
                <a:latin typeface="Calibri"/>
              </a:rPr>
              <a:t>236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886200"/>
            <a:ext cx="91440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556578"/>
                </a:solidFill>
                <a:latin typeface="Calibri"/>
              </a:rPr>
              <a:t>Abandona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88620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118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78440" y="388620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1B7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257800"/>
            <a:ext cx="11109960" cy="1005840"/>
          </a:xfrm>
          <a:prstGeom prst="roundRect">
            <a:avLst>
              <a:gd name="adj" fmla="val 6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60" y="525780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Random Forest: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detecta 289 de 407 abandonos (71%) con la menor cantidad de falsas alarmas (236). Con un umbral más alto (0,35) detectaría solo 242.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56578"/>
                </a:solidFill>
                <a:latin typeface="Calibri"/>
              </a:rPr>
              <a:t>Verde: abandonos detectados · Ámbar: abandonos no detectados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Qué variables usa más el modelo para predecir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56578"/>
                </a:solidFill>
                <a:latin typeface="Calibri"/>
              </a:rPr>
              <a:t>Importancia de cada variable en el Random Forest final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00200"/>
          <a:ext cx="694944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737360"/>
            <a:ext cx="3840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500" b="1">
                <a:solidFill>
                  <a:srgbClr val="1E293B"/>
                </a:solidFill>
                <a:latin typeface="Calibri"/>
              </a:rPr>
              <a:t>Edad: </a:t>
            </a:r>
            <a:r>
              <a:rPr sz="1500" b="0">
                <a:solidFill>
                  <a:srgbClr val="1E293B"/>
                </a:solidFill>
                <a:latin typeface="Calibri"/>
              </a:rPr>
              <a:t>el riesgo es máximo cerca de los 55 años; la variable creada para medirlo es la más usada.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1">
                <a:solidFill>
                  <a:srgbClr val="1E293B"/>
                </a:solidFill>
                <a:latin typeface="Calibri"/>
              </a:rPr>
              <a:t>Productos: </a:t>
            </a:r>
            <a:r>
              <a:rPr sz="1500" b="0">
                <a:solidFill>
                  <a:srgbClr val="1E293B"/>
                </a:solidFill>
                <a:latin typeface="Calibri"/>
              </a:rPr>
              <a:t>con 2 productos el abandono cae a 7,6%; con 3, sube a 82,7%.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1">
                <a:solidFill>
                  <a:srgbClr val="1E293B"/>
                </a:solidFill>
                <a:latin typeface="Calibri"/>
              </a:rPr>
              <a:t>Saldo, actividad y país </a:t>
            </a:r>
            <a:r>
              <a:rPr sz="1500" b="0">
                <a:solidFill>
                  <a:srgbClr val="1E293B"/>
                </a:solidFill>
                <a:latin typeface="Calibri"/>
              </a:rPr>
              <a:t>completan las señales detectadas en el EDA.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1">
                <a:solidFill>
                  <a:srgbClr val="1E293B"/>
                </a:solidFill>
                <a:latin typeface="Calibri"/>
              </a:rPr>
              <a:t>Ojo (en gris): </a:t>
            </a:r>
            <a:r>
              <a:rPr sz="1500" b="0">
                <a:solidFill>
                  <a:srgbClr val="1E293B"/>
                </a:solidFill>
                <a:latin typeface="Calibri"/>
              </a:rPr>
              <a:t>esta medida favorece variables con muchos valores; salario y puntaje no cambian el abandono.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Regresión: Random Forest con países es el mejor 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56578"/>
                </a:solidFill>
                <a:latin typeface="Calibri"/>
              </a:rPr>
              <a:t>Validación cruzada (5 partes) sobre 8.000 clientes · MAE y RMSE en unidades de saldo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74980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anchor="ctr"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marL="73152" marR="73152" anchor="ctr"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 marL="73152" marR="73152" anchor="ctr"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R²</a:t>
                      </a:r>
                    </a:p>
                  </a:txBody>
                  <a:tcPr marL="73152" marR="73152" anchor="ctr"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Regresión lineal sin países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49.999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57.966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0,13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Random Forest sin países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49.936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58.031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0,13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Regresión lineal con países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44.900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52.790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E293B"/>
                          </a:solidFill>
                          <a:latin typeface="Calibri"/>
                        </a:rPr>
                        <a:t>0,28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E293B"/>
                          </a:solidFill>
                          <a:latin typeface="Calibri"/>
                        </a:rPr>
                        <a:t>Random Forest con países</a:t>
                      </a:r>
                    </a:p>
                  </a:txBody>
                  <a:tcPr marL="73152" marR="73152" anchor="ctr">
                    <a:solidFill>
                      <a:srgbClr val="E3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B7F79"/>
                          </a:solidFill>
                          <a:latin typeface="Calibri"/>
                        </a:rPr>
                        <a:t>41.321</a:t>
                      </a:r>
                    </a:p>
                  </a:txBody>
                  <a:tcPr marL="73152" marR="73152" anchor="ctr">
                    <a:solidFill>
                      <a:srgbClr val="E3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B7F79"/>
                          </a:solidFill>
                          <a:latin typeface="Calibri"/>
                        </a:rPr>
                        <a:t>51.361</a:t>
                      </a:r>
                    </a:p>
                  </a:txBody>
                  <a:tcPr marL="73152" marR="73152" anchor="ctr">
                    <a:solidFill>
                      <a:srgbClr val="E3F0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B7F79"/>
                          </a:solidFill>
                          <a:latin typeface="Calibri"/>
                        </a:rPr>
                        <a:t>0,32</a:t>
                      </a:r>
                    </a:p>
                  </a:txBody>
                  <a:tcPr marL="73152" marR="73152" anchor="ctr">
                    <a:solidFill>
                      <a:srgbClr val="E3F0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749807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spcAft>
                <a:spcPts val="300"/>
              </a:spcAft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MAE: </a:t>
            </a:r>
            <a:r>
              <a:rPr sz="1400" b="0">
                <a:solidFill>
                  <a:srgbClr val="1E293B"/>
                </a:solidFill>
                <a:latin typeface="Calibri"/>
              </a:rPr>
              <a:t>error promedio de la estimación. Menor es mejor.</a:t>
            </a:r>
          </a:p>
          <a:p>
            <a:pPr marL="228600" indent="-228600">
              <a:spcAft>
                <a:spcPts val="300"/>
              </a:spcAft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RMSE: </a:t>
            </a:r>
            <a:r>
              <a:rPr sz="1400" b="0">
                <a:solidFill>
                  <a:srgbClr val="1E293B"/>
                </a:solidFill>
                <a:latin typeface="Calibri"/>
              </a:rPr>
              <a:t>como el MAE, pero castiga más los errores grandes.</a:t>
            </a:r>
          </a:p>
          <a:p>
            <a:pPr marL="228600" indent="-228600">
              <a:spcAft>
                <a:spcPts val="300"/>
              </a:spcAft>
              <a:buChar char="•"/>
            </a:pPr>
            <a:r>
              <a:rPr sz="1400" b="1">
                <a:solidFill>
                  <a:srgbClr val="1E293B"/>
                </a:solidFill>
                <a:latin typeface="Calibri"/>
              </a:rPr>
              <a:t>R²: </a:t>
            </a:r>
            <a:r>
              <a:rPr sz="1400" b="0">
                <a:solidFill>
                  <a:srgbClr val="1E293B"/>
                </a:solidFill>
                <a:latin typeface="Calibri"/>
              </a:rPr>
              <a:t>cuánto de la variación del saldo explica (0 = nada, 1 = todo).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41080" y="1691640"/>
            <a:ext cx="3017520" cy="4572000"/>
          </a:xfrm>
          <a:prstGeom prst="roundRect">
            <a:avLst>
              <a:gd name="adj" fmla="val 6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15400" y="1920240"/>
            <a:ext cx="2560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mbria"/>
              </a:rPr>
              <a:t>Se elige Random Forest con países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0" y="2971800"/>
            <a:ext cx="25603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FFFFFF"/>
                </a:solidFill>
                <a:latin typeface="Calibri"/>
              </a:rPr>
              <a:t>Menor MAE y RMSE, y mayor R².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FFFFFF"/>
                </a:solidFill>
                <a:latin typeface="Calibri"/>
              </a:rPr>
              <a:t>En prueba lo confirma: MAE 41.230 y R² 0,33.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FFFFFF"/>
                </a:solidFill>
                <a:latin typeface="Calibri"/>
              </a:rPr>
              <a:t>Sin países, el error sube a ~50.000 y los dos modelos empatan.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Sin los países, el modelo pierde más de la mitad de su R²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56578"/>
                </a:solidFill>
                <a:latin typeface="Calibri"/>
              </a:rPr>
              <a:t>R² en validación cruzada (5 partes), con y sin la variable Geography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21792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132320" y="1645920"/>
            <a:ext cx="4526280" cy="214884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3C49"/>
                </a:solidFill>
                <a:latin typeface="Calibri"/>
              </a:rPr>
              <a:t>¿Por qué?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240280"/>
            <a:ext cx="40233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  <a:latin typeface="Calibri"/>
              </a:rPr>
              <a:t>Ningún cliente de Alemania tiene saldo 0, contra ~48% en Francia y España. Probablemente se debe a cómo se armó la muestra, no a los clientes.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4023360"/>
            <a:ext cx="4526280" cy="2286000"/>
          </a:xfrm>
          <a:prstGeom prst="roundRect">
            <a:avLst>
              <a:gd name="adj" fmla="val 6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0" y="4206240"/>
            <a:ext cx="40233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E9A23B"/>
                </a:solidFill>
                <a:latin typeface="Cambria"/>
              </a:rPr>
              <a:t>13%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5029200"/>
            <a:ext cx="4023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del saldo explica el modelo con clientes reales: la estimación honesta, sin depender del país.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El modelo sabe quién tiene saldo, pero no cuánto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56578"/>
                </a:solidFill>
                <a:latin typeface="Calibri"/>
              </a:rPr>
              <a:t>Saldo real y saldo predicho, en promedio, según el saldo real del cliente · 2.000 clientes de prueba (miles)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731520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0" y="169164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7F79"/>
                </a:solidFill>
                <a:latin typeface="Calibri"/>
              </a:rPr>
              <a:t>Lo que sí aprende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2286000"/>
            <a:ext cx="29260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A los clientes con saldo 0 les predice menos (47 mil) que a los que tienen saldo (~93 mil).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4069080"/>
            <a:ext cx="3429000" cy="2194560"/>
          </a:xfrm>
          <a:prstGeom prst="roundRect">
            <a:avLst>
              <a:gd name="adj" fmla="val 6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251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E9A23B"/>
                </a:solidFill>
                <a:latin typeface="Calibri"/>
              </a:rPr>
              <a:t>Lo que no aprende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663440"/>
            <a:ext cx="29260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Entre los que tienen saldo, predice ~90 mil a todos: tengan 60 mil o 170 mil.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Clustering: KneeLocator detecta el codo en K =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56578"/>
                </a:solidFill>
                <a:latin typeface="Calibri"/>
              </a:rPr>
              <a:t>K-Means sobre 6 variables del perfil comercial, escaladas con StandardScaler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9494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863840" y="5074920"/>
            <a:ext cx="3794760" cy="1188720"/>
          </a:xfrm>
          <a:prstGeom prst="roundRect">
            <a:avLst>
              <a:gd name="adj" fmla="val 6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138160" y="5074920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>
                <a:solidFill>
                  <a:srgbClr val="E9A23B"/>
                </a:solidFill>
                <a:latin typeface="Cambria"/>
              </a:rPr>
              <a:t>Codo detectado: </a:t>
            </a:r>
            <a:r>
              <a:rPr sz="2400" b="1" i="0">
                <a:solidFill>
                  <a:srgbClr val="E9A23B"/>
                </a:solidFill>
                <a:latin typeface="Cambria"/>
              </a:rPr>
              <a:t>K =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840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500" b="1">
                <a:solidFill>
                  <a:srgbClr val="1E293B"/>
                </a:solidFill>
                <a:latin typeface="Calibri"/>
              </a:rPr>
              <a:t>KneeLocator: </a:t>
            </a:r>
            <a:r>
              <a:rPr sz="1500" b="0">
                <a:solidFill>
                  <a:srgbClr val="1E293B"/>
                </a:solidFill>
                <a:latin typeface="Calibri"/>
              </a:rPr>
              <a:t>detecta el codo en K = 4 (punto ámbar), aunque es suave: la inercia baja de forma gradual.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1">
                <a:solidFill>
                  <a:srgbClr val="1E293B"/>
                </a:solidFill>
                <a:latin typeface="Calibri"/>
              </a:rPr>
              <a:t>Silhouette: </a:t>
            </a:r>
            <a:r>
              <a:rPr sz="1500" b="0">
                <a:solidFill>
                  <a:srgbClr val="1E293B"/>
                </a:solidFill>
                <a:latin typeface="Calibri"/>
              </a:rPr>
              <a:t>K = 4 tiene el mayor valor entre K = 3 y K = 10 (0,170).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1">
                <a:solidFill>
                  <a:srgbClr val="1E293B"/>
                </a:solidFill>
                <a:latin typeface="Calibri"/>
              </a:rPr>
              <a:t>Utilidad: </a:t>
            </a:r>
            <a:r>
              <a:rPr sz="1500" b="0">
                <a:solidFill>
                  <a:srgbClr val="1E293B"/>
                </a:solidFill>
                <a:latin typeface="Calibri"/>
              </a:rPr>
              <a:t>K = 4 es el primero que separa a un grupo de clientes mayores.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1">
                <a:solidFill>
                  <a:srgbClr val="1E293B"/>
                </a:solidFill>
                <a:latin typeface="Calibri"/>
              </a:rPr>
              <a:t>Silhouette bajo (&lt; 0,2): </a:t>
            </a:r>
            <a:r>
              <a:rPr sz="1500" b="0">
                <a:solidFill>
                  <a:srgbClr val="1E293B"/>
                </a:solidFill>
                <a:latin typeface="Calibri"/>
              </a:rPr>
              <a:t>los clientes forman un continuo, no grupos naturales muy separados.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Cuatro segmentos de clientes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56578"/>
                </a:solidFill>
                <a:latin typeface="Calibri"/>
              </a:rPr>
              <a:t>Edad, saldo y productos son promedios de cada clúster · el abandono no se usó para agrupar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606040" cy="4572000"/>
          </a:xfrm>
          <a:prstGeom prst="roundRect">
            <a:avLst>
              <a:gd name="adj" fmla="val 6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E9A23B"/>
                </a:solidFill>
                <a:latin typeface="Cambria"/>
              </a:rPr>
              <a:t>Senior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BE4E2"/>
                </a:solidFill>
                <a:latin typeface="Calibri"/>
              </a:rPr>
              <a:t>Mayores, saldo medio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E9A23B"/>
                </a:solidFill>
                <a:latin typeface="Cambria"/>
              </a:rPr>
              <a:t>45,4%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5760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de abandono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Edad promedio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411480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59 años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Saldo promedio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452628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77.134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Con saldo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9377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924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Productos promedio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3492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1,3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76072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Clientes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57607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1.305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1691640"/>
            <a:ext cx="2606040" cy="457200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11880" y="1874519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3C49"/>
                </a:solidFill>
                <a:latin typeface="Cambria"/>
              </a:rPr>
              <a:t>Con saldo, 1 producto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56032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6578"/>
                </a:solidFill>
                <a:latin typeface="Calibri"/>
              </a:rPr>
              <a:t>Jóvenes con fondos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01752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1B7F79"/>
                </a:solidFill>
                <a:latin typeface="Cambria"/>
              </a:rPr>
              <a:t>20,7%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65760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de abandono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11480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Edad promedio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411480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36 años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452628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Saldo promedio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452628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121.031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93776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Con saldo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49377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534924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Productos promedio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53492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1,0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76072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Clientes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57607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3.471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1691640"/>
            <a:ext cx="2606040" cy="457200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46520" y="1874519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3C49"/>
                </a:solidFill>
                <a:latin typeface="Cambria"/>
              </a:rPr>
              <a:t>Con saldo, 2+ productos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256032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6578"/>
                </a:solidFill>
                <a:latin typeface="Calibri"/>
              </a:rPr>
              <a:t>Jóvenes con fondos y varios productos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1B7F79"/>
                </a:solidFill>
                <a:latin typeface="Cambria"/>
              </a:rPr>
              <a:t>20,6%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65760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de abandono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411480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Edad promedio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11480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37 años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52628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Saldo promedio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452628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121.155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93776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Con saldo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20" y="49377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0,7%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534924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Productos promedio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18120" y="53492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2,1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576072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Clientes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8120" y="57607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1.991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52560" y="1691640"/>
            <a:ext cx="2606040" cy="457200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281160" y="1874519"/>
            <a:ext cx="2194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B3C49"/>
                </a:solidFill>
                <a:latin typeface="Cambria"/>
              </a:rPr>
              <a:t>Sin saldo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81160" y="256032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6578"/>
                </a:solidFill>
                <a:latin typeface="Calibri"/>
              </a:rPr>
              <a:t>Jóvenes sin fondos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81160" y="301752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1B7F79"/>
                </a:solidFill>
                <a:latin typeface="Cambria"/>
              </a:rPr>
              <a:t>9,8%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1160" y="365760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de abandono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1160" y="411480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Edad promedio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411480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36 años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81160" y="452628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Saldo promedio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52760" y="452628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891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81160" y="493776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Con saldo 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52760" y="493776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98%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1160" y="534924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Productos promedio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52760" y="534924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1,8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81160" y="576072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Calibri"/>
              </a:rPr>
              <a:t>Clientes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52760" y="57607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1E293B"/>
                </a:solidFill>
                <a:latin typeface="Calibri"/>
              </a:rPr>
              <a:t>3.233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B3C49"/>
                </a:solidFill>
                <a:latin typeface="Cambria"/>
              </a:rPr>
              <a:t>Producto de inversión de alta gama: ¿a quién ofrecerlo?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56578"/>
                </a:solidFill>
                <a:latin typeface="Calibri"/>
              </a:rPr>
              <a:t>Producto de bajo riesgo, campaña focalizada y ética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9A23B"/>
                </a:solidFill>
                <a:latin typeface="Calibri"/>
              </a:rPr>
              <a:t>RECOMENDADO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Con saldo, 1 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452628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>
              <a:spcAft>
                <a:spcPts val="1200"/>
              </a:spcAft>
              <a:buChar char="•"/>
            </a:pPr>
            <a:r>
              <a:rPr sz="1500" b="1">
                <a:solidFill>
                  <a:srgbClr val="FFFFFF"/>
                </a:solidFill>
                <a:latin typeface="Calibri"/>
              </a:rPr>
              <a:t>Tienen fondos: </a:t>
            </a:r>
            <a:r>
              <a:rPr sz="1500" b="0">
                <a:solidFill>
                  <a:srgbClr val="FFFFFF"/>
                </a:solidFill>
                <a:latin typeface="Calibri"/>
              </a:rPr>
              <a:t>saldo promedio ~121.000 y ninguno con saldo 0.</a:t>
            </a:r>
          </a:p>
          <a:p>
            <a:pPr marL="228600" indent="-228600">
              <a:spcAft>
                <a:spcPts val="1200"/>
              </a:spcAft>
              <a:buChar char="•"/>
            </a:pPr>
            <a:r>
              <a:rPr sz="1500" b="1">
                <a:solidFill>
                  <a:srgbClr val="FFFFFF"/>
                </a:solidFill>
                <a:latin typeface="Calibri"/>
              </a:rPr>
              <a:t>Amplía la relación sin sobrecargarla: </a:t>
            </a:r>
            <a:r>
              <a:rPr sz="1500" b="0">
                <a:solidFill>
                  <a:srgbClr val="FFFFFF"/>
                </a:solidFill>
                <a:latin typeface="Calibri"/>
              </a:rPr>
              <a:t>hoy tienen un solo producto; los clientes con 2 son los que menos abandonan.</a:t>
            </a:r>
          </a:p>
          <a:p>
            <a:pPr marL="228600" indent="-228600">
              <a:spcAft>
                <a:spcPts val="1200"/>
              </a:spcAft>
              <a:buChar char="•"/>
            </a:pPr>
            <a:r>
              <a:rPr sz="1500" b="1">
                <a:solidFill>
                  <a:srgbClr val="FFFFFF"/>
                </a:solidFill>
                <a:latin typeface="Calibri"/>
              </a:rPr>
              <a:t>El menos afectado por el sesgo: </a:t>
            </a:r>
            <a:r>
              <a:rPr sz="1500" b="0">
                <a:solidFill>
                  <a:srgbClr val="FFFFFF"/>
                </a:solidFill>
                <a:latin typeface="Calibri"/>
              </a:rPr>
              <a:t>el segmento más grande (3.471) y con una proporción de alemanes cercana al 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691640"/>
            <a:ext cx="5715000" cy="141732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1874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B3C49"/>
                </a:solidFill>
                <a:latin typeface="Calibri"/>
              </a:rPr>
              <a:t>Sin saldo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8745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E9A23B"/>
                </a:solidFill>
                <a:latin typeface="Calibri"/>
              </a:rPr>
              <a:t>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86000"/>
            <a:ext cx="5257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Casi no tienen fondos: empujarles una inversión podría llevarlos a endeudarse.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264408"/>
            <a:ext cx="5715000" cy="141732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344728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B3C49"/>
                </a:solidFill>
                <a:latin typeface="Calibri"/>
              </a:rPr>
              <a:t>Senior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344728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1B7F79"/>
                </a:solidFill>
                <a:latin typeface="Calibri"/>
              </a:rPr>
              <a:t>Con cuidado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858768"/>
            <a:ext cx="5257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Tienen fondos, pero el 45% abandona: usar la inversión como gancho para retener a personas mayores no es ético.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4837176"/>
            <a:ext cx="5715000" cy="1417320"/>
          </a:xfrm>
          <a:prstGeom prst="roundRect">
            <a:avLst>
              <a:gd name="adj" fmla="val 6000"/>
            </a:avLst>
          </a:prstGeom>
          <a:solidFill>
            <a:srgbClr val="E3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0" y="5020056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B3C49"/>
                </a:solidFill>
                <a:latin typeface="Calibri"/>
              </a:rPr>
              <a:t>Con saldo, 2+ productos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5020056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1B7F79"/>
                </a:solidFill>
                <a:latin typeface="Calibri"/>
              </a:rPr>
              <a:t>Solo asesorado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431536"/>
            <a:ext cx="5257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Ya tienen varios productos (con 3, el 83% abandona) y la mitad son alemanes por el sesgo de la muestra.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Conclusiones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0B3C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783080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Abandono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242316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CBE4E2"/>
                </a:solidFill>
                <a:latin typeface="Calibri"/>
              </a:rPr>
              <a:t>Se puede anticipar: ROC-AUC 0,86, mejor que la logística y el árbol. Priorizando el recall (umbral 0,25), el Random Forest detecta el 71% de los abandonos y el 55% de sus alertas son reales.</a:t>
            </a:r>
          </a:p>
        </p:txBody>
      </p:sp>
      <p:sp>
        <p:nvSpPr>
          <p:cNvPr id="6" name="Oval 5"/>
          <p:cNvSpPr/>
          <p:nvPr/>
        </p:nvSpPr>
        <p:spPr>
          <a:xfrm>
            <a:off x="6217920" y="1783080"/>
            <a:ext cx="548640" cy="54864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0B3C49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59" y="1783080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Saldo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59" y="242316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CBE4E2"/>
                </a:solidFill>
                <a:latin typeface="Calibri"/>
              </a:rPr>
              <a:t>No se puede proyectar el monto con estas variables: el modelo solo distingue, a medias, quién tiene saldo. Explica entre 13% y 21% sin depender del país.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0B3C49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023360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Segmentos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66344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CBE4E2"/>
                </a:solidFill>
                <a:latin typeface="Calibri"/>
              </a:rPr>
              <a:t>Cuatro grupos útiles para campañas. Los clientes senior son el grupo de mayor riesgo (45% de abandono).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4023360"/>
            <a:ext cx="548640" cy="54864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0B3C49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4023360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Datos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4663440"/>
            <a:ext cx="4434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CBE4E2"/>
                </a:solidFill>
                <a:latin typeface="Calibri"/>
              </a:rPr>
              <a:t>Alemania no tiene clientes con saldo 0 (probable sesgo de muestreo) y el dataset no trae fechas, lo que limita las conclusiones.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2039</Words>
  <Application>Microsoft Macintosh PowerPoint</Application>
  <PresentationFormat>Widescreen</PresentationFormat>
  <Paragraphs>280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FRANCISCA ANTONIA CARRASCO LOZANO</cp:lastModifiedBy>
  <cp:revision>2</cp:revision>
  <dcterms:created xsi:type="dcterms:W3CDTF">2013-01-27T09:14:16Z</dcterms:created>
  <dcterms:modified xsi:type="dcterms:W3CDTF">2026-10-01T16:30:27Z</dcterms:modified>
  <cp:category/>
</cp:coreProperties>
</file>