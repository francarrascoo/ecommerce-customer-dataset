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9d93d866-935c-10e9-bcb3-be4f2f372542}">
          <p14:sldIdLst>
            <p14:sldId id="256"/>
            <p14:sldId id="257"/>
          </p14:sldIdLst>
        </p14:section>
        <p14:section name="Paso 1: GridSearchCV" id="{61468125-8ecd-b4c4-0705-047ee510a606}">
          <p14:sldIdLst>
            <p14:sldId id="258"/>
            <p14:sldId id="259"/>
            <p14:sldId id="260"/>
            <p14:sldId id="261"/>
          </p14:sldIdLst>
        </p14:section>
        <p14:section name="Paso 2: RandomizedSearchCV" id="{734a9f59-aa2d-8676-75ee-dc5be5e9da0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8A919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1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Entrenamiento</c:v>
                  </c:pt>
                  <c:pt idx="1">
                    <c:v>Validación cruzada</c:v>
                  </c:pt>
                  <c:pt idx="2">
                    <c:v>Prueba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0.486</c:v>
                </c:pt>
                <c:pt idx="2">
                  <c:v>0.485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A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Árbol por defecto</c:v>
                </c:pt>
              </c:strCache>
            </c:strRef>
          </c:tx>
          <c:spPr>
            <a:solidFill>
              <a:srgbClr val="8A919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F1</c:v>
                  </c:pt>
                  <c:pt idx="1">
                    <c:v>Precisión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0.485</c:v>
                </c:pt>
                <c:pt idx="1">
                  <c:v>0.462</c:v>
                </c:pt>
                <c:pt idx="2">
                  <c:v>0.511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Árbol ajustado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F1</c:v>
                  </c:pt>
                  <c:pt idx="1">
                    <c:v>Precisión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0.62</c:v>
                </c:pt>
                <c:pt idx="1">
                  <c:v>0.683</c:v>
                </c:pt>
                <c:pt idx="2">
                  <c:v>0.568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A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en entrenamiento</c:v>
                </c:pt>
              </c:strCache>
            </c:strRef>
          </c:tx>
          <c:spPr>
            <a:solidFill>
              <a:srgbClr val="8A9199"/>
            </a:solidFill>
            <a:ln w="25400" cap="flat">
              <a:solidFill>
                <a:srgbClr val="8A91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A9199"/>
              </a:solidFill>
              <a:ln w="9525" cap="flat">
                <a:solidFill>
                  <a:srgbClr val="8A91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Sin límite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0.46</c:v>
                </c:pt>
                <c:pt idx="1">
                  <c:v>0.525</c:v>
                </c:pt>
                <c:pt idx="2">
                  <c:v>0.56</c:v>
                </c:pt>
                <c:pt idx="3">
                  <c:v>0.592</c:v>
                </c:pt>
                <c:pt idx="4">
                  <c:v>0.654</c:v>
                </c:pt>
                <c:pt idx="5">
                  <c:v>0.735</c:v>
                </c:pt>
                <c:pt idx="6">
                  <c:v>0.815</c:v>
                </c:pt>
                <c:pt idx="7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en validación</c:v>
                </c:pt>
              </c:strCache>
            </c:strRef>
          </c:tx>
          <c:spPr>
            <a:solidFill>
              <a:srgbClr val="2251FF"/>
            </a:solidFill>
            <a:ln w="25400" cap="flat">
              <a:solidFill>
                <a:srgbClr val="2251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251FF"/>
              </a:solidFill>
              <a:ln w="9525" cap="flat">
                <a:solidFill>
                  <a:srgbClr val="2251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Sin límite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0.459</c:v>
                </c:pt>
                <c:pt idx="1">
                  <c:v>0.512</c:v>
                </c:pt>
                <c:pt idx="2">
                  <c:v>0.541</c:v>
                </c:pt>
                <c:pt idx="3">
                  <c:v>0.546</c:v>
                </c:pt>
                <c:pt idx="4">
                  <c:v>0.549</c:v>
                </c:pt>
                <c:pt idx="5">
                  <c:v>0.528</c:v>
                </c:pt>
                <c:pt idx="6">
                  <c:v>0.512</c:v>
                </c:pt>
                <c:pt idx="7">
                  <c:v>0.486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670"/>
                    </a:solidFill>
                    <a:latin typeface="+mn-lt"/>
                  </a:rPr>
                  <a:t>max_depth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A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6E9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en entrenamiento</c:v>
                </c:pt>
              </c:strCache>
            </c:strRef>
          </c:tx>
          <c:spPr>
            <a:solidFill>
              <a:srgbClr val="8A9199"/>
            </a:solidFill>
            <a:ln w="25400" cap="flat">
              <a:solidFill>
                <a:srgbClr val="8A91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A9199"/>
              </a:solidFill>
              <a:ln w="9525" cap="flat">
                <a:solidFill>
                  <a:srgbClr val="8A91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Sin límite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0.469</c:v>
                </c:pt>
                <c:pt idx="1">
                  <c:v>0.528</c:v>
                </c:pt>
                <c:pt idx="2">
                  <c:v>0.564</c:v>
                </c:pt>
                <c:pt idx="3">
                  <c:v>0.582</c:v>
                </c:pt>
                <c:pt idx="4">
                  <c:v>0.592</c:v>
                </c:pt>
                <c:pt idx="5">
                  <c:v>0.603</c:v>
                </c:pt>
                <c:pt idx="6">
                  <c:v>0.604</c:v>
                </c:pt>
                <c:pt idx="7">
                  <c:v>0.604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en validación</c:v>
                </c:pt>
              </c:strCache>
            </c:strRef>
          </c:tx>
          <c:spPr>
            <a:solidFill>
              <a:srgbClr val="2251FF"/>
            </a:solidFill>
            <a:ln w="25400" cap="flat">
              <a:solidFill>
                <a:srgbClr val="2251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251FF"/>
              </a:solidFill>
              <a:ln w="9525" cap="flat">
                <a:solidFill>
                  <a:srgbClr val="2251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Sin límite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0.465</c:v>
                </c:pt>
                <c:pt idx="1">
                  <c:v>0.519</c:v>
                </c:pt>
                <c:pt idx="2">
                  <c:v>0.553</c:v>
                </c:pt>
                <c:pt idx="3">
                  <c:v>0.567</c:v>
                </c:pt>
                <c:pt idx="4">
                  <c:v>0.572</c:v>
                </c:pt>
                <c:pt idx="5">
                  <c:v>0.578</c:v>
                </c:pt>
                <c:pt idx="6">
                  <c:v>0.577</c:v>
                </c:pt>
                <c:pt idx="7">
                  <c:v>0.577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670"/>
                    </a:solidFill>
                    <a:latin typeface="+mn-lt"/>
                  </a:rPr>
                  <a:t>max_depth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A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6E9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Entrenamientos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1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RandomizedSearchCV</c:v>
                  </c:pt>
                  <c:pt idx="1">
                    <c:v>GridSearchCV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2500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3.1.2: ajuste de hiperparámetros con GridSearchCV (árbol de decisión, Exited) y RandomizedSearchCV (Ridge, Balance).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respuestas de la guía: el árbol por defecto sobreajusta, GridSearchCV lo corrige (F1 0,485 a 0,620) y RandomizedSearchCV necesita 100 entrenamientos frente a 2.500.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límites el árbol crece hasta que cada hoja tiene una sola clase. Acierta todo en entrenamiento pero en prueba detecta solo 208 de 407 abandonos y genera 242 falsas alarmas. La validación cruzada da lo mismo, así que es sobreajuste y no mala suerte de la partición.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max_depth, min_samples_split y min_samples_leaf limitan el crecimiento del árbol; class_weight prueba darles más peso a los abandonos (20,4% de los clientes). Gana la combinación con mejor F1 promedio.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 la pregunta del Paso 1: el F1 sube 0,135. La precisión pasa de 0,462 a 0,683 y el recall de 0,511 a 0,568. La brecha entre entrenamiento y prueba casi desaparece y el árbol pasa de 1.149 a 65 hojas.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poca profundidad hay subajuste (max_depth = 3: F1 0,465). Sin otros límites, desde la profundidad 8 el árbol crea reglas para grupos cada vez más chicos: el entrenamiento llega a 1,000 y la validación cae a 0,486. Con min_samples_split = 200 el árbol deja de crecer cerca del nivel 10, por eso 12 y sin límite dan lo mismo.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Ridge es la regresión con los hiperparámetros que nombra la guía (alpha y solver). alpha se muestrea de forma log uniforme para darle la misma probabilidad a cada orden de magnitud. Un alpha tan bajo deja a Ridge como una regresión lineal común.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al desafío: n_iter × cv = 20 × 5 = 100 entrenamientos. Con GridSearchCV: 100 alphas × 5 solvers = 500 combinaciones × 5 pliegues = 2.500.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1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94560"/>
            <a:ext cx="786384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148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737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3"/>
                </a:solidFill>
              </a:rPr>
              <a:t>MLY1101 MACHINE LEARNING · ACTIVIDAD 3.1.2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9456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Ajuste de hiperparámetros para predecir el abandono y estimar el saldo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GridSearchCV en un árbol de decisión y RandomizedSearchCV en una regresión Ridge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Ecommerce Customer Dataset · 10.000 clientes · Duoc UC</a:t>
            </a:r>
            <a:endParaRPr lang="en-US" sz="1100" dirty="0"/>
          </a:p>
        </p:txBody>
      </p:sp>
      <p:sp>
        <p:nvSpPr>
          <p:cNvPr id="6" name="Combinación probada"/>
          <p:cNvSpPr/>
          <p:nvPr/>
        </p:nvSpPr>
        <p:spPr>
          <a:xfrm>
            <a:off x="9098280" y="2331720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Combinación probada"/>
          <p:cNvSpPr/>
          <p:nvPr/>
        </p:nvSpPr>
        <p:spPr>
          <a:xfrm>
            <a:off x="9427464" y="2331720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mbinación probada"/>
          <p:cNvSpPr/>
          <p:nvPr/>
        </p:nvSpPr>
        <p:spPr>
          <a:xfrm>
            <a:off x="9756648" y="2331720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Combinación probada"/>
          <p:cNvSpPr/>
          <p:nvPr/>
        </p:nvSpPr>
        <p:spPr>
          <a:xfrm>
            <a:off x="10085832" y="2331720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Combinación probada"/>
          <p:cNvSpPr/>
          <p:nvPr/>
        </p:nvSpPr>
        <p:spPr>
          <a:xfrm>
            <a:off x="10415016" y="2331720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Combinación probada"/>
          <p:cNvSpPr/>
          <p:nvPr/>
        </p:nvSpPr>
        <p:spPr>
          <a:xfrm>
            <a:off x="10744200" y="2331720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Combinación probada"/>
          <p:cNvSpPr/>
          <p:nvPr/>
        </p:nvSpPr>
        <p:spPr>
          <a:xfrm>
            <a:off x="11073384" y="2331720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Combinación probada"/>
          <p:cNvSpPr/>
          <p:nvPr/>
        </p:nvSpPr>
        <p:spPr>
          <a:xfrm>
            <a:off x="11402568" y="2331720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Combinación probada"/>
          <p:cNvSpPr/>
          <p:nvPr/>
        </p:nvSpPr>
        <p:spPr>
          <a:xfrm>
            <a:off x="9098280" y="26609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Combinación probada"/>
          <p:cNvSpPr/>
          <p:nvPr/>
        </p:nvSpPr>
        <p:spPr>
          <a:xfrm>
            <a:off x="9427464" y="26609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Combinación probada"/>
          <p:cNvSpPr/>
          <p:nvPr/>
        </p:nvSpPr>
        <p:spPr>
          <a:xfrm>
            <a:off x="9756648" y="26609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Combinación probada"/>
          <p:cNvSpPr/>
          <p:nvPr/>
        </p:nvSpPr>
        <p:spPr>
          <a:xfrm>
            <a:off x="10085832" y="26609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Combinación probada"/>
          <p:cNvSpPr/>
          <p:nvPr/>
        </p:nvSpPr>
        <p:spPr>
          <a:xfrm>
            <a:off x="10415016" y="26609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Combinación probada"/>
          <p:cNvSpPr/>
          <p:nvPr/>
        </p:nvSpPr>
        <p:spPr>
          <a:xfrm>
            <a:off x="10744200" y="26609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Combinación probada"/>
          <p:cNvSpPr/>
          <p:nvPr/>
        </p:nvSpPr>
        <p:spPr>
          <a:xfrm>
            <a:off x="11073384" y="26609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Combinación probada"/>
          <p:cNvSpPr/>
          <p:nvPr/>
        </p:nvSpPr>
        <p:spPr>
          <a:xfrm>
            <a:off x="11402568" y="26609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Combinación probada"/>
          <p:cNvSpPr/>
          <p:nvPr/>
        </p:nvSpPr>
        <p:spPr>
          <a:xfrm>
            <a:off x="9098280" y="29900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Combinación probada"/>
          <p:cNvSpPr/>
          <p:nvPr/>
        </p:nvSpPr>
        <p:spPr>
          <a:xfrm>
            <a:off x="9427464" y="29900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Combinación probada"/>
          <p:cNvSpPr/>
          <p:nvPr/>
        </p:nvSpPr>
        <p:spPr>
          <a:xfrm>
            <a:off x="9756648" y="29900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Combinación probada"/>
          <p:cNvSpPr/>
          <p:nvPr/>
        </p:nvSpPr>
        <p:spPr>
          <a:xfrm>
            <a:off x="10085832" y="29900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Combinación probada"/>
          <p:cNvSpPr/>
          <p:nvPr/>
        </p:nvSpPr>
        <p:spPr>
          <a:xfrm>
            <a:off x="10415016" y="29900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Combinación probada"/>
          <p:cNvSpPr/>
          <p:nvPr/>
        </p:nvSpPr>
        <p:spPr>
          <a:xfrm>
            <a:off x="10744200" y="29900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Combinación probada"/>
          <p:cNvSpPr/>
          <p:nvPr/>
        </p:nvSpPr>
        <p:spPr>
          <a:xfrm>
            <a:off x="11073384" y="29900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Combinación probada"/>
          <p:cNvSpPr/>
          <p:nvPr/>
        </p:nvSpPr>
        <p:spPr>
          <a:xfrm>
            <a:off x="11402568" y="29900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Combinación probada"/>
          <p:cNvSpPr/>
          <p:nvPr/>
        </p:nvSpPr>
        <p:spPr>
          <a:xfrm>
            <a:off x="9098280" y="331927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Combinación probada"/>
          <p:cNvSpPr/>
          <p:nvPr/>
        </p:nvSpPr>
        <p:spPr>
          <a:xfrm>
            <a:off x="9427464" y="331927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Combinación probada"/>
          <p:cNvSpPr/>
          <p:nvPr/>
        </p:nvSpPr>
        <p:spPr>
          <a:xfrm>
            <a:off x="9756648" y="331927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Combinación probada"/>
          <p:cNvSpPr/>
          <p:nvPr/>
        </p:nvSpPr>
        <p:spPr>
          <a:xfrm>
            <a:off x="10085832" y="331927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Combinación probada"/>
          <p:cNvSpPr/>
          <p:nvPr/>
        </p:nvSpPr>
        <p:spPr>
          <a:xfrm>
            <a:off x="10415016" y="331927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Combinación probada"/>
          <p:cNvSpPr/>
          <p:nvPr/>
        </p:nvSpPr>
        <p:spPr>
          <a:xfrm>
            <a:off x="10744200" y="331927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Combinación probada"/>
          <p:cNvSpPr/>
          <p:nvPr/>
        </p:nvSpPr>
        <p:spPr>
          <a:xfrm>
            <a:off x="11073384" y="331927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Combinación probada"/>
          <p:cNvSpPr/>
          <p:nvPr/>
        </p:nvSpPr>
        <p:spPr>
          <a:xfrm>
            <a:off x="11402568" y="331927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Combinación probada"/>
          <p:cNvSpPr/>
          <p:nvPr/>
        </p:nvSpPr>
        <p:spPr>
          <a:xfrm>
            <a:off x="9098280" y="3648456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Combinación probada"/>
          <p:cNvSpPr/>
          <p:nvPr/>
        </p:nvSpPr>
        <p:spPr>
          <a:xfrm>
            <a:off x="9427464" y="3648456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Combinación probada"/>
          <p:cNvSpPr/>
          <p:nvPr/>
        </p:nvSpPr>
        <p:spPr>
          <a:xfrm>
            <a:off x="9756648" y="3648456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Combinación probada"/>
          <p:cNvSpPr/>
          <p:nvPr/>
        </p:nvSpPr>
        <p:spPr>
          <a:xfrm>
            <a:off x="10085832" y="3648456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Combinación probada"/>
          <p:cNvSpPr/>
          <p:nvPr/>
        </p:nvSpPr>
        <p:spPr>
          <a:xfrm>
            <a:off x="10415016" y="3648456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Combinación elegida"/>
          <p:cNvSpPr/>
          <p:nvPr/>
        </p:nvSpPr>
        <p:spPr>
          <a:xfrm>
            <a:off x="10744200" y="364845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Combinación probada"/>
          <p:cNvSpPr/>
          <p:nvPr/>
        </p:nvSpPr>
        <p:spPr>
          <a:xfrm>
            <a:off x="11073384" y="3648456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Combinación probada"/>
          <p:cNvSpPr/>
          <p:nvPr/>
        </p:nvSpPr>
        <p:spPr>
          <a:xfrm>
            <a:off x="11402568" y="3648456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1"/>
                </a:solidFill>
              </a:rPr>
              <a:t>RESUMEN EJECUTIVO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El ajuste corrige el sobreajuste del árbol de abandono, y RandomizedSearchCV ajusta la regresión del saldo con 25 veces menos entrenamientos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Fuente: notebooks/ajuste_hiperparametros.ipynb.</a:t>
            </a:r>
            <a:endParaRPr lang="en-US" sz="1000" dirty="0"/>
          </a:p>
        </p:txBody>
      </p:sp>
      <p:sp>
        <p:nvSpPr>
          <p:cNvPr id="6" name="Divisor"/>
          <p:cNvSpPr/>
          <p:nvPr/>
        </p:nvSpPr>
        <p:spPr>
          <a:xfrm>
            <a:off x="548640" y="187452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Número 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úmero 1"/>
          <p:cNvSpPr txBox="1"/>
          <p:nvPr/>
        </p:nvSpPr>
        <p:spPr>
          <a:xfrm>
            <a:off x="5486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221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00" kern="0" dirty="0">
                <a:solidFill>
                  <a:schemeClr val="tx2"/>
                </a:solidFill>
              </a:rPr>
              <a:t>ÁRBOL POR DEFECTO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1488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los hiperparámetros por defecto el árbol memoriza el entrenamiento: crece hasta 25 niveles y su F1 baja de 1,000 en entrenamiento a 0,485 en prueba.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464040" y="20574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0,485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464040" y="26243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F1 en prueba, árbol por defecto</a:t>
            </a:r>
            <a:endParaRPr lang="en-US" sz="1100" dirty="0"/>
          </a:p>
        </p:txBody>
      </p:sp>
      <p:sp>
        <p:nvSpPr>
          <p:cNvPr id="13" name="Divisor"/>
          <p:cNvSpPr/>
          <p:nvPr/>
        </p:nvSpPr>
        <p:spPr>
          <a:xfrm>
            <a:off x="548640" y="324612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Número 2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úmero 2"/>
          <p:cNvSpPr txBox="1"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593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00" kern="0" dirty="0">
                <a:solidFill>
                  <a:schemeClr val="tx2"/>
                </a:solidFill>
              </a:rPr>
              <a:t>GRIDSEARCHCV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35204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búsqueda por malla eligió max_depth = 10 y min_samples_split = 200. El F1 en prueba sube a 0,620 y las falsas alarmas bajan de 242 a 107.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4290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0,620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464040" y="39959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F1 en prueba, árbol ajustado</a:t>
            </a:r>
            <a:endParaRPr lang="en-US" sz="1100" dirty="0"/>
          </a:p>
        </p:txBody>
      </p:sp>
      <p:sp>
        <p:nvSpPr>
          <p:cNvPr id="20" name="Divisor"/>
          <p:cNvSpPr/>
          <p:nvPr/>
        </p:nvSpPr>
        <p:spPr>
          <a:xfrm>
            <a:off x="548640" y="461772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1" name="Número 3"/>
          <p:cNvSpPr/>
          <p:nvPr/>
        </p:nvSpPr>
        <p:spPr>
          <a:xfrm>
            <a:off x="548640" y="48920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úmero 3"/>
          <p:cNvSpPr txBox="1"/>
          <p:nvPr/>
        </p:nvSpPr>
        <p:spPr>
          <a:xfrm>
            <a:off x="54864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4965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00" kern="0" dirty="0">
                <a:solidFill>
                  <a:schemeClr val="tx2"/>
                </a:solidFill>
              </a:rPr>
              <a:t>RANDOMIZEDSEARCHCV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931920" y="48920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Ridge se ajustó con 20 combinaciones al azar: 100 entrenamientos frente a los 2.500 de una grilla con 100 alphas y 5 solvers.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464040" y="48006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veces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9464040" y="53675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menos entrenamientos que la grilla</a:t>
            </a:r>
            <a:endParaRPr lang="en-US" sz="1100" dirty="0"/>
          </a:p>
        </p:txBody>
      </p:sp>
      <p:sp>
        <p:nvSpPr>
          <p:cNvPr id="27" name="Divisor"/>
          <p:cNvSpPr/>
          <p:nvPr/>
        </p:nvSpPr>
        <p:spPr>
          <a:xfrm>
            <a:off x="548640" y="598932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1"/>
                </a:solidFill>
              </a:rPr>
              <a:t>PASO 1 · GRIDSEARCHCV · PUNTO DE PARTIDA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Con los hiperparámetros por defecto, el árbol memoriza el entrenamiento y su F1 cae a la mitad con clientes nuevos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Fuente: notebooks/ajuste_hiperparametros.ipynb. Prueba: 2.000 clientes (407 abandonos). Validación cruzada estratificada de 5 pliegues sobre 8.000 clientes.</a:t>
            </a:r>
            <a:endParaRPr lang="en-US" sz="1000" dirty="0"/>
          </a:p>
        </p:txBody>
      </p:sp>
      <p:sp>
        <p:nvSpPr>
          <p:cNvPr id="6" name="Título del gráfico"/>
          <p:cNvSpPr txBox="1"/>
          <p:nvPr/>
        </p:nvSpPr>
        <p:spPr>
          <a:xfrm>
            <a:off x="548640" y="18105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F1 de la clase Abandona, árbol por defecto</a:t>
            </a:r>
            <a:endParaRPr lang="en-US" sz="1400" dirty="0"/>
          </a:p>
        </p:txBody>
      </p:sp>
      <p:graphicFrame>
        <p:nvGraphicFramePr>
          <p:cNvPr id="7" name="Gráfico F1 árbol por defecto" descr=""/>
          <p:cNvGraphicFramePr/>
          <p:nvPr/>
        </p:nvGraphicFramePr>
        <p:xfrm>
          <a:off x="548640" y="219456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818120" y="187452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7818120" y="2441448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niveles de profundidad y 1.149 hojas</a:t>
            </a:r>
            <a:endParaRPr lang="en-US" sz="1400" dirty="0"/>
          </a:p>
        </p:txBody>
      </p:sp>
      <p:sp>
        <p:nvSpPr>
          <p:cNvPr id="10" name="Divisor"/>
          <p:cNvSpPr/>
          <p:nvPr/>
        </p:nvSpPr>
        <p:spPr>
          <a:xfrm>
            <a:off x="7818120" y="3108960"/>
            <a:ext cx="38221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818120" y="324612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242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3813048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falsas alarmas, más que los 208 abandonos que detecta</a:t>
            </a:r>
            <a:endParaRPr lang="en-US" sz="1400" dirty="0"/>
          </a:p>
        </p:txBody>
      </p:sp>
      <p:sp>
        <p:nvSpPr>
          <p:cNvPr id="13" name="Divisor"/>
          <p:cNvSpPr/>
          <p:nvPr/>
        </p:nvSpPr>
        <p:spPr>
          <a:xfrm>
            <a:off x="7818120" y="4480560"/>
            <a:ext cx="382219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18120" y="461772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0,486 ± 0,021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5184648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F1 en validación cruzada: el sobreajuste no depende de la partición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1"/>
                </a:solidFill>
              </a:rPr>
              <a:t>PASO 1 · GRIDSEARCHCV · BÚSQUEDA POR MALLA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GridSearchCV probó 320 combinaciones con 5 pliegues y eligió un árbol de profundidad 10 que solo divide grupos de 200 clientes o más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Fuente: notebooks/ajuste_hiperparametros.ipynb. Criterio: F1 promedio en 5 pliegues estratificados; el mejor modelo se reentrena con todo el entrenamiento.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max_depth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preguntas encadenadas</a:t>
            </a:r>
            <a:endParaRPr lang="en-US" sz="1100" dirty="0"/>
          </a:p>
        </p:txBody>
      </p:sp>
      <p:sp>
        <p:nvSpPr>
          <p:cNvPr id="8" name="max_depth = 3"/>
          <p:cNvSpPr/>
          <p:nvPr/>
        </p:nvSpPr>
        <p:spPr>
          <a:xfrm>
            <a:off x="3429000" y="193852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9" name="max_depth = 4"/>
          <p:cNvSpPr/>
          <p:nvPr/>
        </p:nvSpPr>
        <p:spPr>
          <a:xfrm>
            <a:off x="4434840" y="193852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0" name="max_depth = 5"/>
          <p:cNvSpPr/>
          <p:nvPr/>
        </p:nvSpPr>
        <p:spPr>
          <a:xfrm>
            <a:off x="5440680" y="193852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11" name="max_depth = 6"/>
          <p:cNvSpPr/>
          <p:nvPr/>
        </p:nvSpPr>
        <p:spPr>
          <a:xfrm>
            <a:off x="6446520" y="193852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12" name="max_depth = 8"/>
          <p:cNvSpPr/>
          <p:nvPr/>
        </p:nvSpPr>
        <p:spPr>
          <a:xfrm>
            <a:off x="7452360" y="193852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</a:t>
            </a:r>
            <a:endParaRPr lang="en-US" sz="1300" dirty="0"/>
          </a:p>
        </p:txBody>
      </p:sp>
      <p:sp>
        <p:nvSpPr>
          <p:cNvPr id="13" name="max_depth = 10"/>
          <p:cNvSpPr/>
          <p:nvPr/>
        </p:nvSpPr>
        <p:spPr>
          <a:xfrm>
            <a:off x="8458200" y="193852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14" name="max_depth = 12"/>
          <p:cNvSpPr/>
          <p:nvPr/>
        </p:nvSpPr>
        <p:spPr>
          <a:xfrm>
            <a:off x="9464040" y="193852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12</a:t>
            </a:r>
            <a:endParaRPr lang="en-US" sz="1300" dirty="0"/>
          </a:p>
        </p:txBody>
      </p:sp>
      <p:sp>
        <p:nvSpPr>
          <p:cNvPr id="15" name="max_depth = Sin límite"/>
          <p:cNvSpPr/>
          <p:nvPr/>
        </p:nvSpPr>
        <p:spPr>
          <a:xfrm>
            <a:off x="10469880" y="193852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 límite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min_samples_split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clientes para dividir un nodo</a:t>
            </a:r>
            <a:endParaRPr lang="en-US" sz="1100" dirty="0"/>
          </a:p>
        </p:txBody>
      </p:sp>
      <p:sp>
        <p:nvSpPr>
          <p:cNvPr id="18" name="min_samples_split = 2"/>
          <p:cNvSpPr/>
          <p:nvPr/>
        </p:nvSpPr>
        <p:spPr>
          <a:xfrm>
            <a:off x="3429000" y="267004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min_samples_split = 20"/>
          <p:cNvSpPr/>
          <p:nvPr/>
        </p:nvSpPr>
        <p:spPr>
          <a:xfrm>
            <a:off x="4434840" y="267004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</a:t>
            </a:r>
            <a:endParaRPr lang="en-US" sz="1300" dirty="0"/>
          </a:p>
        </p:txBody>
      </p:sp>
      <p:sp>
        <p:nvSpPr>
          <p:cNvPr id="20" name="min_samples_split = 50"/>
          <p:cNvSpPr/>
          <p:nvPr/>
        </p:nvSpPr>
        <p:spPr>
          <a:xfrm>
            <a:off x="5440680" y="267004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50</a:t>
            </a:r>
            <a:endParaRPr lang="en-US" sz="1300" dirty="0"/>
          </a:p>
        </p:txBody>
      </p:sp>
      <p:sp>
        <p:nvSpPr>
          <p:cNvPr id="21" name="min_samples_split = 100"/>
          <p:cNvSpPr/>
          <p:nvPr/>
        </p:nvSpPr>
        <p:spPr>
          <a:xfrm>
            <a:off x="6446520" y="267004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100</a:t>
            </a:r>
            <a:endParaRPr lang="en-US" sz="1300" dirty="0"/>
          </a:p>
        </p:txBody>
      </p:sp>
      <p:sp>
        <p:nvSpPr>
          <p:cNvPr id="22" name="min_samples_split = 200"/>
          <p:cNvSpPr/>
          <p:nvPr/>
        </p:nvSpPr>
        <p:spPr>
          <a:xfrm>
            <a:off x="7452360" y="267004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200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min_samples_leaf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675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clientes mínimos por hoja</a:t>
            </a:r>
            <a:endParaRPr lang="en-US" sz="1100" dirty="0"/>
          </a:p>
        </p:txBody>
      </p:sp>
      <p:sp>
        <p:nvSpPr>
          <p:cNvPr id="25" name="min_samples_leaf = 1"/>
          <p:cNvSpPr/>
          <p:nvPr/>
        </p:nvSpPr>
        <p:spPr>
          <a:xfrm>
            <a:off x="3429000" y="340156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min_samples_leaf = 10"/>
          <p:cNvSpPr/>
          <p:nvPr/>
        </p:nvSpPr>
        <p:spPr>
          <a:xfrm>
            <a:off x="4434840" y="340156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</a:t>
            </a:r>
            <a:endParaRPr lang="en-US" sz="1300" dirty="0"/>
          </a:p>
        </p:txBody>
      </p:sp>
      <p:sp>
        <p:nvSpPr>
          <p:cNvPr id="27" name="min_samples_leaf = 30"/>
          <p:cNvSpPr/>
          <p:nvPr/>
        </p:nvSpPr>
        <p:spPr>
          <a:xfrm>
            <a:off x="5440680" y="340156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30</a:t>
            </a:r>
            <a:endParaRPr lang="en-US" sz="1300" dirty="0"/>
          </a:p>
        </p:txBody>
      </p:sp>
      <p:sp>
        <p:nvSpPr>
          <p:cNvPr id="28" name="min_samples_leaf = 60"/>
          <p:cNvSpPr/>
          <p:nvPr/>
        </p:nvSpPr>
        <p:spPr>
          <a:xfrm>
            <a:off x="6446520" y="340156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60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class_weight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407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peso de los abandonos</a:t>
            </a:r>
            <a:endParaRPr lang="en-US" sz="1100" dirty="0"/>
          </a:p>
        </p:txBody>
      </p:sp>
      <p:sp>
        <p:nvSpPr>
          <p:cNvPr id="31" name="class_weight = None"/>
          <p:cNvSpPr/>
          <p:nvPr/>
        </p:nvSpPr>
        <p:spPr>
          <a:xfrm>
            <a:off x="3429000" y="413308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None</a:t>
            </a:r>
            <a:endParaRPr lang="en-US" sz="1300" dirty="0"/>
          </a:p>
        </p:txBody>
      </p:sp>
      <p:sp>
        <p:nvSpPr>
          <p:cNvPr id="32" name="class_weight = balanced"/>
          <p:cNvSpPr/>
          <p:nvPr/>
        </p:nvSpPr>
        <p:spPr>
          <a:xfrm>
            <a:off x="4434840" y="4133088"/>
            <a:ext cx="9144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balanced</a:t>
            </a:r>
            <a:endParaRPr lang="en-US" sz="1300" dirty="0"/>
          </a:p>
        </p:txBody>
      </p:sp>
      <p:sp>
        <p:nvSpPr>
          <p:cNvPr id="33" name="Leyenda valor elegido"/>
          <p:cNvSpPr/>
          <p:nvPr/>
        </p:nvSpPr>
        <p:spPr>
          <a:xfrm>
            <a:off x="3429000" y="4864608"/>
            <a:ext cx="274320" cy="18288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794760" y="4818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Valor elegido por la búsqueda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303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26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806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combinaciones (8 × 5 × 4 × 2)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2880360" y="5303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×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3337560" y="5303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3337560" y="5806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pliegues estratificados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0" y="5303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=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6126480" y="5303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1.600</a:t>
            </a:r>
            <a:endParaRPr lang="en-US" sz="2600" dirty="0"/>
          </a:p>
        </p:txBody>
      </p:sp>
      <p:sp>
        <p:nvSpPr>
          <p:cNvPr id="42" name="Text 39"/>
          <p:cNvSpPr txBox="1"/>
          <p:nvPr/>
        </p:nvSpPr>
        <p:spPr>
          <a:xfrm>
            <a:off x="6126480" y="5806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entrenamientos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458200" y="5303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44" name="Text 41"/>
          <p:cNvSpPr txBox="1"/>
          <p:nvPr/>
        </p:nvSpPr>
        <p:spPr>
          <a:xfrm>
            <a:off x="8915400" y="5303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0,578</a:t>
            </a:r>
            <a:endParaRPr lang="en-US" sz="2600" dirty="0"/>
          </a:p>
        </p:txBody>
      </p:sp>
      <p:sp>
        <p:nvSpPr>
          <p:cNvPr id="45" name="Text 42"/>
          <p:cNvSpPr txBox="1"/>
          <p:nvPr/>
        </p:nvSpPr>
        <p:spPr>
          <a:xfrm>
            <a:off x="8915400" y="5806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F1 de la mejor combinación</a:t>
            </a:r>
            <a:endParaRPr lang="en-US" sz="1200" dirty="0"/>
          </a:p>
        </p:txBody>
      </p:sp>
      <p:sp>
        <p:nvSpPr>
          <p:cNvPr id="46" name="Divisor"/>
          <p:cNvSpPr/>
          <p:nvPr/>
        </p:nvSpPr>
        <p:spPr>
          <a:xfrm>
            <a:off x="548640" y="5193792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1"/>
                </a:solidFill>
              </a:rPr>
              <a:t>PASO 1 · GRIDSEARCHCV · EVALUACIÓN EN PRUEBA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Sí, el árbol ajustado supera al por defecto: su F1 en prueba sube de 0,485 a 0,620 con menos de la mitad de falsas alarmas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Fuente: notebooks/ajuste_hiperparametros.ipynb. grid_search.best_estimator_.predict(X_test) sobre 2.000 clientes (407 abandonos), umbral 0,5.</a:t>
            </a:r>
            <a:endParaRPr lang="en-US" sz="1000" dirty="0"/>
          </a:p>
        </p:txBody>
      </p:sp>
      <p:sp>
        <p:nvSpPr>
          <p:cNvPr id="6" name="Título del gráfico"/>
          <p:cNvSpPr txBox="1"/>
          <p:nvPr/>
        </p:nvSpPr>
        <p:spPr>
          <a:xfrm>
            <a:off x="548640" y="18105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Métricas de la clase Abandona en prueba</a:t>
            </a:r>
            <a:endParaRPr lang="en-US" sz="1400" dirty="0"/>
          </a:p>
        </p:txBody>
      </p:sp>
      <p:sp>
        <p:nvSpPr>
          <p:cNvPr id="7" name="Leyenda Árbol por defecto"/>
          <p:cNvSpPr/>
          <p:nvPr/>
        </p:nvSpPr>
        <p:spPr>
          <a:xfrm>
            <a:off x="548640" y="2212848"/>
            <a:ext cx="146304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Leyenda Árbol por defecto"/>
          <p:cNvSpPr txBox="1"/>
          <p:nvPr/>
        </p:nvSpPr>
        <p:spPr>
          <a:xfrm>
            <a:off x="768096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Árbol por defecto</a:t>
            </a:r>
            <a:endParaRPr lang="en-US" sz="1200" dirty="0"/>
          </a:p>
        </p:txBody>
      </p:sp>
      <p:sp>
        <p:nvSpPr>
          <p:cNvPr id="9" name="Leyenda Árbol ajustado"/>
          <p:cNvSpPr/>
          <p:nvPr/>
        </p:nvSpPr>
        <p:spPr>
          <a:xfrm>
            <a:off x="2505456" y="2212848"/>
            <a:ext cx="146304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Leyenda Árbol ajustado"/>
          <p:cNvSpPr txBox="1"/>
          <p:nvPr/>
        </p:nvSpPr>
        <p:spPr>
          <a:xfrm>
            <a:off x="2724912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Árbol ajustado</a:t>
            </a:r>
            <a:endParaRPr lang="en-US" sz="1200" dirty="0"/>
          </a:p>
        </p:txBody>
      </p:sp>
      <p:graphicFrame>
        <p:nvGraphicFramePr>
          <p:cNvPr id="11" name="Gráfico métricas en prueba" descr=""/>
          <p:cNvGraphicFramePr/>
          <p:nvPr/>
        </p:nvGraphicFramePr>
        <p:xfrm>
          <a:off x="548640" y="2514600"/>
          <a:ext cx="6675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a compara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828800"/>
          <a:ext cx="39593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50976"/>
                <a:gridCol w="81381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defecto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Ajustado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Falsas alarmas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Abandonos detectados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Abandonos no detectados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en entrenamiento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Hojas del árbol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7680960" y="4617720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brecha entre entrenamiento (0,625) y prueba (0,620) casi desaparece, y el resultado es coherente con la validación cruzada (0,578 ± 0,020).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1"/>
                </a:solidFill>
              </a:rPr>
              <a:t>PASO 1 · GRIDSEARCHCV · IMPACTO DE MAX_DEPTH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max_depth controla el sobreajuste: sin otros límites, cada nivel extra después del 8 mejora el entrenamiento y empeora la validación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Fuente: notebooks/ajuste_hiperparametros.ipynb. F1 promedio de 5 pliegues (cv_results_ de GridSearchCV); min_samples_leaf = 1 y class_weight = None en ambos paneles.</a:t>
            </a:r>
            <a:endParaRPr lang="en-US" sz="1000" dirty="0"/>
          </a:p>
        </p:txBody>
      </p:sp>
      <p:sp>
        <p:nvSpPr>
          <p:cNvPr id="6" name="Leyenda F1 en entrenamiento"/>
          <p:cNvSpPr/>
          <p:nvPr/>
        </p:nvSpPr>
        <p:spPr>
          <a:xfrm>
            <a:off x="548640" y="1874520"/>
            <a:ext cx="146304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Leyenda F1 en entrenamiento"/>
          <p:cNvSpPr txBox="1"/>
          <p:nvPr/>
        </p:nvSpPr>
        <p:spPr>
          <a:xfrm>
            <a:off x="768096" y="1810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F1 en entrenamiento</a:t>
            </a:r>
            <a:endParaRPr lang="en-US" sz="1200" dirty="0"/>
          </a:p>
        </p:txBody>
      </p:sp>
      <p:sp>
        <p:nvSpPr>
          <p:cNvPr id="8" name="Leyenda F1 en validación (5 pliegues)"/>
          <p:cNvSpPr/>
          <p:nvPr/>
        </p:nvSpPr>
        <p:spPr>
          <a:xfrm>
            <a:off x="2642616" y="1874520"/>
            <a:ext cx="146304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Leyenda F1 en validación (5 pliegues)"/>
          <p:cNvSpPr txBox="1"/>
          <p:nvPr/>
        </p:nvSpPr>
        <p:spPr>
          <a:xfrm>
            <a:off x="2862072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F1 en validación (5 pliegues)</a:t>
            </a:r>
            <a:endParaRPr lang="en-US" sz="1200" dirty="0"/>
          </a:p>
        </p:txBody>
      </p:sp>
      <p:sp>
        <p:nvSpPr>
          <p:cNvPr id="10" name="Título del gráfico"/>
          <p:cNvSpPr txBox="1"/>
          <p:nvPr/>
        </p:nvSpPr>
        <p:spPr>
          <a:xfrm>
            <a:off x="548640" y="22128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restricciones de tamaño (min_samples_split = 2)</a:t>
            </a:r>
            <a:endParaRPr lang="en-US" sz="1400" dirty="0"/>
          </a:p>
        </p:txBody>
      </p:sp>
      <p:graphicFrame>
        <p:nvGraphicFramePr>
          <p:cNvPr id="11" name="Gráfico Sin restricciones de tamaño (min_samples_split = 2)" descr=""/>
          <p:cNvGraphicFramePr/>
          <p:nvPr/>
        </p:nvGraphicFramePr>
        <p:xfrm>
          <a:off x="548640" y="256032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5440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Pasado max_depth = 8 el F1 de entrenamiento sube hasta 1,000 y el de validación cae de 0,549 a 0,486.</a:t>
            </a:r>
            <a:endParaRPr lang="en-US" sz="1400" dirty="0"/>
          </a:p>
        </p:txBody>
      </p:sp>
      <p:sp>
        <p:nvSpPr>
          <p:cNvPr id="13" name="Título del gráfico"/>
          <p:cNvSpPr txBox="1"/>
          <p:nvPr/>
        </p:nvSpPr>
        <p:spPr>
          <a:xfrm>
            <a:off x="6245352" y="22128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Mejor combinación (min_samples_split = 200)</a:t>
            </a:r>
            <a:endParaRPr lang="en-US" sz="1400" dirty="0"/>
          </a:p>
        </p:txBody>
      </p:sp>
      <p:graphicFrame>
        <p:nvGraphicFramePr>
          <p:cNvPr id="14" name="Gráfico Mejor combinación (min_samples_split = 200)" descr=""/>
          <p:cNvGraphicFramePr/>
          <p:nvPr/>
        </p:nvGraphicFramePr>
        <p:xfrm>
          <a:off x="6245352" y="256032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6245352" y="5440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validación se estabiliza en 0,578 desde max_depth = 10, con una brecha de solo 0,025 frente al entrenamiento.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1"/>
                </a:solidFill>
              </a:rPr>
              <a:t>PASO 2 · RANDOMIZEDSEARCHCV · REGRESIÓN DEL SALDO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RandomizedSearchCV encontró que Ridge casi no necesita regularización para estimar el saldo: el mejor alpha es 0,0014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Fuente: notebooks/ajuste_hiperparametros.ipynb. Validación cruzada KFold de 5 pliegues sobre 8.000 clientes.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5"/>
                </a:solidFill>
              </a:rPr>
              <a:t>MODELO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18745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Ridge: regresión lineal con regularización L2; alpha controla cuánto se castigan los coeficientes grandes</a:t>
            </a:r>
            <a:endParaRPr lang="en-US" sz="1500" dirty="0"/>
          </a:p>
        </p:txBody>
      </p:sp>
      <p:sp>
        <p:nvSpPr>
          <p:cNvPr id="8" name="Divisor"/>
          <p:cNvSpPr/>
          <p:nvPr/>
        </p:nvSpPr>
        <p:spPr>
          <a:xfrm>
            <a:off x="548640" y="2807208"/>
            <a:ext cx="58521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907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5"/>
                </a:solidFill>
              </a:rPr>
              <a:t>SOLVER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240280" y="2880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svd, cholesky, lsqr, sparse_cg y sag</a:t>
            </a:r>
            <a:endParaRPr lang="en-US" sz="1500" dirty="0"/>
          </a:p>
        </p:txBody>
      </p:sp>
      <p:sp>
        <p:nvSpPr>
          <p:cNvPr id="11" name="Divisor"/>
          <p:cNvSpPr/>
          <p:nvPr/>
        </p:nvSpPr>
        <p:spPr>
          <a:xfrm>
            <a:off x="548640" y="3401568"/>
            <a:ext cx="58521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02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5"/>
                </a:solidFill>
              </a:rPr>
              <a:t>PRESUPUESTO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34747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n_iter = 20 combinaciones al azar, 5 pliegues, criterio MAE</a:t>
            </a:r>
            <a:endParaRPr lang="en-US" sz="1500" dirty="0"/>
          </a:p>
        </p:txBody>
      </p:sp>
      <p:sp>
        <p:nvSpPr>
          <p:cNvPr id="14" name="Divisor"/>
          <p:cNvSpPr/>
          <p:nvPr/>
        </p:nvSpPr>
        <p:spPr>
          <a:xfrm>
            <a:off x="548640" y="4224528"/>
            <a:ext cx="58521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325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5"/>
                </a:solidFill>
              </a:rPr>
              <a:t>ALPHA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240280" y="4297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distribución log uniforme entre 0,001 y 1.000</a:t>
            </a:r>
            <a:endParaRPr lang="en-US" sz="1500" dirty="0"/>
          </a:p>
        </p:txBody>
      </p:sp>
      <p:sp>
        <p:nvSpPr>
          <p:cNvPr id="17" name="Eje de alpha"/>
          <p:cNvSpPr/>
          <p:nvPr/>
        </p:nvSpPr>
        <p:spPr>
          <a:xfrm>
            <a:off x="2377440" y="5349240"/>
            <a:ext cx="384048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11680" y="54772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0,001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54772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0,01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291840" y="54772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0,1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54772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54772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212080" y="54772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100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852160" y="54772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1.000</a:t>
            </a:r>
            <a:endParaRPr lang="en-US" sz="1100" dirty="0"/>
          </a:p>
        </p:txBody>
      </p:sp>
      <p:sp>
        <p:nvSpPr>
          <p:cNvPr id="25" name="alpha elegido"/>
          <p:cNvSpPr/>
          <p:nvPr/>
        </p:nvSpPr>
        <p:spPr>
          <a:xfrm>
            <a:off x="2379534" y="525780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alpha elegido"/>
          <p:cNvSpPr txBox="1"/>
          <p:nvPr/>
        </p:nvSpPr>
        <p:spPr>
          <a:xfrm>
            <a:off x="1785174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Elegido: 0,0014</a:t>
            </a:r>
            <a:endParaRPr lang="en-US" sz="1200" dirty="0"/>
          </a:p>
        </p:txBody>
      </p:sp>
      <p:sp>
        <p:nvSpPr>
          <p:cNvPr id="27" name="alpha por defecto"/>
          <p:cNvSpPr/>
          <p:nvPr/>
        </p:nvSpPr>
        <p:spPr>
          <a:xfrm>
            <a:off x="4206240" y="5257800"/>
            <a:ext cx="182880" cy="1828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alpha por defecto"/>
          <p:cNvSpPr txBox="1"/>
          <p:nvPr/>
        </p:nvSpPr>
        <p:spPr>
          <a:xfrm>
            <a:off x="361188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 defecto: 1</a:t>
            </a:r>
            <a:endParaRPr lang="en-US" sz="1200" dirty="0"/>
          </a:p>
        </p:txBody>
      </p:sp>
      <p:sp>
        <p:nvSpPr>
          <p:cNvPr id="29" name="Panel resultado"/>
          <p:cNvSpPr/>
          <p:nvPr/>
        </p:nvSpPr>
        <p:spPr>
          <a:xfrm>
            <a:off x="6949440" y="1874520"/>
            <a:ext cx="4690872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23760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5"/>
                </a:solidFill>
              </a:rPr>
              <a:t>RESULTADO DE LA BÚSQUEDA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2237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0,0014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25877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alpha elegido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22376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lsqr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9006840" y="34564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solver elegido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223760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44.900</a:t>
            </a:r>
            <a:endParaRPr lang="en-US" sz="2600" dirty="0"/>
          </a:p>
        </p:txBody>
      </p:sp>
      <p:sp>
        <p:nvSpPr>
          <p:cNvPr id="36" name="Text 33"/>
          <p:cNvSpPr txBox="1"/>
          <p:nvPr/>
        </p:nvSpPr>
        <p:spPr>
          <a:xfrm>
            <a:off x="9006840" y="43251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MAE en validación cruzada, alto frente a saldos que rondan los 120.000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223760" y="51206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 alpha casi 0, Ridge equivale a una regresión lineal común: con 6.400 clientes por pliegue y una docena de variables no hay sobreajuste que corregir.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1"/>
                </a:solidFill>
              </a:rPr>
              <a:t>PASO 2 · RANDOMIZEDSEARCHCV · DESAFÍO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RandomizedSearchCV entrenó el modelo 100 veces; una grilla con 100 alphas y 5 solvers habría necesitado 2.500, 25 veces más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Fuente: notebooks/ajuste_hiperparametros.ipynb. Ambas cuentas suman además 1 reentrenamiento final con la mejor combinación.</a:t>
            </a:r>
            <a:endParaRPr lang="en-US" sz="1000" dirty="0"/>
          </a:p>
        </p:txBody>
      </p:sp>
      <p:sp>
        <p:nvSpPr>
          <p:cNvPr id="6" name="Título del gráfico"/>
          <p:cNvSpPr txBox="1"/>
          <p:nvPr/>
        </p:nvSpPr>
        <p:spPr>
          <a:xfrm>
            <a:off x="548640" y="1810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Entrenamientos necesarios para ajustar Ridge</a:t>
            </a:r>
            <a:endParaRPr lang="en-US" sz="1400" dirty="0"/>
          </a:p>
        </p:txBody>
      </p:sp>
      <p:graphicFrame>
        <p:nvGraphicFramePr>
          <p:cNvPr id="7" name="Gráfico entrenamientos" descr=""/>
          <p:cNvGraphicFramePr/>
          <p:nvPr/>
        </p:nvGraphicFramePr>
        <p:xfrm>
          <a:off x="548640" y="2194560"/>
          <a:ext cx="64008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Divisor"/>
          <p:cNvSpPr/>
          <p:nvPr/>
        </p:nvSpPr>
        <p:spPr>
          <a:xfrm>
            <a:off x="548640" y="4526280"/>
            <a:ext cx="64008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RandomizedSearchCV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926080" y="4617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combinaciones × 5 pliegues = 100</a:t>
            </a:r>
            <a:endParaRPr lang="en-US" sz="1400" dirty="0"/>
          </a:p>
        </p:txBody>
      </p:sp>
      <p:sp>
        <p:nvSpPr>
          <p:cNvPr id="11" name="Divisor"/>
          <p:cNvSpPr/>
          <p:nvPr/>
        </p:nvSpPr>
        <p:spPr>
          <a:xfrm>
            <a:off x="548640" y="5074920"/>
            <a:ext cx="64008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5166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GridSearchCV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5166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 alphas × 5 solvers × 5 pliegues = 2.500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589520" y="181051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 operativa de RandomizedSearchCV</a:t>
            </a:r>
            <a:endParaRPr lang="en-US" sz="1600" dirty="0"/>
          </a:p>
        </p:txBody>
      </p:sp>
      <p:sp>
        <p:nvSpPr>
          <p:cNvPr id="15" name="Número 1"/>
          <p:cNvSpPr/>
          <p:nvPr/>
        </p:nvSpPr>
        <p:spPr>
          <a:xfrm>
            <a:off x="7589520" y="2423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úmero 1"/>
          <p:cNvSpPr txBox="1"/>
          <p:nvPr/>
        </p:nvSpPr>
        <p:spPr>
          <a:xfrm>
            <a:off x="75895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183880" y="2404872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costo lo fija n_iter y no el tamaño del espacio: sumar hiperparámetros o ampliar rangos no lo multiplica.</a:t>
            </a:r>
            <a:endParaRPr lang="en-US" sz="1400" dirty="0"/>
          </a:p>
        </p:txBody>
      </p:sp>
      <p:sp>
        <p:nvSpPr>
          <p:cNvPr id="18" name="Número 2"/>
          <p:cNvSpPr/>
          <p:nvPr/>
        </p:nvSpPr>
        <p:spPr>
          <a:xfrm>
            <a:off x="7589520" y="3611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úmero 2"/>
          <p:cNvSpPr txBox="1"/>
          <p:nvPr/>
        </p:nvSpPr>
        <p:spPr>
          <a:xfrm>
            <a:off x="75895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183880" y="3593592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Muestrea alpha de una distribución, así que puede probar cualquier valor del rango y no solo los de una lista.</a:t>
            </a:r>
            <a:endParaRPr lang="en-US" sz="1400" dirty="0"/>
          </a:p>
        </p:txBody>
      </p:sp>
      <p:sp>
        <p:nvSpPr>
          <p:cNvPr id="21" name="Número 3"/>
          <p:cNvSpPr/>
          <p:nvPr/>
        </p:nvSpPr>
        <p:spPr>
          <a:xfrm>
            <a:off x="7589520" y="4800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úmero 3"/>
          <p:cNvSpPr txBox="1"/>
          <p:nvPr/>
        </p:nvSpPr>
        <p:spPr>
          <a:xfrm>
            <a:off x="758952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4782312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cambio, no garantiza el óptimo exacto. Si el espacio es chico, como en el árbol, GridSearchCV sigue siendo la opción.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juste de hiperparametros">
  <a:themeElements>
    <a:clrScheme name="Ajuste de hiperparametros">
      <a:dk1>
        <a:srgbClr val="1A1A1A"/>
      </a:dk1>
      <a:lt1>
        <a:srgbClr val="FFFFFF"/>
      </a:lt1>
      <a:dk2>
        <a:srgbClr val="051C2C"/>
      </a:dk2>
      <a:lt2>
        <a:srgbClr val="EEF1F5"/>
      </a:lt2>
      <a:accent1>
        <a:srgbClr val="2251FF"/>
      </a:accent1>
      <a:accent2>
        <a:srgbClr val="8A9199"/>
      </a:accent2>
      <a:accent3>
        <a:srgbClr val="9DB2FF"/>
      </a:accent3>
      <a:accent4>
        <a:srgbClr val="D5DAE1"/>
      </a:accent4>
      <a:accent5>
        <a:srgbClr val="5B6670"/>
      </a:accent5>
      <a:accent6>
        <a:srgbClr val="00A9F4"/>
      </a:accent6>
      <a:hlink>
        <a:srgbClr val="2251FF"/>
      </a:hlink>
      <a:folHlink>
        <a:srgbClr val="5B6670"/>
      </a:folHlink>
    </a:clrScheme>
    <a:fontScheme name="Ajuste de hiperparametr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Ajuste de hiperparámetros</dc:title>
  <dc:subject>Actividad 3.1.2, MLY1101 Machine Learning</dc:subject>
  <dc:creator>PptxGenJS</dc:creator>
  <cp:lastModifiedBy>PptxGenJS</cp:lastModifiedBy>
  <cp:revision>1</cp:revision>
  <dcterms:created xsi:type="dcterms:W3CDTF">2026-10-26T01:13:07Z</dcterms:created>
  <dcterms:modified xsi:type="dcterms:W3CDTF">2026-10-26T01:13:07Z</dcterms:modified>
</cp:coreProperties>
</file>